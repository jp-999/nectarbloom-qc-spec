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640080"/>
            <a:ext cx="1371600" cy="1371600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2286000"/>
            <a:ext cx="822960" cy="822960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5120640"/>
            <a:ext cx="1097280" cy="1097280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NECTARBLOOM · PROMPT AND RUBRICS (QUEUE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860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6000" b="1" i="0">
                <a:solidFill>
                  <a:srgbClr val="FFFFFF"/>
                </a:solidFill>
                <a:latin typeface="Cambria"/>
              </a:rPr>
              <a:t>Common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11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>
                <a:solidFill>
                  <a:srgbClr val="ECE2D0"/>
                </a:solidFill>
                <a:latin typeface="Cambria"/>
              </a:rPr>
              <a:t>The mistakes that get tasks sent back, and the simple fix for each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526280"/>
            <a:ext cx="100584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8006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ECE2D0"/>
                </a:solidFill>
                <a:latin typeface="Calibri"/>
              </a:rPr>
              <a:t>Six places tasks get sent back:  Account &amp; reset  →  Opening prompt  →  Deliverables &amp; GTFA  →  Rubric criteria  →  Simplified run  → 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172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CE2D0"/>
                </a:solidFill>
                <a:latin typeface="Calibri"/>
              </a:rPr>
              <a:t>Read it before you submit.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OVERVIEW · WHERE TASKS GET SENT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6D2E46"/>
                </a:solidFill>
                <a:latin typeface="Cambria"/>
              </a:rPr>
              <a:t>Six places tasks get sent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B6064"/>
                </a:solidFill>
                <a:latin typeface="Calibri"/>
              </a:rPr>
              <a:t>Every rejection in this queue traces to one of six stages. Each slide that follows lists the specific errors, and the fix for 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38528"/>
            <a:ext cx="3529584" cy="1371600"/>
          </a:xfrm>
          <a:prstGeom prst="roundRect">
            <a:avLst/>
          </a:prstGeom>
          <a:solidFill>
            <a:srgbClr val="F7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176272"/>
            <a:ext cx="457200" cy="4572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12848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176272"/>
            <a:ext cx="2523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6D2E46"/>
                </a:solidFill>
                <a:latin typeface="Cambria"/>
              </a:rPr>
              <a:t>Account &amp; reset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651760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126"/>
                </a:solidFill>
                <a:latin typeface="Calibri"/>
              </a:rPr>
              <a:t>Right account, right model, reset before every 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938528"/>
            <a:ext cx="3529584" cy="1371600"/>
          </a:xfrm>
          <a:prstGeom prst="roundRect">
            <a:avLst/>
          </a:prstGeom>
          <a:solidFill>
            <a:srgbClr val="F7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2176272"/>
            <a:ext cx="457200" cy="4572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212848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2176272"/>
            <a:ext cx="2523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6D2E46"/>
                </a:solidFill>
                <a:latin typeface="Cambria"/>
              </a:rPr>
              <a:t>Opening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651760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126"/>
                </a:solidFill>
                <a:latin typeface="Calibri"/>
              </a:rPr>
              <a:t>2–3 loose asks, grounded, human-written, never one-shot.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1938528"/>
            <a:ext cx="3529584" cy="1371600"/>
          </a:xfrm>
          <a:prstGeom prst="roundRect">
            <a:avLst/>
          </a:prstGeom>
          <a:solidFill>
            <a:srgbClr val="F7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176272"/>
            <a:ext cx="457200" cy="4572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212848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2176272"/>
            <a:ext cx="2523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6D2E46"/>
                </a:solidFill>
                <a:latin typeface="Cambria"/>
              </a:rPr>
              <a:t>Deliverables &amp; GTFA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651760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126"/>
                </a:solidFill>
                <a:latin typeface="Calibri"/>
              </a:rPr>
              <a:t>Name artifacts, values, side effects and absences, all traceable.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529584"/>
            <a:ext cx="3529584" cy="1371600"/>
          </a:xfrm>
          <a:prstGeom prst="roundRect">
            <a:avLst/>
          </a:prstGeom>
          <a:solidFill>
            <a:srgbClr val="F7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3767328"/>
            <a:ext cx="457200" cy="4572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803904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767328"/>
            <a:ext cx="2523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6D2E46"/>
                </a:solidFill>
                <a:latin typeface="Cambria"/>
              </a:rPr>
              <a:t>Rubric 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242816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126"/>
                </a:solidFill>
                <a:latin typeface="Calibri"/>
              </a:rPr>
              <a:t>Binary, observable, atomic, positive, self-contained.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4256" y="3529584"/>
            <a:ext cx="3529584" cy="1371600"/>
          </a:xfrm>
          <a:prstGeom prst="roundRect">
            <a:avLst/>
          </a:prstGeom>
          <a:solidFill>
            <a:srgbClr val="F7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0" y="3767328"/>
            <a:ext cx="457200" cy="4572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803904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3767328"/>
            <a:ext cx="2523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6D2E46"/>
                </a:solidFill>
                <a:latin typeface="Cambria"/>
              </a:rPr>
              <a:t>Simplified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8576" y="4242816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126"/>
                </a:solidFill>
                <a:latin typeface="Calibri"/>
              </a:rPr>
              <a:t>A fresh, unsteered 1–3 turn run that passes ≤ 40%.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4" y="3529584"/>
            <a:ext cx="3529584" cy="1371600"/>
          </a:xfrm>
          <a:prstGeom prst="roundRect">
            <a:avLst/>
          </a:prstGeom>
          <a:solidFill>
            <a:srgbClr val="F7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39328" y="3767328"/>
            <a:ext cx="457200" cy="4572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8" y="3803904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2832" y="3767328"/>
            <a:ext cx="2523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6D2E46"/>
                </a:solidFill>
                <a:latin typeface="Cambria"/>
              </a:rPr>
              <a:t>Submission &amp; process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4242816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126"/>
                </a:solidFill>
                <a:latin typeface="Calibri"/>
              </a:rPr>
              <a:t>Preserve outputs, use Share links, never delete a chat.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486400"/>
            <a:ext cx="11064240" cy="932688"/>
          </a:xfrm>
          <a:prstGeom prst="round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5641848"/>
            <a:ext cx="10424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D2E46"/>
                </a:solidFill>
                <a:latin typeface="Calibri"/>
              </a:rPr>
              <a:t>The single most common rejection:  </a:t>
            </a:r>
            <a:r>
              <a:rPr sz="1250" b="0" i="0">
                <a:solidFill>
                  <a:srgbClr val="6D2E46"/>
                </a:solidFill>
                <a:latin typeface="Calibri"/>
              </a:rPr>
              <a:t>an ungrounded entity: a file, person or date that is not in the universe. Open Gmail, Drive and Calendar first and confirm every name on screen. Where rubrics fail: 30% unjudgeable wording · 26% punish the right answer, over half of all defects.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B606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SECTION 1 · DEMO ACCOUNT &amp;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6D2E46"/>
                </a:solidFill>
                <a:latin typeface="Cambria"/>
              </a:rPr>
              <a:t>Use the claimed account and reset at the right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B6064"/>
                </a:solidFill>
                <a:latin typeface="Calibri"/>
              </a:rPr>
              <a:t>Claim your demo account at app.outlier.ai/demo-account-claim and use only that account. Reach out to the QMs in the War Room if it doesn't work.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65376"/>
          <a:ext cx="11064240" cy="34564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88920"/>
                <a:gridCol w="406908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Error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Why it fails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Fix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Wrong account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Using your personal Gmail, your Outlier login, or an account from another queue breaks the task.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Sign in only with the demo account you claimed from the link above.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Wrong model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Results are not valid if the custom model is not selected.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Select 3.8 Flash and set Thinking level to Low. If the options aren't visible, flag it in the War Room.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Model not proven as 3.8 Flash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The chat PDF says “Created with Auto”, the screenshot is missing, or it is taken from an empty chat with no “custom” label.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Screenshot the custom selector (3.8 Flash, Thinking Low) before the run, and confirm the chat PDF shows the custom model.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Not resetting before the run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Leftover files, drafts or events from earlier runs change the result.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Open the reset link, pick your account, tick the box and click Restore baseline.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Starting before reset finishes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You run the model on a half-restored account.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Wait for the green “Your workspace is restored” message.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Resetting after the run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It deletes the files and drafts you still have to upload and check.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Reset before a run. Save your evidence first.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394960"/>
            <a:ext cx="11064240" cy="512064"/>
          </a:xfrm>
          <a:prstGeom prst="round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5550408"/>
            <a:ext cx="104241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D2E46"/>
                </a:solidFill>
                <a:latin typeface="Calibri"/>
              </a:rPr>
              <a:t>Reset before a run, never after one.  </a:t>
            </a:r>
            <a:r>
              <a:rPr sz="1250" b="0" i="0">
                <a:solidFill>
                  <a:srgbClr val="6D2E46"/>
                </a:solidFill>
                <a:latin typeface="Calibri"/>
              </a:rPr>
              <a:t>Prove the model: screenshot the custom 3.8 Flash selector (Thinking Low) before the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B606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SECTION 2 · OPENING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6D2E46"/>
                </a:solidFill>
                <a:latin typeface="Cambria"/>
              </a:rPr>
              <a:t>A partial, grounded, human-written opener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B6064"/>
                </a:solidFill>
                <a:latin typeface="Calibri"/>
              </a:rPr>
              <a:t>The gap between what the opener states and what it withholds is the difficulty of the item. Give the model something to do, but not everything.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65376"/>
          <a:ext cx="11064240" cy="38770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31720"/>
                <a:gridCol w="3703320"/>
                <a:gridCol w="5029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Error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Why it fails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Fix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No ask at all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The prompt only describes a situation and never asks for anything. A failing issue.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1" i="0">
                          <a:solidFill>
                            <a:srgbClr val="A2433E"/>
                          </a:solidFill>
                          <a:latin typeface="Calibri"/>
                        </a:rPr>
                        <a:t>Bad: </a:t>
                      </a: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“I've been buried in the Q3 vendor review all week.”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1" i="0">
                          <a:solidFill>
                            <a:srgbClr val="5B6E2F"/>
                          </a:solidFill>
                          <a:latin typeface="Calibri"/>
                        </a:rPr>
                        <a:t>Good: </a:t>
                      </a: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“…Can you help me work out which bids are solid before Friday?”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Asks for everything at once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A strong model one-shots it, so a 20+ turn conversation never happens.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1" i="0">
                          <a:solidFill>
                            <a:srgbClr val="A2433E"/>
                          </a:solidFill>
                          <a:latin typeface="Calibri"/>
                        </a:rPr>
                        <a:t>Bad: </a:t>
                      </a: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“Make a one-page PDF of my March expenses and email it to my manager.”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1" i="0">
                          <a:solidFill>
                            <a:srgbClr val="5B6E2F"/>
                          </a:solidFill>
                          <a:latin typeface="Calibri"/>
                        </a:rPr>
                        <a:t>Good: </a:t>
                      </a: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“My numbers are due Friday and the March figures feel off. Can you help?”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Ungrounded entity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Names a file, person or date not in the universe. The most common rejection.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Open Gmail, Drive and Calendar first and confirm every name on screen.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Written or polished by an LLM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Paste is disabled and you attest the text is your own.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Write it yourself, in your own words.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Wrong language or register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A fully English opener on a fr/de item (loanwords are fine), or an English scenario translated into the locale, reads unnatural and restarts the item.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Write natively in the assigned locale from the start. Never “fix it in translation.”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All deliverables in the opener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Naming the file, numbers or email gives the answer away and the model one-shots it.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Describe the situation and the worry, not the output. Put the PDF, sheet and draft in Target Deliverables.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907024"/>
            <a:ext cx="11064240" cy="548640"/>
          </a:xfrm>
          <a:prstGeom prst="round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6062472"/>
            <a:ext cx="10424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D2E46"/>
                </a:solidFill>
                <a:latin typeface="Calibri"/>
              </a:rPr>
              <a:t>See worked examples:  </a:t>
            </a:r>
            <a:r>
              <a:rPr sz="1250" b="0" i="0">
                <a:solidFill>
                  <a:srgbClr val="6D2E46"/>
                </a:solidFill>
                <a:latin typeface="Calibri"/>
              </a:rPr>
              <a:t>nectarbloom-exemplar.vercel.app (password: Nectar). Tasks rated 5/5 and 3/5 by QC, plus a full rework.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B606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SECTION 3 · TARGET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6D2E46"/>
                </a:solidFill>
                <a:latin typeface="Cambria"/>
              </a:rPr>
              <a:t>Each deliverable: artifact, values, side effects, absence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B6064"/>
                </a:solidFill>
                <a:latin typeface="Calibri"/>
              </a:rPr>
              <a:t>The answer key you write before you know how the model behaves. Every entry must be checkable against a produced artifact or a landed action.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901952"/>
          <a:ext cx="11064240" cy="34198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14600"/>
                <a:gridCol w="3840480"/>
                <a:gridCol w="4709160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Error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Why it fails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Fix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Vague deliverable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“The model should give a good vendor recommendation” cannot be checked.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“Produces a 1-page PDF vendor_brief.pdf naming the two selected vendors and their bid totals.”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A guess about the user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“The user might ask to fix the budget sheet” cannot be graded.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State the finished result: “Produces a corrected budget sheet with March totals.”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No values or absences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“Prepare a reconciliation file” gives the rubric nothing to grade.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Name the artifact, its exact values, side effects (drafts, events) and what must be absent (out-of-scope data, PII, a sent email).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Requires sending or sharing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The model may draft but must never send an email or share a file.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Say “drafts an email that stays unsent.”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Too thin for 20+ turns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If your honest turn estimate is under 20, the scenario is too thin.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Add real work: a new artifact, a cross-source check, or a mid-task correction. Re-confirming or splitting one ask does not count.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440680"/>
            <a:ext cx="11064240" cy="566928"/>
          </a:xfrm>
          <a:prstGeom prst="round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5596128"/>
            <a:ext cx="10424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D2E46"/>
                </a:solidFill>
                <a:latin typeface="Calibri"/>
              </a:rPr>
              <a:t>Hard project rule:  </a:t>
            </a:r>
            <a:r>
              <a:rPr sz="1250" b="0" i="0">
                <a:solidFill>
                  <a:srgbClr val="6D2E46"/>
                </a:solidFill>
                <a:latin typeface="Calibri"/>
              </a:rPr>
              <a:t>the model may create drafts, documents and files, but must never send emails or share files. Any draft stays unsent.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B606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SECTION 3 · GTFA (GROUND-TRUTH ANSWER)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6D2E46"/>
                </a:solidFill>
                <a:latin typeface="Cambria"/>
              </a:rPr>
              <a:t>A GTFA that covers every ask and matches the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B6064"/>
                </a:solidFill>
                <a:latin typeface="Calibri"/>
              </a:rPr>
              <a:t>The ideal, factually correct completion, with real values filled in. Anything missing from the GTFA cannot be graded later.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83664"/>
          <a:ext cx="11064239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1760"/>
                <a:gridCol w="3977639"/>
                <a:gridCol w="443484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Error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Why it fails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Fix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GTFA leaves things out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Not covering one of the prompt's asks is an issue; anything missing can't be graded.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Walk the prompt ask by ask and tick each against the GTFA: deliverables, values, side effects, absences.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Contradicts the sources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Wrong amounts or dates, stale prices, or figures that appear in no file make every grade wrong.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Build a “claim vs source” table and check each fact against the files.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Values with no source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Emails, dates, penalties or reserves that exist only in the GTFA or the model's reply.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If a value can't be found in, or worked out from, an uploaded file, leave it out.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Wrong method, plausible number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A naive split instead of the source's rolling window; DST applied in winter; wrong time zone.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Re-calculate with the source's own method and check time zones.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Fields that disagree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A value in only one field, or outcomes that say “pay” while the rubric says “file.”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Keep opener, deliverables, rubric, GTFA and Not Known consistent.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Known / Not Known misused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Known is only what the opener says; Not Known is misused as vague topics or the answers.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Not Known = what the user reveals later, in order and in their own voice.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907024"/>
            <a:ext cx="11064240" cy="548640"/>
          </a:xfrm>
          <a:prstGeom prst="round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6062472"/>
            <a:ext cx="10424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D2E46"/>
                </a:solidFill>
                <a:latin typeface="Calibri"/>
              </a:rPr>
              <a:t>Before you trust a value:  </a:t>
            </a:r>
            <a:r>
              <a:rPr sz="1250" b="0" i="0">
                <a:solidFill>
                  <a:srgbClr val="6D2E46"/>
                </a:solidFill>
                <a:latin typeface="Calibri"/>
              </a:rPr>
              <a:t>every exact figure in a rubric criterion must trace back to the GTFA or the target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B606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SECTION 4 · RUBRIC CRITERIA · WRITING EACH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6D2E46"/>
                </a:solidFill>
                <a:latin typeface="Cambria"/>
              </a:rPr>
              <a:t>Binary, observable, present-tense, self-contained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B6064"/>
                </a:solidFill>
                <a:latin typeface="Calibri"/>
              </a:rPr>
              <a:t>Every criterion is binary, observable, atomic, positive, product-independent and self-contained, in the simple present tense (States, Includes, Reports…). Weights are only +1, +2, +3.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901952"/>
          <a:ext cx="11064240" cy="376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/>
                <a:gridCol w="4160520"/>
                <a:gridCol w="416052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Error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Weak example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Better example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Not simple present tense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60" b="0" i="0">
                          <a:solidFill>
                            <a:srgbClr val="A2433E"/>
                          </a:solidFill>
                          <a:latin typeface="Calibri"/>
                        </a:rPr>
                        <a:t>“The response must calculate the net distribution.”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60" b="0" i="0">
                          <a:solidFill>
                            <a:srgbClr val="5B6E2F"/>
                          </a:solidFill>
                          <a:latin typeface="Calibri"/>
                        </a:rPr>
                        <a:t>“Reports the net distribution as $7,626.60.”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Vague / not self-contained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60" b="0" i="0">
                          <a:solidFill>
                            <a:srgbClr val="A2433E"/>
                          </a:solidFill>
                          <a:latin typeface="Calibri"/>
                        </a:rPr>
                        <a:t>“Has a professional tone.”  “Calculates the correct tax return.”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60" b="0" i="0">
                          <a:solidFill>
                            <a:srgbClr val="5B6E2F"/>
                          </a:solidFill>
                          <a:latin typeface="Calibri"/>
                        </a:rPr>
                        <a:t>“Opens with a greeting and closes with the sender's name.”  “Reports the tax return as $1,000.”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Not checkable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60" b="0" i="0">
                          <a:solidFill>
                            <a:srgbClr val="A2433E"/>
                          </a:solidFill>
                          <a:latin typeface="Calibri"/>
                        </a:rPr>
                        <a:t>“Calculates the net distribution.”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60" b="0" i="0">
                          <a:solidFill>
                            <a:srgbClr val="5B6E2F"/>
                          </a:solidFill>
                          <a:latin typeface="Calibri"/>
                        </a:rPr>
                        <a:t>“Reports the net distribution as $7,626.60.”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Judges the process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60" b="0" i="0">
                          <a:solidFill>
                            <a:srgbClr val="A2433E"/>
                          </a:solidFill>
                          <a:latin typeface="Calibri"/>
                        </a:rPr>
                        <a:t>“Reasons carefully about the recipients.”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60" b="0" i="0">
                          <a:solidFill>
                            <a:srgbClr val="5B6E2F"/>
                          </a:solidFill>
                          <a:latin typeface="Calibri"/>
                        </a:rPr>
                        <a:t>“Addresses the email draft to the named recipient.”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Negatively framed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60" b="0" i="0">
                          <a:solidFill>
                            <a:srgbClr val="A2433E"/>
                          </a:solidFill>
                          <a:latin typeface="Calibri"/>
                        </a:rPr>
                        <a:t>“No message in Sent…” (a run that does nothing passes).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60" b="0" i="0">
                          <a:solidFill>
                            <a:srgbClr val="5B6E2F"/>
                          </a:solidFill>
                          <a:latin typeface="Calibri"/>
                        </a:rPr>
                        <a:t>“Leaves an unsent draft addressed to the named recipient.”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Accepts instructions, not a file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60" b="0" i="0">
                          <a:solidFill>
                            <a:srgbClr val="A2433E"/>
                          </a:solidFill>
                          <a:latin typeface="Calibri"/>
                        </a:rPr>
                        <a:t>“Explains how to structure the reconciliation spreadsheet.”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60" b="0" i="0">
                          <a:solidFill>
                            <a:srgbClr val="5B6E2F"/>
                          </a:solidFill>
                          <a:latin typeface="Calibri"/>
                        </a:rPr>
                        <a:t>“Provides a spreadsheet file with one row per exhibit.”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760720"/>
            <a:ext cx="11064240" cy="566928"/>
          </a:xfrm>
          <a:prstGeom prst="round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5916168"/>
            <a:ext cx="10424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D2E46"/>
                </a:solidFill>
                <a:latin typeface="Calibri"/>
              </a:rPr>
              <a:t>The two questions for every line:  </a:t>
            </a:r>
            <a:r>
              <a:rPr sz="1250" b="0" i="0">
                <a:solidFill>
                  <a:srgbClr val="6D2E46"/>
                </a:solidFill>
                <a:latin typeface="Calibri"/>
              </a:rPr>
              <a:t>would a perfect, honest response pass this? And would two people reading only the prompt agree on borderline 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B606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SECTION 4 · RUBRIC CRITERIA · COVERAGE &amp;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6D2E46"/>
                </a:solidFill>
                <a:latin typeface="Cambria"/>
              </a:rPr>
              <a:t>Cover every ask, weight it honestly, spread the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B6064"/>
                </a:solidFill>
                <a:latin typeface="Calibri"/>
              </a:rPr>
              <a:t>10–30 criteria. Trace each to an explicit or implied ask, and tag each to one of the six Outcome Quality categories (1.1–1.6).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38528"/>
            <a:ext cx="5394960" cy="3246120"/>
          </a:xfrm>
          <a:prstGeom prst="roundRect">
            <a:avLst/>
          </a:prstGeom>
          <a:solidFill>
            <a:srgbClr val="F7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396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D2E46"/>
                </a:solidFill>
                <a:latin typeface="Calibri"/>
              </a:rPr>
              <a:t>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23744"/>
            <a:ext cx="484632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6D2E46"/>
                </a:solidFill>
                <a:latin typeface="Calibri"/>
              </a:rPr>
              <a:t>•  Punishes the right answer  </a:t>
            </a:r>
            <a:r>
              <a:rPr sz="1080" b="0" i="0">
                <a:solidFill>
                  <a:srgbClr val="2B2126"/>
                </a:solidFill>
                <a:latin typeface="Calibri"/>
              </a:rPr>
              <a:t>requires what the user later ruled out. A perfect, honest answer must be able to pass.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6D2E46"/>
                </a:solidFill>
                <a:latin typeface="Calibri"/>
              </a:rPr>
              <a:t>•  Asks for something nobody asked  </a:t>
            </a:r>
            <a:r>
              <a:rPr sz="1080" b="0" i="0">
                <a:solidFill>
                  <a:srgbClr val="2B2126"/>
                </a:solidFill>
                <a:latin typeface="Calibri"/>
              </a:rPr>
              <a:t>trace every criterion to a prompt ask; remove the rest.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6D2E46"/>
                </a:solidFill>
                <a:latin typeface="Calibri"/>
              </a:rPr>
              <a:t>•  Missing critical criteria  </a:t>
            </a:r>
            <a:r>
              <a:rPr sz="1080" b="0" i="0">
                <a:solidFill>
                  <a:srgbClr val="2B2126"/>
                </a:solidFill>
                <a:latin typeface="Calibri"/>
              </a:rPr>
              <a:t>nothing checks “left unsent”, the recipient, or “nothing filed.”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6D2E46"/>
                </a:solidFill>
                <a:latin typeface="Calibri"/>
              </a:rPr>
              <a:t>•  Value not traceable  </a:t>
            </a:r>
            <a:r>
              <a:rPr sz="1080" b="0" i="0">
                <a:solidFill>
                  <a:srgbClr val="2B2126"/>
                </a:solidFill>
                <a:latin typeface="Calibri"/>
              </a:rPr>
              <a:t>every exact value appears in, or is worked out from, a file / GTFA / deliverables.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938528"/>
            <a:ext cx="5394960" cy="3246120"/>
          </a:xfrm>
          <a:prstGeom prst="roundRect">
            <a:avLst/>
          </a:prstGeom>
          <a:solidFill>
            <a:srgbClr val="F7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1396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D2E46"/>
                </a:solidFill>
                <a:latin typeface="Calibri"/>
              </a:rPr>
              <a:t>WEIGHTS, ATOMICITY &amp;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523744"/>
            <a:ext cx="484632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6D2E46"/>
                </a:solidFill>
                <a:latin typeface="Calibri"/>
              </a:rPr>
              <a:t>•  Flat or inflated weights  </a:t>
            </a:r>
            <a:r>
              <a:rPr sz="1080" b="0" i="0">
                <a:solidFill>
                  <a:srgbClr val="2B2126"/>
                </a:solidFill>
                <a:latin typeface="Calibri"/>
              </a:rPr>
              <a:t>if most criteria are +3, weight stops separating essential from nice-to-have.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6D2E46"/>
                </a:solidFill>
                <a:latin typeface="Calibri"/>
              </a:rPr>
              <a:t>•  Bundled / overlapping  </a:t>
            </a:r>
            <a:r>
              <a:rPr sz="1080" b="0" i="0">
                <a:solidFill>
                  <a:srgbClr val="2B2126"/>
                </a:solidFill>
                <a:latin typeface="Calibri"/>
              </a:rPr>
              <a:t>split “and” chains; merge true duplicates into one criterion.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6D2E46"/>
                </a:solidFill>
                <a:latin typeface="Calibri"/>
              </a:rPr>
              <a:t>•  Clustered categories  </a:t>
            </a:r>
            <a:r>
              <a:rPr sz="1080" b="0" i="0">
                <a:solidFill>
                  <a:srgbClr val="2B2126"/>
                </a:solidFill>
                <a:latin typeface="Calibri"/>
              </a:rPr>
              <a:t>spread across all six sub-dimensions (1.1–1.6).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6D2E46"/>
                </a:solidFill>
                <a:latin typeface="Calibri"/>
              </a:rPr>
              <a:t>•  Grading non-outcomes  </a:t>
            </a:r>
            <a:r>
              <a:rPr sz="1080" b="0" i="0">
                <a:solidFill>
                  <a:srgbClr val="2B2126"/>
                </a:solidFill>
                <a:latin typeface="Calibri"/>
              </a:rPr>
              <a:t>no criteria for reasoning, turn count or conversational style.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394960"/>
            <a:ext cx="11064240" cy="658368"/>
          </a:xfrm>
          <a:prstGeom prst="round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555040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D2E46"/>
                </a:solidFill>
                <a:latin typeface="Calibri"/>
              </a:rPr>
              <a:t>Run the “looks-correct-but-wrong” test:  </a:t>
            </a:r>
            <a:r>
              <a:rPr sz="1250" b="0" i="0">
                <a:solidFill>
                  <a:srgbClr val="6D2E46"/>
                </a:solidFill>
                <a:latin typeface="Calibri"/>
              </a:rPr>
              <a:t>imagine an output with the right numbers but the draft was sent. If your rubric would pass it, add the criterion that catches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B606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SECTION 5 · SIMPLIFIED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6D2E46"/>
                </a:solidFill>
                <a:latin typeface="Cambria"/>
              </a:rPr>
              <a:t>A clean, unsteered run, graded on what was really produced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B6064"/>
                </a:solidFill>
                <a:latin typeface="Calibri"/>
              </a:rPr>
              <a:t>A complexity test of your item: give the model the easiest path in 1–3 turns and check it still fails most of your rubric. Grade only delivered work.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10512"/>
          <a:ext cx="11064239" cy="3931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14600"/>
                <a:gridCol w="3977639"/>
                <a:gridCol w="457200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Error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Why it fails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Fix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Invalid simplified run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It repeats the opener, uses an old chat, adds nudges, has no share link, or ran before the prompt was final.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Fresh chat on a reset account. One full request for every deliverable. Save a public share link. Do not steer.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Item too easy (over 40%)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The score doesn't show real difficulty, including a near-0% only because a tool failed.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Harden with real traps from the files. Never delete, split or pad criteria to hit the number.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Not resetting first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Leftover changes from earlier runs make results meaningless.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Reset before each run, never after or mid-task.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Passing work never produced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The model described a draft or file in chat and the criterion was still marked Pass.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Grade only what was delivered. “I've created the draft” with no visible draft is a claim, not an artifact.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Contradictory ratings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“Draft was saved” is Fail, yet “Draft contains X” is Pass.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A child criterion can't pass when its parent failed, so check before you submit.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Failing correct content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Fail marked on lines the output plainly satisfies, hiding how easy the item is.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Re-read the output line by line and quote the evidence for every rating.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Empty justifications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No written reason for a rating, so nobody can check the grade.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Write one line of evidence per rating: a quote, or what is missing.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852160"/>
            <a:ext cx="11064240" cy="512064"/>
          </a:xfrm>
          <a:prstGeom prst="round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6007608"/>
            <a:ext cx="104241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D2E46"/>
                </a:solidFill>
                <a:latin typeface="Calibri"/>
              </a:rPr>
              <a:t>Over 40%? Fix the item, not the measurement.  </a:t>
            </a:r>
            <a:r>
              <a:rPr sz="1250" b="0" i="0">
                <a:solidFill>
                  <a:srgbClr val="6D2E46"/>
                </a:solidFill>
                <a:latin typeface="Calibri"/>
              </a:rPr>
              <a:t>The percentage is weighted: failing a +3 criterion moves it far more than a +1.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B606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EMERGING ERRORS · WHAT REVIEWERS ARE NOW CATCHING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6D2E46"/>
                </a:solidFill>
                <a:latin typeface="Cambria"/>
              </a:rPr>
              <a:t>Newly seen: valid runs, honest grading,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B6064"/>
                </a:solidFill>
                <a:latin typeface="Calibri"/>
              </a:rPr>
              <a:t>Recent send-backs cluster here. Several are integrity issues that go on the disable list, not the rework pile.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901952"/>
          <a:ext cx="11064240" cy="34015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/>
                <a:gridCol w="4206240"/>
                <a:gridCol w="4114800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Error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What it looks like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Fix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Broken run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The model can't reach the account or uses another persona's; it invents data (“Alpha/Beta”, “[domaine]” placeholders) or tells the user to do the work.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Re-run on a reset, correct account. Every entity must come from the universe.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Filed record doesn't match the run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Filed turns differ from the chat PDF, a turn appears that was never sent, or outputs are left over from an older run.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File exactly what happened: the turns, the PDF and every output from the same run.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Passes the gate only on paper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Filed under 40%, but 45–96% when regraded honestly on the evidence.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Harden the item and regrade on what was really produced. Don't let mis-grading carry the gate.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Integrity violations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A figure fabricated so a total matches; a self-check marked “full” while the automated check lists gaps; grades flipped to hold the gate; Turn 1 edited without a re-run.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Never alter evidence or grades. Fix the work, not the number.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468112"/>
            <a:ext cx="11064240" cy="676656"/>
          </a:xfrm>
          <a:prstGeom prst="roundRect">
            <a:avLst/>
          </a:prstGeom>
          <a:solidFill>
            <a:srgbClr val="582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5623560"/>
            <a:ext cx="104241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Integrity failures are not reworkable: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a fabricated value, a flipped grade or an edited Turn 1 with no re-run goes on the disable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B606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SECTION 6 · SUBMISSION &amp;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6D2E46"/>
                </a:solidFill>
                <a:latin typeface="Cambria"/>
              </a:rPr>
              <a:t>Preserve the evidence, use Share links, act on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B6064"/>
                </a:solidFill>
                <a:latin typeface="Calibri"/>
              </a:rPr>
              <a:t>The work is only graded if a reviewer can open and verify it. These four mistakes void an otherwise good task.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920240"/>
          <a:ext cx="11064240" cy="3108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/>
                <a:gridCol w="4114800"/>
                <a:gridCol w="4206240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Error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Why it fails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Fix</a:t>
                      </a:r>
                    </a:p>
                  </a:txBody>
                  <a:tcPr marL="91440" marR="91440" marT="36576" marB="36576" anchor="ctr">
                    <a:solidFill>
                      <a:srgbClr val="6D2E46"/>
                    </a:solidFill>
                    <a:lnB w="9525" cap="flat">
                      <a:solidFill>
                        <a:srgbClr val="6D2E46"/>
                      </a:solidFill>
                    </a:lnB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Outputs not preserved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Files the model names aren't uploaded, or an uploaded document is empty apart from its title.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Upload every file the reply names, with its full content.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Browser address-bar link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Private to your session; reviewers cannot open it.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Always use the product's Share feature, and save a link after every turn.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Deleting a chat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Kills every share link and fails the task.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Never delete. Start a new chat per task.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19" b="1" i="0">
                          <a:solidFill>
                            <a:srgbClr val="6D2E46"/>
                          </a:solidFill>
                          <a:latin typeface="Calibri"/>
                        </a:rPr>
                        <a:t>Resubmit without addressing feedback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6B6064"/>
                          </a:solidFill>
                          <a:latin typeface="Calibri"/>
                        </a:rPr>
                        <a:t>Only the run or wording changed while the listed fixes stay open, so you get the same send-back.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B2126"/>
                          </a:solidFill>
                          <a:latin typeface="Calibri"/>
                        </a:rPr>
                        <a:t>Work through the feedback item by item and tick each one off before you resubmit.</a:t>
                      </a:r>
                    </a:p>
                  </a:txBody>
                  <a:tcPr marL="91440" marR="91440" marT="36576" marB="36576" anchor="ctr">
                    <a:solidFill>
                      <a:srgbClr val="F9F4F5"/>
                    </a:solidFill>
                    <a:lnB w="9525" cap="flat">
                      <a:solidFill>
                        <a:srgbClr val="EAD9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394960"/>
            <a:ext cx="11064240" cy="566928"/>
          </a:xfrm>
          <a:prstGeom prst="round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5550408"/>
            <a:ext cx="10424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D2E46"/>
                </a:solidFill>
                <a:latin typeface="Calibri"/>
              </a:rPr>
              <a:t>Reviewers can't grade what they can't open.  </a:t>
            </a:r>
            <a:r>
              <a:rPr sz="1250" b="0" i="0">
                <a:solidFill>
                  <a:srgbClr val="6D2E46"/>
                </a:solidFill>
                <a:latin typeface="Calibri"/>
              </a:rPr>
              <a:t>A deleted chat, a private URL or a missing upload fails the task no matter how good the rest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B606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27080" y="457200"/>
            <a:ext cx="1188720" cy="1188720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50040" y="6263640"/>
            <a:ext cx="868680" cy="868680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C9A227"/>
                </a:solidFill>
                <a:latin typeface="Calibri"/>
              </a:rPr>
              <a:t>BEFORE YOU SUBMIT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FFFFFF"/>
                </a:solidFill>
                <a:latin typeface="Cambria"/>
              </a:rPr>
              <a:t>Re-read your task as a stranger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CE2D0"/>
                </a:solidFill>
                <a:latin typeface="Calibri"/>
              </a:rPr>
              <a:t>No matter how good the rest of the work is, these are the final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5394960" cy="2697480"/>
          </a:xfrm>
          <a:prstGeom prst="roundRect">
            <a:avLst/>
          </a:prstGeom>
          <a:solidFill>
            <a:srgbClr val="F7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945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D2E46"/>
                </a:solidFill>
                <a:latin typeface="Calibri"/>
              </a:rPr>
              <a:t>THE STRANGER RE-READ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78608"/>
            <a:ext cx="4846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A26769"/>
                </a:solidFill>
                <a:latin typeface="Calibri"/>
              </a:rPr>
              <a:t>? </a:t>
            </a:r>
            <a:r>
              <a:rPr sz="1250" b="0" i="0">
                <a:solidFill>
                  <a:srgbClr val="2B2126"/>
                </a:solidFill>
                <a:latin typeface="Calibri"/>
              </a:rPr>
              <a:t>Could a model finish it in one reply?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A26769"/>
                </a:solidFill>
                <a:latin typeface="Calibri"/>
              </a:rPr>
              <a:t>? </a:t>
            </a:r>
            <a:r>
              <a:rPr sz="1250" b="0" i="0">
                <a:solidFill>
                  <a:srgbClr val="2B2126"/>
                </a:solidFill>
                <a:latin typeface="Calibri"/>
              </a:rPr>
              <a:t>Is every name real in Gmail, Drive or Calendar?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A26769"/>
                </a:solidFill>
                <a:latin typeface="Calibri"/>
              </a:rPr>
              <a:t>? </a:t>
            </a:r>
            <a:r>
              <a:rPr sz="1250" b="0" i="0">
                <a:solidFill>
                  <a:srgbClr val="2B2126"/>
                </a:solidFill>
                <a:latin typeface="Calibri"/>
              </a:rPr>
              <a:t>Does each rubric line have one clear pass/fail answer?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A26769"/>
                </a:solidFill>
                <a:latin typeface="Calibri"/>
              </a:rPr>
              <a:t>? </a:t>
            </a:r>
            <a:r>
              <a:rPr sz="1250" b="0" i="0">
                <a:solidFill>
                  <a:srgbClr val="2B2126"/>
                </a:solidFill>
                <a:latin typeface="Calibri"/>
              </a:rPr>
              <a:t>Does anything depend on a draft being sent?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011680"/>
            <a:ext cx="5394960" cy="2697480"/>
          </a:xfrm>
          <a:prstGeom prst="roundRect">
            <a:avLst/>
          </a:prstGeom>
          <a:solidFill>
            <a:srgbClr val="582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21945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HARD-FAILS TO DOUBLE-CHECK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578608"/>
            <a:ext cx="4846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✕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An ungrounded entity: a file, person or date not in the universe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✕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An LLM-written opening prompt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✕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A deleted chat, or a browser address-bar URL as a link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✕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A named file claimed in the reply with no matching upload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✕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A PDF that contradicts the live share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37760"/>
            <a:ext cx="11064240" cy="1097280"/>
          </a:xfrm>
          <a:prstGeom prst="roundRect">
            <a:avLst/>
          </a:prstGeom>
          <a:solidFill>
            <a:srgbClr val="F7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512064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D2E46"/>
                </a:solidFill>
                <a:latin typeface="Calibri"/>
              </a:rPr>
              <a:t>NEED HELP?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44068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B2126"/>
                </a:solidFill>
                <a:latin typeface="Calibri"/>
              </a:rPr>
              <a:t>Read the full guidelines at app.outlier.ai (project guidelines), and join the War Room from your dashboard before you run: a wrong account, model or universe cannot be salvaged once a run has started.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272784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ECE2D0"/>
                </a:solidFill>
                <a:latin typeface="Calibri"/>
              </a:rPr>
              <a:t>Account Hydration  ·  Nectarbloom Prompt and Rubrics  ·  Nectarbloom SxS  ·  Writing Rubrics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ECE2D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