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defects</c:v>
                </c:pt>
              </c:strCache>
            </c:strRef>
          </c:tx>
          <c:dPt>
            <c:idx val="0"/>
            <c:spPr>
              <a:solidFill>
                <a:srgbClr val="6D2E46"/>
              </a:solidFill>
            </c:spPr>
          </c:dPt>
          <c:dPt>
            <c:idx val="1"/>
            <c:spPr>
              <a:solidFill>
                <a:srgbClr val="6D2E46"/>
              </a:solidFill>
            </c:spPr>
          </c:dPt>
          <c:dPt>
            <c:idx val="2"/>
            <c:spPr>
              <a:solidFill>
                <a:srgbClr val="A26769"/>
              </a:solidFill>
            </c:spPr>
          </c:dPt>
          <c:dPt>
            <c:idx val="3"/>
            <c:spPr>
              <a:solidFill>
                <a:srgbClr val="A26769"/>
              </a:solidFill>
            </c:spPr>
          </c:dPt>
          <c:dPt>
            <c:idx val="4"/>
            <c:spPr>
              <a:solidFill>
                <a:srgbClr val="A26769"/>
              </a:solidFill>
            </c:spPr>
          </c:dPt>
          <c:dPt>
            <c:idx val="5"/>
            <c:spPr>
              <a:solidFill>
                <a:srgbClr val="A26769"/>
              </a:solidFill>
            </c:spPr>
          </c:dPt>
          <c:cat>
            <c:strRef>
              <c:f>Sheet1!$A$2:$A$7</c:f>
              <c:strCache>
                <c:ptCount val="6"/>
                <c:pt idx="0">
                  <c:v>Unjudgeable
wording</c:v>
                </c:pt>
                <c:pt idx="1">
                  <c:v>Punishes the
right answer</c:v>
                </c:pt>
                <c:pt idx="2">
                  <c:v>Missing
information</c:v>
                </c:pt>
                <c:pt idx="3">
                  <c:v>Irrelevant
criteria</c:v>
                </c:pt>
                <c:pt idx="4">
                  <c:v>Factually
untrue</c:v>
                </c:pt>
                <c:pt idx="5">
                  <c:v>Duplication
&amp; bundling</c:v>
                </c:pt>
              </c:strCache>
            </c:strRef>
          </c:cat>
          <c:val>
            <c:numRef>
              <c:f>Sheet1!$B$2:$B$7</c:f>
              <c:numCache>
                <c:formatCode>General</c:formatCode>
                <c:ptCount val="6"/>
                <c:pt idx="0">
                  <c:v>30</c:v>
                </c:pt>
                <c:pt idx="1">
                  <c:v>26</c:v>
                </c:pt>
                <c:pt idx="2">
                  <c:v>15</c:v>
                </c:pt>
                <c:pt idx="3">
                  <c:v>12</c:v>
                </c:pt>
                <c:pt idx="4">
                  <c:v>12</c:v>
                </c:pt>
                <c:pt idx="5">
                  <c:v>5</c:v>
                </c:pt>
              </c:numCache>
            </c:numRef>
          </c:val>
        </c:ser>
        <c:dLbls>
          <c:numFmt formatCode="0&quot;%&quot;" sourceLinked="0"/>
          <c:txPr>
            <a:bodyPr/>
            <a:lstStyle/>
            <a:p>
              <a:pPr>
                <a:defRPr sz="1100" b="1">
                  <a:solidFill>
                    <a:srgbClr val="6D2E46"/>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8CFD2"/>
            </a:solidFill>
          </a:ln>
        </c:spPr>
        <c:txPr>
          <a:bodyPr/>
          <a:lstStyle/>
          <a:p>
            <a:pPr>
              <a:defRPr sz="1000">
                <a:solidFill>
                  <a:srgbClr val="2B2126"/>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CE6E8"/>
              </a:solidFill>
            </a:ln>
          </c:spPr>
        </c:majorGridlines>
        <c:majorTickMark val="out"/>
        <c:minorTickMark val="none"/>
        <c:tickLblPos val="nextTo"/>
        <c:spPr>
          <a:ln>
            <a:noFill/>
          </a:ln>
        </c:spPr>
        <c:txPr>
          <a:bodyPr/>
          <a:lstStyle/>
          <a:p>
            <a:pPr>
              <a:defRPr sz="1000">
                <a:solidFill>
                  <a:srgbClr val="6B6064"/>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32720" y="640080"/>
            <a:ext cx="1371600" cy="137160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38560" y="2286000"/>
            <a:ext cx="822960" cy="82296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92640" y="5120640"/>
            <a:ext cx="1097280" cy="109728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8778240" cy="274320"/>
          </a:xfrm>
          <a:prstGeom prst="rect">
            <a:avLst/>
          </a:prstGeom>
          <a:noFill/>
        </p:spPr>
        <p:txBody>
          <a:bodyPr wrap="square" lIns="0" rIns="0" tIns="0" bIns="0" anchor="t">
            <a:spAutoFit/>
          </a:bodyPr>
          <a:lstStyle/>
          <a:p>
            <a:pPr algn="l">
              <a:spcAft>
                <a:spcPts val="600"/>
              </a:spcAft>
            </a:pPr>
            <a:r>
              <a:rPr sz="1300" b="1" i="0">
                <a:solidFill>
                  <a:srgbClr val="C9A227"/>
                </a:solidFill>
                <a:latin typeface="Calibri"/>
              </a:rPr>
              <a:t>CONTRIBUTOR ONBOARDING</a:t>
            </a:r>
          </a:p>
        </p:txBody>
      </p:sp>
      <p:sp>
        <p:nvSpPr>
          <p:cNvPr id="8" name="TextBox 7"/>
          <p:cNvSpPr txBox="1"/>
          <p:nvPr/>
        </p:nvSpPr>
        <p:spPr>
          <a:xfrm>
            <a:off x="566928" y="2286000"/>
            <a:ext cx="8961120" cy="1371600"/>
          </a:xfrm>
          <a:prstGeom prst="rect">
            <a:avLst/>
          </a:prstGeom>
          <a:noFill/>
        </p:spPr>
        <p:txBody>
          <a:bodyPr wrap="square" lIns="0" rIns="0" tIns="0" bIns="0" anchor="t">
            <a:spAutoFit/>
          </a:bodyPr>
          <a:lstStyle/>
          <a:p>
            <a:pPr algn="l">
              <a:spcAft>
                <a:spcPts val="600"/>
              </a:spcAft>
            </a:pPr>
            <a:r>
              <a:rPr sz="6000" b="1" i="0">
                <a:solidFill>
                  <a:srgbClr val="FFFFFF"/>
                </a:solidFill>
                <a:latin typeface="Cambria"/>
              </a:rPr>
              <a:t>Nectarbloom</a:t>
            </a:r>
          </a:p>
        </p:txBody>
      </p:sp>
      <p:sp>
        <p:nvSpPr>
          <p:cNvPr id="9" name="TextBox 8"/>
          <p:cNvSpPr txBox="1"/>
          <p:nvPr/>
        </p:nvSpPr>
        <p:spPr>
          <a:xfrm>
            <a:off x="566928" y="3520440"/>
            <a:ext cx="8961120" cy="822960"/>
          </a:xfrm>
          <a:prstGeom prst="rect">
            <a:avLst/>
          </a:prstGeom>
          <a:noFill/>
        </p:spPr>
        <p:txBody>
          <a:bodyPr wrap="square" lIns="0" rIns="0" tIns="0" bIns="0" anchor="t">
            <a:spAutoFit/>
          </a:bodyPr>
          <a:lstStyle/>
          <a:p>
            <a:pPr algn="l">
              <a:spcAft>
                <a:spcPts val="600"/>
              </a:spcAft>
            </a:pPr>
            <a:r>
              <a:rPr sz="2100" b="0" i="0">
                <a:solidFill>
                  <a:srgbClr val="ECE2D0"/>
                </a:solidFill>
                <a:latin typeface="Cambria"/>
              </a:rPr>
              <a:t>Building and evaluating AI items across six locales</a:t>
            </a:r>
          </a:p>
        </p:txBody>
      </p:sp>
      <p:sp>
        <p:nvSpPr>
          <p:cNvPr id="10" name="Rectangle 9"/>
          <p:cNvSpPr/>
          <p:nvPr/>
        </p:nvSpPr>
        <p:spPr>
          <a:xfrm>
            <a:off x="566928" y="4434840"/>
            <a:ext cx="100584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709160"/>
            <a:ext cx="9144000" cy="822960"/>
          </a:xfrm>
          <a:prstGeom prst="rect">
            <a:avLst/>
          </a:prstGeom>
          <a:noFill/>
        </p:spPr>
        <p:txBody>
          <a:bodyPr wrap="square" lIns="0" rIns="0" tIns="0" bIns="0" anchor="t">
            <a:spAutoFit/>
          </a:bodyPr>
          <a:lstStyle/>
          <a:p>
            <a:pPr algn="l">
              <a:spcAft>
                <a:spcPts val="600"/>
              </a:spcAft>
            </a:pPr>
            <a:r>
              <a:rPr sz="1400" b="1" i="0">
                <a:solidFill>
                  <a:srgbClr val="ECE2D0"/>
                </a:solidFill>
                <a:latin typeface="Calibri"/>
              </a:rPr>
              <a:t>Read in this order:  </a:t>
            </a:r>
            <a:r>
              <a:rPr sz="1400" b="0" i="0">
                <a:solidFill>
                  <a:srgbClr val="ECE2D0"/>
                </a:solidFill>
                <a:latin typeface="Calibri"/>
              </a:rPr>
              <a:t>Account Hydration  →  Prompt and Rubrics (Queue 1)  →  SxS (Queue 2)</a:t>
            </a:r>
          </a:p>
        </p:txBody>
      </p:sp>
      <p:sp>
        <p:nvSpPr>
          <p:cNvPr id="12" name="TextBox 11"/>
          <p:cNvSpPr txBox="1"/>
          <p:nvPr/>
        </p:nvSpPr>
        <p:spPr>
          <a:xfrm>
            <a:off x="566928" y="6126480"/>
            <a:ext cx="8229600" cy="274320"/>
          </a:xfrm>
          <a:prstGeom prst="rect">
            <a:avLst/>
          </a:prstGeom>
          <a:noFill/>
        </p:spPr>
        <p:txBody>
          <a:bodyPr wrap="square" lIns="0" rIns="0" tIns="0" bIns="0" anchor="t">
            <a:spAutoFit/>
          </a:bodyPr>
          <a:lstStyle/>
          <a:p>
            <a:pPr algn="l">
              <a:spcAft>
                <a:spcPts val="600"/>
              </a:spcAft>
            </a:pPr>
            <a:r>
              <a:rPr sz="1150" b="0" i="0">
                <a:solidFill>
                  <a:srgbClr val="ECE2D0"/>
                </a:solidFill>
                <a:latin typeface="Calibri"/>
              </a:rPr>
              <a:t>Every step, gate and hard-fail rule in one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ORIENTATION</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Two queues, one item</a:t>
            </a:r>
          </a:p>
        </p:txBody>
      </p:sp>
      <p:sp>
        <p:nvSpPr>
          <p:cNvPr id="5" name="TextBox 4"/>
          <p:cNvSpPr txBox="1"/>
          <p:nvPr/>
        </p:nvSpPr>
        <p:spPr>
          <a:xfrm>
            <a:off x="566928" y="1481328"/>
            <a:ext cx="11064240" cy="274320"/>
          </a:xfrm>
          <a:prstGeom prst="rect">
            <a:avLst/>
          </a:prstGeom>
          <a:noFill/>
        </p:spPr>
        <p:txBody>
          <a:bodyPr wrap="square" lIns="0" rIns="0" tIns="0" bIns="0" anchor="t">
            <a:spAutoFit/>
          </a:bodyPr>
          <a:lstStyle/>
          <a:p>
            <a:pPr algn="l">
              <a:spcAft>
                <a:spcPts val="600"/>
              </a:spcAft>
            </a:pPr>
            <a:r>
              <a:rPr sz="1350" b="0" i="0">
                <a:solidFill>
                  <a:srgbClr val="6B6064"/>
                </a:solidFill>
                <a:latin typeface="Calibri"/>
              </a:rPr>
              <a:t>An evaluation item is built in Queue 1, then run against models in Queue 2. Most contributors work in one queue, but the handoff is what the work is for.</a:t>
            </a:r>
          </a:p>
        </p:txBody>
      </p:sp>
      <p:sp>
        <p:nvSpPr>
          <p:cNvPr id="6" name="Rounded Rectangle 5"/>
          <p:cNvSpPr/>
          <p:nvPr/>
        </p:nvSpPr>
        <p:spPr>
          <a:xfrm>
            <a:off x="566928" y="2057400"/>
            <a:ext cx="5303520" cy="288036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377440"/>
            <a:ext cx="1207008" cy="347472"/>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450592"/>
            <a:ext cx="1207008" cy="228600"/>
          </a:xfrm>
          <a:prstGeom prst="rect">
            <a:avLst/>
          </a:prstGeom>
          <a:noFill/>
        </p:spPr>
        <p:txBody>
          <a:bodyPr wrap="square" lIns="0" rIns="0" tIns="0" bIns="0" anchor="t">
            <a:spAutoFit/>
          </a:bodyPr>
          <a:lstStyle/>
          <a:p>
            <a:pPr algn="ctr">
              <a:spcAft>
                <a:spcPts val="600"/>
              </a:spcAft>
            </a:pPr>
            <a:r>
              <a:rPr sz="1100" b="1" i="0">
                <a:solidFill>
                  <a:srgbClr val="FFFFFF"/>
                </a:solidFill>
                <a:latin typeface="Calibri"/>
              </a:rPr>
              <a:t>QUEUE 1</a:t>
            </a:r>
          </a:p>
        </p:txBody>
      </p:sp>
      <p:sp>
        <p:nvSpPr>
          <p:cNvPr id="9" name="TextBox 8"/>
          <p:cNvSpPr txBox="1"/>
          <p:nvPr/>
        </p:nvSpPr>
        <p:spPr>
          <a:xfrm>
            <a:off x="886968" y="2907792"/>
            <a:ext cx="4800600" cy="411480"/>
          </a:xfrm>
          <a:prstGeom prst="rect">
            <a:avLst/>
          </a:prstGeom>
          <a:noFill/>
        </p:spPr>
        <p:txBody>
          <a:bodyPr wrap="square" lIns="0" rIns="0" tIns="0" bIns="0" anchor="t">
            <a:spAutoFit/>
          </a:bodyPr>
          <a:lstStyle/>
          <a:p>
            <a:pPr algn="l">
              <a:spcAft>
                <a:spcPts val="600"/>
              </a:spcAft>
            </a:pPr>
            <a:r>
              <a:rPr sz="2400" b="1" i="0">
                <a:solidFill>
                  <a:srgbClr val="6D2E46"/>
                </a:solidFill>
                <a:latin typeface="Cambria"/>
              </a:rPr>
              <a:t>Prompt and Rubrics</a:t>
            </a:r>
          </a:p>
        </p:txBody>
      </p:sp>
      <p:sp>
        <p:nvSpPr>
          <p:cNvPr id="10" name="TextBox 9"/>
          <p:cNvSpPr txBox="1"/>
          <p:nvPr/>
        </p:nvSpPr>
        <p:spPr>
          <a:xfrm>
            <a:off x="886968" y="3493008"/>
            <a:ext cx="4800600" cy="1005840"/>
          </a:xfrm>
          <a:prstGeom prst="rect">
            <a:avLst/>
          </a:prstGeom>
          <a:noFill/>
        </p:spPr>
        <p:txBody>
          <a:bodyPr wrap="square" lIns="0" rIns="0" tIns="0" bIns="0" anchor="t">
            <a:spAutoFit/>
          </a:bodyPr>
          <a:lstStyle/>
          <a:p>
            <a:pPr algn="l">
              <a:lnSpc>
                <a:spcPct val="115000"/>
              </a:lnSpc>
              <a:spcAft>
                <a:spcPts val="600"/>
              </a:spcAft>
            </a:pPr>
            <a:r>
              <a:rPr sz="1250" b="0" i="0">
                <a:solidFill>
                  <a:srgbClr val="2B2126"/>
                </a:solidFill>
                <a:latin typeface="Calibri"/>
              </a:rPr>
              <a:t>You build the item: the opening prompt, the target deliverables, the GTFA, the weighted rubric and — on Type 2 — the Known / Not Known steering script.</a:t>
            </a:r>
          </a:p>
        </p:txBody>
      </p:sp>
      <p:sp>
        <p:nvSpPr>
          <p:cNvPr id="11" name="TextBox 10"/>
          <p:cNvSpPr txBox="1"/>
          <p:nvPr/>
        </p:nvSpPr>
        <p:spPr>
          <a:xfrm>
            <a:off x="886968" y="4498848"/>
            <a:ext cx="4800600" cy="274320"/>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Output:  a finished, frozen item</a:t>
            </a:r>
          </a:p>
        </p:txBody>
      </p:sp>
      <p:sp>
        <p:nvSpPr>
          <p:cNvPr id="12" name="Rounded Rectangle 11"/>
          <p:cNvSpPr/>
          <p:nvPr/>
        </p:nvSpPr>
        <p:spPr>
          <a:xfrm>
            <a:off x="6327648" y="2057400"/>
            <a:ext cx="5303520" cy="288036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47688" y="2377440"/>
            <a:ext cx="1207008" cy="347472"/>
          </a:xfrm>
          <a:prstGeom prst="roundRect">
            <a:avLst>
              <a:gd name="adj" fmla="val 6000"/>
            </a:avLst>
          </a:prstGeom>
          <a:solidFill>
            <a:srgbClr val="5F7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2450592"/>
            <a:ext cx="1207008" cy="228600"/>
          </a:xfrm>
          <a:prstGeom prst="rect">
            <a:avLst/>
          </a:prstGeom>
          <a:noFill/>
        </p:spPr>
        <p:txBody>
          <a:bodyPr wrap="square" lIns="0" rIns="0" tIns="0" bIns="0" anchor="t">
            <a:spAutoFit/>
          </a:bodyPr>
          <a:lstStyle/>
          <a:p>
            <a:pPr algn="ctr">
              <a:spcAft>
                <a:spcPts val="600"/>
              </a:spcAft>
            </a:pPr>
            <a:r>
              <a:rPr sz="1100" b="1" i="0">
                <a:solidFill>
                  <a:srgbClr val="FFFFFF"/>
                </a:solidFill>
                <a:latin typeface="Calibri"/>
              </a:rPr>
              <a:t>QUEUE 2</a:t>
            </a:r>
          </a:p>
        </p:txBody>
      </p:sp>
      <p:sp>
        <p:nvSpPr>
          <p:cNvPr id="15" name="TextBox 14"/>
          <p:cNvSpPr txBox="1"/>
          <p:nvPr/>
        </p:nvSpPr>
        <p:spPr>
          <a:xfrm>
            <a:off x="6647688" y="2907792"/>
            <a:ext cx="4800600" cy="411480"/>
          </a:xfrm>
          <a:prstGeom prst="rect">
            <a:avLst/>
          </a:prstGeom>
          <a:noFill/>
        </p:spPr>
        <p:txBody>
          <a:bodyPr wrap="square" lIns="0" rIns="0" tIns="0" bIns="0" anchor="t">
            <a:spAutoFit/>
          </a:bodyPr>
          <a:lstStyle/>
          <a:p>
            <a:pPr algn="l">
              <a:spcAft>
                <a:spcPts val="600"/>
              </a:spcAft>
            </a:pPr>
            <a:r>
              <a:rPr sz="2400" b="1" i="0">
                <a:solidFill>
                  <a:srgbClr val="5F7A61"/>
                </a:solidFill>
                <a:latin typeface="Cambria"/>
              </a:rPr>
              <a:t>SxS</a:t>
            </a:r>
          </a:p>
        </p:txBody>
      </p:sp>
      <p:sp>
        <p:nvSpPr>
          <p:cNvPr id="16" name="TextBox 15"/>
          <p:cNvSpPr txBox="1"/>
          <p:nvPr/>
        </p:nvSpPr>
        <p:spPr>
          <a:xfrm>
            <a:off x="6647688" y="3493008"/>
            <a:ext cx="4800600" cy="1005840"/>
          </a:xfrm>
          <a:prstGeom prst="rect">
            <a:avLst/>
          </a:prstGeom>
          <a:noFill/>
        </p:spPr>
        <p:txBody>
          <a:bodyPr wrap="square" lIns="0" rIns="0" tIns="0" bIns="0" anchor="t">
            <a:spAutoFit/>
          </a:bodyPr>
          <a:lstStyle/>
          <a:p>
            <a:pPr algn="l">
              <a:lnSpc>
                <a:spcPct val="115000"/>
              </a:lnSpc>
              <a:spcAft>
                <a:spcPts val="600"/>
              </a:spcAft>
            </a:pPr>
            <a:r>
              <a:rPr sz="1250" b="0" i="0">
                <a:solidFill>
                  <a:srgbClr val="2B2126"/>
                </a:solidFill>
                <a:latin typeface="Calibri"/>
              </a:rPr>
              <a:t>You run that item as a full 20+ turn conversation against two models, grade both against the existing rubric, rate eight dimensions and record one preference.</a:t>
            </a:r>
          </a:p>
        </p:txBody>
      </p:sp>
      <p:sp>
        <p:nvSpPr>
          <p:cNvPr id="17" name="TextBox 16"/>
          <p:cNvSpPr txBox="1"/>
          <p:nvPr/>
        </p:nvSpPr>
        <p:spPr>
          <a:xfrm>
            <a:off x="6647688" y="4498848"/>
            <a:ext cx="4800600" cy="274320"/>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Output:  comparable preference data</a:t>
            </a:r>
          </a:p>
        </p:txBody>
      </p:sp>
      <p:sp>
        <p:nvSpPr>
          <p:cNvPr id="18" name="Rounded Rectangle 17"/>
          <p:cNvSpPr/>
          <p:nvPr/>
        </p:nvSpPr>
        <p:spPr>
          <a:xfrm>
            <a:off x="566928" y="5230368"/>
            <a:ext cx="11064240" cy="74980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5440680"/>
            <a:ext cx="10424160" cy="36576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The rule that spans both queues:  </a:t>
            </a:r>
            <a:r>
              <a:rPr sz="1300" b="0" i="0">
                <a:solidFill>
                  <a:srgbClr val="2B2126"/>
                </a:solidFill>
                <a:latin typeface="Calibri"/>
              </a:rPr>
              <a:t>every file, person, date and event you reference must actually exist in your hydrated universe. Never invent an entity; never mock an input file.</a:t>
            </a:r>
          </a:p>
        </p:txBody>
      </p:sp>
      <p:sp>
        <p:nvSpPr>
          <p:cNvPr id="20" name="TextBox 19"/>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1" name="TextBox 20"/>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THE ORDER OF WORK</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whole pipeline at a glance</a:t>
            </a:r>
          </a:p>
        </p:txBody>
      </p:sp>
      <p:sp>
        <p:nvSpPr>
          <p:cNvPr id="5" name="Rounded Rectangle 4"/>
          <p:cNvSpPr/>
          <p:nvPr/>
        </p:nvSpPr>
        <p:spPr>
          <a:xfrm>
            <a:off x="566928" y="1627632"/>
            <a:ext cx="3474720" cy="3291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9536" y="1901952"/>
            <a:ext cx="475488" cy="47548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0</a:t>
            </a:r>
          </a:p>
        </p:txBody>
      </p:sp>
      <p:sp>
        <p:nvSpPr>
          <p:cNvPr id="7" name="TextBox 6"/>
          <p:cNvSpPr txBox="1"/>
          <p:nvPr/>
        </p:nvSpPr>
        <p:spPr>
          <a:xfrm>
            <a:off x="1463040" y="2011680"/>
            <a:ext cx="2560320" cy="274320"/>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SET UP</a:t>
            </a:r>
          </a:p>
        </p:txBody>
      </p:sp>
      <p:sp>
        <p:nvSpPr>
          <p:cNvPr id="8" name="TextBox 7"/>
          <p:cNvSpPr txBox="1"/>
          <p:nvPr/>
        </p:nvSpPr>
        <p:spPr>
          <a:xfrm>
            <a:off x="859536" y="2697480"/>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6D2E46"/>
                </a:solidFill>
                <a:latin typeface="Calibri"/>
              </a:rPr>
              <a:t>—  </a:t>
            </a:r>
            <a:r>
              <a:rPr sz="1200" b="0" i="0">
                <a:solidFill>
                  <a:srgbClr val="2B2126"/>
                </a:solidFill>
                <a:latin typeface="Calibri"/>
              </a:rPr>
              <a:t>Claim your Gemini demo account</a:t>
            </a:r>
          </a:p>
        </p:txBody>
      </p:sp>
      <p:sp>
        <p:nvSpPr>
          <p:cNvPr id="9" name="TextBox 8"/>
          <p:cNvSpPr txBox="1"/>
          <p:nvPr/>
        </p:nvSpPr>
        <p:spPr>
          <a:xfrm>
            <a:off x="859536" y="3209544"/>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6D2E46"/>
                </a:solidFill>
                <a:latin typeface="Calibri"/>
              </a:rPr>
              <a:t>—  </a:t>
            </a:r>
            <a:r>
              <a:rPr sz="1200" b="0" i="0">
                <a:solidFill>
                  <a:srgbClr val="2B2126"/>
                </a:solidFill>
                <a:latin typeface="Calibri"/>
              </a:rPr>
              <a:t>Create one Gmail address</a:t>
            </a:r>
          </a:p>
        </p:txBody>
      </p:sp>
      <p:sp>
        <p:nvSpPr>
          <p:cNvPr id="10" name="TextBox 9"/>
          <p:cNvSpPr txBox="1"/>
          <p:nvPr/>
        </p:nvSpPr>
        <p:spPr>
          <a:xfrm>
            <a:off x="859536" y="3721608"/>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6D2E46"/>
                </a:solidFill>
                <a:latin typeface="Calibri"/>
              </a:rPr>
              <a:t>—  </a:t>
            </a:r>
            <a:r>
              <a:rPr sz="1200" b="0" i="0">
                <a:solidFill>
                  <a:srgbClr val="2B2126"/>
                </a:solidFill>
                <a:latin typeface="Calibri"/>
              </a:rPr>
              <a:t>Run /setup for your universe</a:t>
            </a:r>
          </a:p>
        </p:txBody>
      </p:sp>
      <p:sp>
        <p:nvSpPr>
          <p:cNvPr id="11" name="TextBox 10"/>
          <p:cNvSpPr txBox="1"/>
          <p:nvPr/>
        </p:nvSpPr>
        <p:spPr>
          <a:xfrm>
            <a:off x="859536" y="4233672"/>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6D2E46"/>
                </a:solidFill>
                <a:latin typeface="Calibri"/>
              </a:rPr>
              <a:t>—  </a:t>
            </a:r>
            <a:r>
              <a:rPr sz="1200" b="0" i="0">
                <a:solidFill>
                  <a:srgbClr val="2B2126"/>
                </a:solidFill>
                <a:latin typeface="Calibri"/>
              </a:rPr>
              <a:t>Reset before every run</a:t>
            </a:r>
          </a:p>
        </p:txBody>
      </p:sp>
      <p:sp>
        <p:nvSpPr>
          <p:cNvPr id="12" name="Chevron 11"/>
          <p:cNvSpPr/>
          <p:nvPr/>
        </p:nvSpPr>
        <p:spPr>
          <a:xfrm>
            <a:off x="4114800" y="3035808"/>
            <a:ext cx="237744" cy="475488"/>
          </a:xfrm>
          <a:prstGeom prst="chevron">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07408" y="1627632"/>
            <a:ext cx="3474720" cy="3291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016" y="1901952"/>
            <a:ext cx="475488" cy="475488"/>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15" name="TextBox 14"/>
          <p:cNvSpPr txBox="1"/>
          <p:nvPr/>
        </p:nvSpPr>
        <p:spPr>
          <a:xfrm>
            <a:off x="5303520" y="2011680"/>
            <a:ext cx="2560320" cy="274320"/>
          </a:xfrm>
          <a:prstGeom prst="rect">
            <a:avLst/>
          </a:prstGeom>
          <a:noFill/>
        </p:spPr>
        <p:txBody>
          <a:bodyPr wrap="square" lIns="0" rIns="0" tIns="0" bIns="0" anchor="t">
            <a:spAutoFit/>
          </a:bodyPr>
          <a:lstStyle/>
          <a:p>
            <a:pPr algn="l">
              <a:spcAft>
                <a:spcPts val="600"/>
              </a:spcAft>
            </a:pPr>
            <a:r>
              <a:rPr sz="1400" b="1" i="0">
                <a:solidFill>
                  <a:srgbClr val="A26769"/>
                </a:solidFill>
                <a:latin typeface="Calibri"/>
              </a:rPr>
              <a:t>BUILD  ·  Queue 1</a:t>
            </a:r>
          </a:p>
        </p:txBody>
      </p:sp>
      <p:sp>
        <p:nvSpPr>
          <p:cNvPr id="16" name="TextBox 15"/>
          <p:cNvSpPr txBox="1"/>
          <p:nvPr/>
        </p:nvSpPr>
        <p:spPr>
          <a:xfrm>
            <a:off x="4700016" y="2697480"/>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A26769"/>
                </a:solidFill>
                <a:latin typeface="Calibri"/>
              </a:rPr>
              <a:t>—  </a:t>
            </a:r>
            <a:r>
              <a:rPr sz="1200" b="0" i="0">
                <a:solidFill>
                  <a:srgbClr val="2B2126"/>
                </a:solidFill>
                <a:latin typeface="Calibri"/>
              </a:rPr>
              <a:t>Explore the universe</a:t>
            </a:r>
          </a:p>
        </p:txBody>
      </p:sp>
      <p:sp>
        <p:nvSpPr>
          <p:cNvPr id="17" name="TextBox 16"/>
          <p:cNvSpPr txBox="1"/>
          <p:nvPr/>
        </p:nvSpPr>
        <p:spPr>
          <a:xfrm>
            <a:off x="4700016" y="3209544"/>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A26769"/>
                </a:solidFill>
                <a:latin typeface="Calibri"/>
              </a:rPr>
              <a:t>—  </a:t>
            </a:r>
            <a:r>
              <a:rPr sz="1200" b="0" i="0">
                <a:solidFill>
                  <a:srgbClr val="2B2126"/>
                </a:solidFill>
                <a:latin typeface="Calibri"/>
              </a:rPr>
              <a:t>Write prompt + deliverables</a:t>
            </a:r>
          </a:p>
        </p:txBody>
      </p:sp>
      <p:sp>
        <p:nvSpPr>
          <p:cNvPr id="18" name="TextBox 17"/>
          <p:cNvSpPr txBox="1"/>
          <p:nvPr/>
        </p:nvSpPr>
        <p:spPr>
          <a:xfrm>
            <a:off x="4700016" y="3721608"/>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A26769"/>
                </a:solidFill>
                <a:latin typeface="Calibri"/>
              </a:rPr>
              <a:t>—  </a:t>
            </a:r>
            <a:r>
              <a:rPr sz="1200" b="0" i="0">
                <a:solidFill>
                  <a:srgbClr val="2B2126"/>
                </a:solidFill>
                <a:latin typeface="Calibri"/>
              </a:rPr>
              <a:t>GTFA → rubric → Known/Not Known</a:t>
            </a:r>
          </a:p>
        </p:txBody>
      </p:sp>
      <p:sp>
        <p:nvSpPr>
          <p:cNvPr id="19" name="TextBox 18"/>
          <p:cNvSpPr txBox="1"/>
          <p:nvPr/>
        </p:nvSpPr>
        <p:spPr>
          <a:xfrm>
            <a:off x="4700016" y="4233672"/>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A26769"/>
                </a:solidFill>
                <a:latin typeface="Calibri"/>
              </a:rPr>
              <a:t>—  </a:t>
            </a:r>
            <a:r>
              <a:rPr sz="1200" b="0" i="0">
                <a:solidFill>
                  <a:srgbClr val="2B2126"/>
                </a:solidFill>
                <a:latin typeface="Calibri"/>
              </a:rPr>
              <a:t>Pass the 40% gate</a:t>
            </a:r>
          </a:p>
        </p:txBody>
      </p:sp>
      <p:sp>
        <p:nvSpPr>
          <p:cNvPr id="20" name="Chevron 19"/>
          <p:cNvSpPr/>
          <p:nvPr/>
        </p:nvSpPr>
        <p:spPr>
          <a:xfrm>
            <a:off x="7955279" y="3035808"/>
            <a:ext cx="237744" cy="475488"/>
          </a:xfrm>
          <a:prstGeom prst="chevron">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47888" y="1627632"/>
            <a:ext cx="3474720" cy="3291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540496" y="1901952"/>
            <a:ext cx="475488" cy="475488"/>
          </a:xfrm>
          <a:prstGeom prst="ellipse">
            <a:avLst/>
          </a:prstGeom>
          <a:solidFill>
            <a:srgbClr val="5F7A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23" name="TextBox 22"/>
          <p:cNvSpPr txBox="1"/>
          <p:nvPr/>
        </p:nvSpPr>
        <p:spPr>
          <a:xfrm>
            <a:off x="9144000" y="2011680"/>
            <a:ext cx="2560320" cy="274320"/>
          </a:xfrm>
          <a:prstGeom prst="rect">
            <a:avLst/>
          </a:prstGeom>
          <a:noFill/>
        </p:spPr>
        <p:txBody>
          <a:bodyPr wrap="square" lIns="0" rIns="0" tIns="0" bIns="0" anchor="t">
            <a:spAutoFit/>
          </a:bodyPr>
          <a:lstStyle/>
          <a:p>
            <a:pPr algn="l">
              <a:spcAft>
                <a:spcPts val="600"/>
              </a:spcAft>
            </a:pPr>
            <a:r>
              <a:rPr sz="1400" b="1" i="0">
                <a:solidFill>
                  <a:srgbClr val="5F7A61"/>
                </a:solidFill>
                <a:latin typeface="Calibri"/>
              </a:rPr>
              <a:t>EVALUATE  ·  Queue 2</a:t>
            </a:r>
          </a:p>
        </p:txBody>
      </p:sp>
      <p:sp>
        <p:nvSpPr>
          <p:cNvPr id="24" name="TextBox 23"/>
          <p:cNvSpPr txBox="1"/>
          <p:nvPr/>
        </p:nvSpPr>
        <p:spPr>
          <a:xfrm>
            <a:off x="8540496" y="2697480"/>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5F7A61"/>
                </a:solidFill>
                <a:latin typeface="Calibri"/>
              </a:rPr>
              <a:t>—  </a:t>
            </a:r>
            <a:r>
              <a:rPr sz="1200" b="0" i="0">
                <a:solidFill>
                  <a:srgbClr val="2B2126"/>
                </a:solidFill>
                <a:latin typeface="Calibri"/>
              </a:rPr>
              <a:t>Rehydrate, run 20+ turns</a:t>
            </a:r>
          </a:p>
        </p:txBody>
      </p:sp>
      <p:sp>
        <p:nvSpPr>
          <p:cNvPr id="25" name="TextBox 24"/>
          <p:cNvSpPr txBox="1"/>
          <p:nvPr/>
        </p:nvSpPr>
        <p:spPr>
          <a:xfrm>
            <a:off x="8540496" y="3209544"/>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5F7A61"/>
                </a:solidFill>
                <a:latin typeface="Calibri"/>
              </a:rPr>
              <a:t>—  </a:t>
            </a:r>
            <a:r>
              <a:rPr sz="1200" b="0" i="0">
                <a:solidFill>
                  <a:srgbClr val="2B2126"/>
                </a:solidFill>
                <a:latin typeface="Calibri"/>
              </a:rPr>
              <a:t>Grade + annotate turns</a:t>
            </a:r>
          </a:p>
        </p:txBody>
      </p:sp>
      <p:sp>
        <p:nvSpPr>
          <p:cNvPr id="26" name="TextBox 25"/>
          <p:cNvSpPr txBox="1"/>
          <p:nvPr/>
        </p:nvSpPr>
        <p:spPr>
          <a:xfrm>
            <a:off x="8540496" y="3721608"/>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5F7A61"/>
                </a:solidFill>
                <a:latin typeface="Calibri"/>
              </a:rPr>
              <a:t>—  </a:t>
            </a:r>
            <a:r>
              <a:rPr sz="1200" b="0" i="0">
                <a:solidFill>
                  <a:srgbClr val="2B2126"/>
                </a:solidFill>
                <a:latin typeface="Calibri"/>
              </a:rPr>
              <a:t>Rate 8 dimensions</a:t>
            </a:r>
          </a:p>
        </p:txBody>
      </p:sp>
      <p:sp>
        <p:nvSpPr>
          <p:cNvPr id="27" name="TextBox 26"/>
          <p:cNvSpPr txBox="1"/>
          <p:nvPr/>
        </p:nvSpPr>
        <p:spPr>
          <a:xfrm>
            <a:off x="8540496" y="4233672"/>
            <a:ext cx="3017520" cy="457200"/>
          </a:xfrm>
          <a:prstGeom prst="rect">
            <a:avLst/>
          </a:prstGeom>
          <a:noFill/>
        </p:spPr>
        <p:txBody>
          <a:bodyPr wrap="square" lIns="0" rIns="0" tIns="0" bIns="0" anchor="t">
            <a:spAutoFit/>
          </a:bodyPr>
          <a:lstStyle/>
          <a:p>
            <a:pPr algn="l">
              <a:lnSpc>
                <a:spcPct val="100000"/>
              </a:lnSpc>
              <a:spcAft>
                <a:spcPts val="600"/>
              </a:spcAft>
            </a:pPr>
            <a:r>
              <a:rPr sz="1200" b="1" i="0">
                <a:solidFill>
                  <a:srgbClr val="5F7A61"/>
                </a:solidFill>
                <a:latin typeface="Calibri"/>
              </a:rPr>
              <a:t>—  </a:t>
            </a:r>
            <a:r>
              <a:rPr sz="1200" b="0" i="0">
                <a:solidFill>
                  <a:srgbClr val="2B2126"/>
                </a:solidFill>
                <a:latin typeface="Calibri"/>
              </a:rPr>
              <a:t>Record one preference</a:t>
            </a:r>
          </a:p>
        </p:txBody>
      </p:sp>
      <p:sp>
        <p:nvSpPr>
          <p:cNvPr id="28" name="Rounded Rectangle 27"/>
          <p:cNvSpPr/>
          <p:nvPr/>
        </p:nvSpPr>
        <p:spPr>
          <a:xfrm>
            <a:off x="566928" y="5138928"/>
            <a:ext cx="11064240" cy="91440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5330952"/>
            <a:ext cx="10424160" cy="548640"/>
          </a:xfrm>
          <a:prstGeom prst="rect">
            <a:avLst/>
          </a:prstGeom>
          <a:noFill/>
        </p:spPr>
        <p:txBody>
          <a:bodyPr wrap="square" lIns="0" rIns="0" tIns="0" bIns="0" anchor="t">
            <a:spAutoFit/>
          </a:bodyPr>
          <a:lstStyle/>
          <a:p>
            <a:pPr algn="l">
              <a:lnSpc>
                <a:spcPct val="110000"/>
              </a:lnSpc>
              <a:spcAft>
                <a:spcPts val="600"/>
              </a:spcAft>
            </a:pPr>
            <a:r>
              <a:rPr sz="1300" b="1" i="0">
                <a:solidFill>
                  <a:srgbClr val="6D2E46"/>
                </a:solidFill>
                <a:latin typeface="Calibri"/>
              </a:rPr>
              <a:t>Never delete a chat.  </a:t>
            </a:r>
            <a:r>
              <a:rPr sz="1300" b="0" i="0">
                <a:solidFill>
                  <a:srgbClr val="2B2126"/>
                </a:solidFill>
                <a:latin typeface="Calibri"/>
              </a:rPr>
              <a:t>Deleting permanently kills every share link in the task and the whole task fails — in both queues. Start a new chat per task and leave every chat in place.</a:t>
            </a:r>
          </a:p>
        </p:txBody>
      </p:sp>
      <p:sp>
        <p:nvSpPr>
          <p:cNvPr id="30" name="TextBox 29"/>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31" name="TextBox 30"/>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PHASE 0  ·  ACCOUNT</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Two links — and picking the wrong one is the classic mistake</a:t>
            </a:r>
          </a:p>
        </p:txBody>
      </p:sp>
      <p:sp>
        <p:nvSpPr>
          <p:cNvPr id="5" name="TextBox 4"/>
          <p:cNvSpPr txBox="1"/>
          <p:nvPr/>
        </p:nvSpPr>
        <p:spPr>
          <a:xfrm>
            <a:off x="566928" y="1444752"/>
            <a:ext cx="11064240" cy="475488"/>
          </a:xfrm>
          <a:prstGeom prst="rect">
            <a:avLst/>
          </a:prstGeom>
          <a:noFill/>
        </p:spPr>
        <p:txBody>
          <a:bodyPr wrap="square" lIns="0" rIns="0" tIns="0" bIns="0" anchor="t">
            <a:spAutoFit/>
          </a:bodyPr>
          <a:lstStyle/>
          <a:p>
            <a:pPr algn="l">
              <a:lnSpc>
                <a:spcPct val="110000"/>
              </a:lnSpc>
              <a:spcAft>
                <a:spcPts val="600"/>
              </a:spcAft>
            </a:pPr>
            <a:r>
              <a:rPr sz="1300" b="1" i="0">
                <a:solidFill>
                  <a:srgbClr val="6D2E46"/>
                </a:solidFill>
                <a:latin typeface="Calibri"/>
              </a:rPr>
              <a:t>Two accounts are in play. </a:t>
            </a:r>
            <a:r>
              <a:rPr sz="1300" b="0" i="0">
                <a:solidFill>
                  <a:srgbClr val="6B6064"/>
                </a:solidFill>
                <a:latin typeface="Calibri"/>
              </a:rPr>
              <a:t>You run the models in a Gemini demo account you claim; the item’s universe lives in a hydrated Gmail address you create and keep for the whole project. These two links manage that second one.</a:t>
            </a:r>
          </a:p>
        </p:txBody>
      </p:sp>
      <p:sp>
        <p:nvSpPr>
          <p:cNvPr id="6" name="Rounded Rectangle 5"/>
          <p:cNvSpPr/>
          <p:nvPr/>
        </p:nvSpPr>
        <p:spPr>
          <a:xfrm>
            <a:off x="566928" y="2057400"/>
            <a:ext cx="5303520" cy="30175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2743200" cy="411480"/>
          </a:xfrm>
          <a:prstGeom prst="rect">
            <a:avLst/>
          </a:prstGeom>
          <a:noFill/>
        </p:spPr>
        <p:txBody>
          <a:bodyPr wrap="square" lIns="0" rIns="0" tIns="0" bIns="0" anchor="t">
            <a:spAutoFit/>
          </a:bodyPr>
          <a:lstStyle/>
          <a:p>
            <a:pPr algn="l">
              <a:spcAft>
                <a:spcPts val="600"/>
              </a:spcAft>
            </a:pPr>
            <a:r>
              <a:rPr sz="2600" b="1" i="0">
                <a:solidFill>
                  <a:srgbClr val="6D2E46"/>
                </a:solidFill>
                <a:latin typeface="Cambria"/>
              </a:rPr>
              <a:t>/setup</a:t>
            </a:r>
          </a:p>
        </p:txBody>
      </p:sp>
      <p:sp>
        <p:nvSpPr>
          <p:cNvPr id="8" name="Rounded Rectangle 7"/>
          <p:cNvSpPr/>
          <p:nvPr/>
        </p:nvSpPr>
        <p:spPr>
          <a:xfrm>
            <a:off x="4407408" y="2395728"/>
            <a:ext cx="1234440" cy="310896"/>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8" y="2459736"/>
            <a:ext cx="1234440" cy="219456"/>
          </a:xfrm>
          <a:prstGeom prst="rect">
            <a:avLst/>
          </a:prstGeom>
          <a:noFill/>
        </p:spPr>
        <p:txBody>
          <a:bodyPr wrap="square" lIns="0" rIns="0" tIns="0" bIns="0" anchor="t">
            <a:spAutoFit/>
          </a:bodyPr>
          <a:lstStyle/>
          <a:p>
            <a:pPr algn="ctr">
              <a:spcAft>
                <a:spcPts val="600"/>
              </a:spcAft>
            </a:pPr>
            <a:r>
              <a:rPr sz="1050" b="1" i="0">
                <a:solidFill>
                  <a:srgbClr val="FFFFFF"/>
                </a:solidFill>
                <a:latin typeface="Calibri"/>
              </a:rPr>
              <a:t>Rare</a:t>
            </a:r>
          </a:p>
        </p:txBody>
      </p:sp>
      <p:sp>
        <p:nvSpPr>
          <p:cNvPr id="10" name="TextBox 9"/>
          <p:cNvSpPr txBox="1"/>
          <p:nvPr/>
        </p:nvSpPr>
        <p:spPr>
          <a:xfrm>
            <a:off x="914400" y="2880360"/>
            <a:ext cx="4754880" cy="320040"/>
          </a:xfrm>
          <a:prstGeom prst="rect">
            <a:avLst/>
          </a:prstGeom>
          <a:noFill/>
        </p:spPr>
        <p:txBody>
          <a:bodyPr wrap="square" lIns="0" rIns="0" tIns="0" bIns="0" anchor="t">
            <a:spAutoFit/>
          </a:bodyPr>
          <a:lstStyle/>
          <a:p>
            <a:pPr algn="l">
              <a:spcAft>
                <a:spcPts val="600"/>
              </a:spcAft>
            </a:pPr>
            <a:r>
              <a:rPr sz="1250" b="0" i="1">
                <a:solidFill>
                  <a:srgbClr val="6D2E46"/>
                </a:solidFill>
                <a:latin typeface="Calibri"/>
              </a:rPr>
              <a:t>Changes whose life is in the account.</a:t>
            </a:r>
          </a:p>
        </p:txBody>
      </p:sp>
      <p:sp>
        <p:nvSpPr>
          <p:cNvPr id="11" name="TextBox 10"/>
          <p:cNvSpPr txBox="1"/>
          <p:nvPr/>
        </p:nvSpPr>
        <p:spPr>
          <a:xfrm>
            <a:off x="914400" y="3364992"/>
            <a:ext cx="4754880" cy="438912"/>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  </a:t>
            </a:r>
            <a:r>
              <a:rPr sz="1250" b="0" i="0">
                <a:solidFill>
                  <a:srgbClr val="2B2126"/>
                </a:solidFill>
                <a:latin typeface="Calibri"/>
              </a:rPr>
              <a:t>Your very first account</a:t>
            </a:r>
          </a:p>
        </p:txBody>
      </p:sp>
      <p:sp>
        <p:nvSpPr>
          <p:cNvPr id="12" name="TextBox 11"/>
          <p:cNvSpPr txBox="1"/>
          <p:nvPr/>
        </p:nvSpPr>
        <p:spPr>
          <a:xfrm>
            <a:off x="914400" y="3849624"/>
            <a:ext cx="4754880" cy="438912"/>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  </a:t>
            </a:r>
            <a:r>
              <a:rPr sz="1250" b="0" i="0">
                <a:solidFill>
                  <a:srgbClr val="2B2126"/>
                </a:solidFill>
                <a:latin typeface="Calibri"/>
              </a:rPr>
              <a:t>A different persona or universe</a:t>
            </a:r>
          </a:p>
        </p:txBody>
      </p:sp>
      <p:sp>
        <p:nvSpPr>
          <p:cNvPr id="13" name="TextBox 12"/>
          <p:cNvSpPr txBox="1"/>
          <p:nvPr/>
        </p:nvSpPr>
        <p:spPr>
          <a:xfrm>
            <a:off x="914400" y="4334256"/>
            <a:ext cx="4754880" cy="438912"/>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  </a:t>
            </a:r>
            <a:r>
              <a:rPr sz="1250" b="0" i="0">
                <a:solidFill>
                  <a:srgbClr val="2B2126"/>
                </a:solidFill>
                <a:latin typeface="Calibri"/>
              </a:rPr>
              <a:t>Same address — never make a second Gmail</a:t>
            </a:r>
          </a:p>
        </p:txBody>
      </p:sp>
      <p:sp>
        <p:nvSpPr>
          <p:cNvPr id="14" name="Rounded Rectangle 13"/>
          <p:cNvSpPr/>
          <p:nvPr/>
        </p:nvSpPr>
        <p:spPr>
          <a:xfrm>
            <a:off x="6327648" y="2057400"/>
            <a:ext cx="5303520" cy="30175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331720"/>
            <a:ext cx="2743200" cy="411480"/>
          </a:xfrm>
          <a:prstGeom prst="rect">
            <a:avLst/>
          </a:prstGeom>
          <a:noFill/>
        </p:spPr>
        <p:txBody>
          <a:bodyPr wrap="square" lIns="0" rIns="0" tIns="0" bIns="0" anchor="t">
            <a:spAutoFit/>
          </a:bodyPr>
          <a:lstStyle/>
          <a:p>
            <a:pPr algn="l">
              <a:spcAft>
                <a:spcPts val="600"/>
              </a:spcAft>
            </a:pPr>
            <a:r>
              <a:rPr sz="2600" b="1" i="0">
                <a:solidFill>
                  <a:srgbClr val="5F7A61"/>
                </a:solidFill>
                <a:latin typeface="Cambria"/>
              </a:rPr>
              <a:t>/reset</a:t>
            </a:r>
          </a:p>
        </p:txBody>
      </p:sp>
      <p:sp>
        <p:nvSpPr>
          <p:cNvPr id="16" name="Rounded Rectangle 15"/>
          <p:cNvSpPr/>
          <p:nvPr/>
        </p:nvSpPr>
        <p:spPr>
          <a:xfrm>
            <a:off x="10168128" y="2395728"/>
            <a:ext cx="1234440" cy="310896"/>
          </a:xfrm>
          <a:prstGeom prst="roundRect">
            <a:avLst>
              <a:gd name="adj" fmla="val 6000"/>
            </a:avLst>
          </a:prstGeom>
          <a:solidFill>
            <a:srgbClr val="5F7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8128" y="2459736"/>
            <a:ext cx="1234440" cy="219456"/>
          </a:xfrm>
          <a:prstGeom prst="rect">
            <a:avLst/>
          </a:prstGeom>
          <a:noFill/>
        </p:spPr>
        <p:txBody>
          <a:bodyPr wrap="square" lIns="0" rIns="0" tIns="0" bIns="0" anchor="t">
            <a:spAutoFit/>
          </a:bodyPr>
          <a:lstStyle/>
          <a:p>
            <a:pPr algn="ctr">
              <a:spcAft>
                <a:spcPts val="600"/>
              </a:spcAft>
            </a:pPr>
            <a:r>
              <a:rPr sz="1050" b="1" i="0">
                <a:solidFill>
                  <a:srgbClr val="FFFFFF"/>
                </a:solidFill>
                <a:latin typeface="Calibri"/>
              </a:rPr>
              <a:t>Constant</a:t>
            </a:r>
          </a:p>
        </p:txBody>
      </p:sp>
      <p:sp>
        <p:nvSpPr>
          <p:cNvPr id="18" name="TextBox 17"/>
          <p:cNvSpPr txBox="1"/>
          <p:nvPr/>
        </p:nvSpPr>
        <p:spPr>
          <a:xfrm>
            <a:off x="6675120" y="2880360"/>
            <a:ext cx="4754880" cy="320040"/>
          </a:xfrm>
          <a:prstGeom prst="rect">
            <a:avLst/>
          </a:prstGeom>
          <a:noFill/>
        </p:spPr>
        <p:txBody>
          <a:bodyPr wrap="square" lIns="0" rIns="0" tIns="0" bIns="0" anchor="t">
            <a:spAutoFit/>
          </a:bodyPr>
          <a:lstStyle/>
          <a:p>
            <a:pPr algn="l">
              <a:spcAft>
                <a:spcPts val="600"/>
              </a:spcAft>
            </a:pPr>
            <a:r>
              <a:rPr sz="1250" b="0" i="1">
                <a:solidFill>
                  <a:srgbClr val="5F7A61"/>
                </a:solidFill>
                <a:latin typeface="Calibri"/>
              </a:rPr>
              <a:t>Puts that same life back to how it started.</a:t>
            </a:r>
          </a:p>
        </p:txBody>
      </p:sp>
      <p:sp>
        <p:nvSpPr>
          <p:cNvPr id="19" name="TextBox 18"/>
          <p:cNvSpPr txBox="1"/>
          <p:nvPr/>
        </p:nvSpPr>
        <p:spPr>
          <a:xfrm>
            <a:off x="6675120" y="3364992"/>
            <a:ext cx="4754880" cy="438912"/>
          </a:xfrm>
          <a:prstGeom prst="rect">
            <a:avLst/>
          </a:prstGeom>
          <a:noFill/>
        </p:spPr>
        <p:txBody>
          <a:bodyPr wrap="square" lIns="0" rIns="0" tIns="0" bIns="0" anchor="t">
            <a:spAutoFit/>
          </a:bodyPr>
          <a:lstStyle/>
          <a:p>
            <a:pPr algn="l">
              <a:spcAft>
                <a:spcPts val="600"/>
              </a:spcAft>
            </a:pPr>
            <a:r>
              <a:rPr sz="1250" b="1" i="0">
                <a:solidFill>
                  <a:srgbClr val="5F7A61"/>
                </a:solidFill>
                <a:latin typeface="Calibri"/>
              </a:rPr>
              <a:t>•  </a:t>
            </a:r>
            <a:r>
              <a:rPr sz="1250" b="0" i="0">
                <a:solidFill>
                  <a:srgbClr val="2B2126"/>
                </a:solidFill>
                <a:latin typeface="Calibri"/>
              </a:rPr>
              <a:t>Before every new task</a:t>
            </a:r>
          </a:p>
        </p:txBody>
      </p:sp>
      <p:sp>
        <p:nvSpPr>
          <p:cNvPr id="20" name="TextBox 19"/>
          <p:cNvSpPr txBox="1"/>
          <p:nvPr/>
        </p:nvSpPr>
        <p:spPr>
          <a:xfrm>
            <a:off x="6675120" y="3849624"/>
            <a:ext cx="4754880" cy="438912"/>
          </a:xfrm>
          <a:prstGeom prst="rect">
            <a:avLst/>
          </a:prstGeom>
          <a:noFill/>
        </p:spPr>
        <p:txBody>
          <a:bodyPr wrap="square" lIns="0" rIns="0" tIns="0" bIns="0" anchor="t">
            <a:spAutoFit/>
          </a:bodyPr>
          <a:lstStyle/>
          <a:p>
            <a:pPr algn="l">
              <a:spcAft>
                <a:spcPts val="600"/>
              </a:spcAft>
            </a:pPr>
            <a:r>
              <a:rPr sz="1250" b="1" i="0">
                <a:solidFill>
                  <a:srgbClr val="5F7A61"/>
                </a:solidFill>
                <a:latin typeface="Calibri"/>
              </a:rPr>
              <a:t>•  </a:t>
            </a:r>
            <a:r>
              <a:rPr sz="1250" b="0" i="0">
                <a:solidFill>
                  <a:srgbClr val="2B2126"/>
                </a:solidFill>
                <a:latin typeface="Calibri"/>
              </a:rPr>
              <a:t>Before each model's run</a:t>
            </a:r>
          </a:p>
        </p:txBody>
      </p:sp>
      <p:sp>
        <p:nvSpPr>
          <p:cNvPr id="21" name="TextBox 20"/>
          <p:cNvSpPr txBox="1"/>
          <p:nvPr/>
        </p:nvSpPr>
        <p:spPr>
          <a:xfrm>
            <a:off x="6675120" y="4334256"/>
            <a:ext cx="4754880" cy="438912"/>
          </a:xfrm>
          <a:prstGeom prst="rect">
            <a:avLst/>
          </a:prstGeom>
          <a:noFill/>
        </p:spPr>
        <p:txBody>
          <a:bodyPr wrap="square" lIns="0" rIns="0" tIns="0" bIns="0" anchor="t">
            <a:spAutoFit/>
          </a:bodyPr>
          <a:lstStyle/>
          <a:p>
            <a:pPr algn="l">
              <a:spcAft>
                <a:spcPts val="600"/>
              </a:spcAft>
            </a:pPr>
            <a:r>
              <a:rPr sz="1250" b="1" i="0">
                <a:solidFill>
                  <a:srgbClr val="5F7A61"/>
                </a:solidFill>
                <a:latin typeface="Calibri"/>
              </a:rPr>
              <a:t>•  </a:t>
            </a:r>
            <a:r>
              <a:rPr sz="1250" b="0" i="0">
                <a:solidFill>
                  <a:srgbClr val="2B2126"/>
                </a:solidFill>
                <a:latin typeface="Calibri"/>
              </a:rPr>
              <a:t>Before a Type 2 simplified trajectory</a:t>
            </a:r>
          </a:p>
        </p:txBody>
      </p:sp>
      <p:sp>
        <p:nvSpPr>
          <p:cNvPr id="22" name="Rounded Rectangle 21"/>
          <p:cNvSpPr/>
          <p:nvPr/>
        </p:nvSpPr>
        <p:spPr>
          <a:xfrm>
            <a:off x="566928" y="5285232"/>
            <a:ext cx="11064240" cy="77724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477256"/>
            <a:ext cx="10424160" cy="41148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Reset before a run, never after one.  </a:t>
            </a:r>
            <a:r>
              <a:rPr sz="1300" b="0" i="0">
                <a:solidFill>
                  <a:srgbClr val="2B2126"/>
                </a:solidFill>
                <a:latin typeface="Calibri"/>
              </a:rPr>
              <a:t>Everything the model produced is evidence you still need — files to upload, drafts to check, events to verify while grading.</a:t>
            </a:r>
          </a:p>
        </p:txBody>
      </p:sp>
      <p:sp>
        <p:nvSpPr>
          <p:cNvPr id="24" name="TextBox 2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synthetic-account-hydration.outlier.ai/setup   ·   /reset</a:t>
            </a:r>
          </a:p>
        </p:txBody>
      </p:sp>
      <p:sp>
        <p:nvSpPr>
          <p:cNvPr id="25" name="TextBox 2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PHASE 0  ·  STEP BY STEP</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Getting set up — do these once, in this order</a:t>
            </a:r>
          </a:p>
        </p:txBody>
      </p:sp>
      <p:sp>
        <p:nvSpPr>
          <p:cNvPr id="5" name="TextBox 4"/>
          <p:cNvSpPr txBox="1"/>
          <p:nvPr/>
        </p:nvSpPr>
        <p:spPr>
          <a:xfrm>
            <a:off x="566928" y="1444752"/>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About ten minutes, most of it waiting. Steps 2–6 repeat each time you are moved to a new persona or universe — same Gmail address, new selection in the dropdown.</a:t>
            </a:r>
          </a:p>
        </p:txBody>
      </p:sp>
      <p:sp>
        <p:nvSpPr>
          <p:cNvPr id="6" name="Oval 5"/>
          <p:cNvSpPr/>
          <p:nvPr/>
        </p:nvSpPr>
        <p:spPr>
          <a:xfrm>
            <a:off x="566928" y="193852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a:t>
            </a:r>
          </a:p>
        </p:txBody>
      </p:sp>
      <p:sp>
        <p:nvSpPr>
          <p:cNvPr id="7" name="TextBox 6"/>
          <p:cNvSpPr txBox="1"/>
          <p:nvPr/>
        </p:nvSpPr>
        <p:spPr>
          <a:xfrm>
            <a:off x="1097280" y="1952244"/>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Claim your Gemini demo account</a:t>
            </a:r>
          </a:p>
        </p:txBody>
      </p:sp>
      <p:sp>
        <p:nvSpPr>
          <p:cNvPr id="8" name="TextBox 7"/>
          <p:cNvSpPr txBox="1"/>
          <p:nvPr/>
        </p:nvSpPr>
        <p:spPr>
          <a:xfrm>
            <a:off x="1097280" y="2199132"/>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app.outlier.ai/demo-account-claim — this is the account you run the models in, and the one your login and model-selector screenshots must show.</a:t>
            </a:r>
          </a:p>
        </p:txBody>
      </p:sp>
      <p:sp>
        <p:nvSpPr>
          <p:cNvPr id="9" name="Oval 8"/>
          <p:cNvSpPr/>
          <p:nvPr/>
        </p:nvSpPr>
        <p:spPr>
          <a:xfrm>
            <a:off x="566928" y="2615184"/>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2</a:t>
            </a:r>
          </a:p>
        </p:txBody>
      </p:sp>
      <p:sp>
        <p:nvSpPr>
          <p:cNvPr id="10" name="TextBox 9"/>
          <p:cNvSpPr txBox="1"/>
          <p:nvPr/>
        </p:nvSpPr>
        <p:spPr>
          <a:xfrm>
            <a:off x="1097280" y="2628900"/>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Create the Gmail address — once</a:t>
            </a:r>
          </a:p>
        </p:txBody>
      </p:sp>
      <p:sp>
        <p:nvSpPr>
          <p:cNvPr id="11" name="TextBox 10"/>
          <p:cNvSpPr txBox="1"/>
          <p:nvPr/>
        </p:nvSpPr>
        <p:spPr>
          <a:xfrm>
            <a:off x="1097280" y="2875788"/>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PersonaFirstName.YourConvention@gmail.com. Never a personal account. Ask your QM which universe to hydrate before you start.</a:t>
            </a:r>
          </a:p>
        </p:txBody>
      </p:sp>
      <p:sp>
        <p:nvSpPr>
          <p:cNvPr id="12" name="Oval 11"/>
          <p:cNvSpPr/>
          <p:nvPr/>
        </p:nvSpPr>
        <p:spPr>
          <a:xfrm>
            <a:off x="566928" y="3291840"/>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3</a:t>
            </a:r>
          </a:p>
        </p:txBody>
      </p:sp>
      <p:sp>
        <p:nvSpPr>
          <p:cNvPr id="13" name="TextBox 12"/>
          <p:cNvSpPr txBox="1"/>
          <p:nvPr/>
        </p:nvSpPr>
        <p:spPr>
          <a:xfrm>
            <a:off x="1097280" y="3305556"/>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Open /setup and enter your details</a:t>
            </a:r>
          </a:p>
        </p:txBody>
      </p:sp>
      <p:sp>
        <p:nvSpPr>
          <p:cNvPr id="14" name="TextBox 13"/>
          <p:cNvSpPr txBox="1"/>
          <p:nvPr/>
        </p:nvSpPr>
        <p:spPr>
          <a:xfrm>
            <a:off x="1097280" y="3552444"/>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Pick your universe from the Task workspace dropdown, type the exact address, and click Continue with Google. Be signed in to outlier.ai first.</a:t>
            </a:r>
          </a:p>
        </p:txBody>
      </p:sp>
      <p:sp>
        <p:nvSpPr>
          <p:cNvPr id="15" name="Oval 14"/>
          <p:cNvSpPr/>
          <p:nvPr/>
        </p:nvSpPr>
        <p:spPr>
          <a:xfrm>
            <a:off x="566928" y="3968496"/>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4</a:t>
            </a:r>
          </a:p>
        </p:txBody>
      </p:sp>
      <p:sp>
        <p:nvSpPr>
          <p:cNvPr id="16" name="TextBox 15"/>
          <p:cNvSpPr txBox="1"/>
          <p:nvPr/>
        </p:nvSpPr>
        <p:spPr>
          <a:xfrm>
            <a:off x="1097280" y="3982211"/>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Click through the “hasn’t verified this app” warning</a:t>
            </a:r>
          </a:p>
        </p:txBody>
      </p:sp>
      <p:sp>
        <p:nvSpPr>
          <p:cNvPr id="17" name="TextBox 16"/>
          <p:cNvSpPr txBox="1"/>
          <p:nvPr/>
        </p:nvSpPr>
        <p:spPr>
          <a:xfrm>
            <a:off x="1097280" y="4229100"/>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Expected — the hydrator is an internal tool. Advanced (small, grey, bottom-left) → Go to outlier.ai (unsafe). Some accounts skip this screen.</a:t>
            </a:r>
          </a:p>
        </p:txBody>
      </p:sp>
      <p:sp>
        <p:nvSpPr>
          <p:cNvPr id="18" name="Oval 17"/>
          <p:cNvSpPr/>
          <p:nvPr/>
        </p:nvSpPr>
        <p:spPr>
          <a:xfrm>
            <a:off x="566928" y="4645152"/>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5</a:t>
            </a:r>
          </a:p>
        </p:txBody>
      </p:sp>
      <p:sp>
        <p:nvSpPr>
          <p:cNvPr id="19" name="TextBox 18"/>
          <p:cNvSpPr txBox="1"/>
          <p:nvPr/>
        </p:nvSpPr>
        <p:spPr>
          <a:xfrm>
            <a:off x="1097280" y="4658868"/>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Grant all three permissions</a:t>
            </a:r>
          </a:p>
        </p:txBody>
      </p:sp>
      <p:sp>
        <p:nvSpPr>
          <p:cNvPr id="20" name="TextBox 19"/>
          <p:cNvSpPr txBox="1"/>
          <p:nvPr/>
        </p:nvSpPr>
        <p:spPr>
          <a:xfrm>
            <a:off x="1097280" y="4905756"/>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Tick Select all. Gmail, Drive and Calendar. Partial permissions hydrate mail but no Drive, which looks fine at a glance and is painful to diagnose.</a:t>
            </a:r>
          </a:p>
        </p:txBody>
      </p:sp>
      <p:sp>
        <p:nvSpPr>
          <p:cNvPr id="21" name="Oval 20"/>
          <p:cNvSpPr/>
          <p:nvPr/>
        </p:nvSpPr>
        <p:spPr>
          <a:xfrm>
            <a:off x="566928" y="532180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6</a:t>
            </a:r>
          </a:p>
        </p:txBody>
      </p:sp>
      <p:sp>
        <p:nvSpPr>
          <p:cNvPr id="22" name="TextBox 21"/>
          <p:cNvSpPr txBox="1"/>
          <p:nvPr/>
        </p:nvSpPr>
        <p:spPr>
          <a:xfrm>
            <a:off x="1097280" y="5335524"/>
            <a:ext cx="10533888" cy="237744"/>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Wait for hydration to finish — up to five minutes</a:t>
            </a:r>
          </a:p>
        </p:txBody>
      </p:sp>
      <p:sp>
        <p:nvSpPr>
          <p:cNvPr id="23" name="TextBox 22"/>
          <p:cNvSpPr txBox="1"/>
          <p:nvPr/>
        </p:nvSpPr>
        <p:spPr>
          <a:xfrm>
            <a:off x="1097280" y="5582412"/>
            <a:ext cx="10533888" cy="457200"/>
          </a:xfrm>
          <a:prstGeom prst="rect">
            <a:avLst/>
          </a:prstGeom>
          <a:noFill/>
        </p:spPr>
        <p:txBody>
          <a:bodyPr wrap="square" lIns="0" rIns="0" tIns="0" bIns="0" anchor="t">
            <a:spAutoFit/>
          </a:bodyPr>
          <a:lstStyle/>
          <a:p>
            <a:pPr algn="l">
              <a:lnSpc>
                <a:spcPct val="95000"/>
              </a:lnSpc>
              <a:spcAft>
                <a:spcPts val="600"/>
              </a:spcAft>
            </a:pPr>
            <a:r>
              <a:rPr sz="1150" b="0" i="0">
                <a:solidFill>
                  <a:srgbClr val="6B6064"/>
                </a:solidFill>
                <a:latin typeface="Calibri"/>
              </a:rPr>
              <a:t>Watch the new inbox fill in another tab. Do not start a task until the account genuinely looks lived-in.</a:t>
            </a:r>
          </a:p>
        </p:txBody>
      </p:sp>
      <p:sp>
        <p:nvSpPr>
          <p:cNvPr id="24" name="TextBox 2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The hydrator never asks for your Google password — if any Outlier page does, stop and raise it in the War Room.</a:t>
            </a:r>
          </a:p>
        </p:txBody>
      </p:sp>
      <p:sp>
        <p:nvSpPr>
          <p:cNvPr id="25" name="TextBox 2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PHASE 0  ·  DISCIPLINE</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When to reset — and when not to</a:t>
            </a:r>
          </a:p>
        </p:txBody>
      </p:sp>
      <p:sp>
        <p:nvSpPr>
          <p:cNvPr id="5" name="Rounded Rectangle 4"/>
          <p:cNvSpPr/>
          <p:nvPr/>
        </p:nvSpPr>
        <p:spPr>
          <a:xfrm>
            <a:off x="566928" y="1572768"/>
            <a:ext cx="5303520" cy="25146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810512"/>
            <a:ext cx="4937760" cy="320040"/>
          </a:xfrm>
          <a:prstGeom prst="rect">
            <a:avLst/>
          </a:prstGeom>
          <a:noFill/>
        </p:spPr>
        <p:txBody>
          <a:bodyPr wrap="square" lIns="0" rIns="0" tIns="0" bIns="0" anchor="t">
            <a:spAutoFit/>
          </a:bodyPr>
          <a:lstStyle/>
          <a:p>
            <a:pPr algn="l">
              <a:spcAft>
                <a:spcPts val="600"/>
              </a:spcAft>
            </a:pPr>
            <a:r>
              <a:rPr sz="1500" b="1" i="0">
                <a:solidFill>
                  <a:srgbClr val="5F7A61"/>
                </a:solidFill>
                <a:latin typeface="Calibri"/>
              </a:rPr>
              <a:t>RESET</a:t>
            </a:r>
          </a:p>
        </p:txBody>
      </p:sp>
      <p:sp>
        <p:nvSpPr>
          <p:cNvPr id="7" name="TextBox 6"/>
          <p:cNvSpPr txBox="1"/>
          <p:nvPr/>
        </p:nvSpPr>
        <p:spPr>
          <a:xfrm>
            <a:off x="886968" y="2267712"/>
            <a:ext cx="4937760" cy="384048"/>
          </a:xfrm>
          <a:prstGeom prst="rect">
            <a:avLst/>
          </a:prstGeom>
          <a:noFill/>
        </p:spPr>
        <p:txBody>
          <a:bodyPr wrap="square" lIns="0" rIns="0" tIns="0" bIns="0" anchor="t">
            <a:spAutoFit/>
          </a:bodyPr>
          <a:lstStyle/>
          <a:p>
            <a:pPr algn="l">
              <a:spcAft>
                <a:spcPts val="600"/>
              </a:spcAft>
            </a:pPr>
            <a:r>
              <a:rPr sz="1400" b="1" i="0">
                <a:solidFill>
                  <a:srgbClr val="5F7A61"/>
                </a:solidFill>
                <a:latin typeface="Calibri"/>
              </a:rPr>
              <a:t>✓  </a:t>
            </a:r>
            <a:r>
              <a:rPr sz="1250" b="0" i="0">
                <a:solidFill>
                  <a:srgbClr val="2B2126"/>
                </a:solidFill>
                <a:latin typeface="Calibri"/>
              </a:rPr>
              <a:t>Before starting a new task</a:t>
            </a:r>
          </a:p>
        </p:txBody>
      </p:sp>
      <p:sp>
        <p:nvSpPr>
          <p:cNvPr id="8" name="TextBox 7"/>
          <p:cNvSpPr txBox="1"/>
          <p:nvPr/>
        </p:nvSpPr>
        <p:spPr>
          <a:xfrm>
            <a:off x="886968" y="2724912"/>
            <a:ext cx="4937760" cy="384048"/>
          </a:xfrm>
          <a:prstGeom prst="rect">
            <a:avLst/>
          </a:prstGeom>
          <a:noFill/>
        </p:spPr>
        <p:txBody>
          <a:bodyPr wrap="square" lIns="0" rIns="0" tIns="0" bIns="0" anchor="t">
            <a:spAutoFit/>
          </a:bodyPr>
          <a:lstStyle/>
          <a:p>
            <a:pPr algn="l">
              <a:spcAft>
                <a:spcPts val="600"/>
              </a:spcAft>
            </a:pPr>
            <a:r>
              <a:rPr sz="1400" b="1" i="0">
                <a:solidFill>
                  <a:srgbClr val="5F7A61"/>
                </a:solidFill>
                <a:latin typeface="Calibri"/>
              </a:rPr>
              <a:t>✓  </a:t>
            </a:r>
            <a:r>
              <a:rPr sz="1250" b="0" i="0">
                <a:solidFill>
                  <a:srgbClr val="2B2126"/>
                </a:solidFill>
                <a:latin typeface="Calibri"/>
              </a:rPr>
              <a:t>Before the first model's run</a:t>
            </a:r>
          </a:p>
        </p:txBody>
      </p:sp>
      <p:sp>
        <p:nvSpPr>
          <p:cNvPr id="9" name="TextBox 8"/>
          <p:cNvSpPr txBox="1"/>
          <p:nvPr/>
        </p:nvSpPr>
        <p:spPr>
          <a:xfrm>
            <a:off x="886968" y="3182112"/>
            <a:ext cx="4937760" cy="384048"/>
          </a:xfrm>
          <a:prstGeom prst="rect">
            <a:avLst/>
          </a:prstGeom>
          <a:noFill/>
        </p:spPr>
        <p:txBody>
          <a:bodyPr wrap="square" lIns="0" rIns="0" tIns="0" bIns="0" anchor="t">
            <a:spAutoFit/>
          </a:bodyPr>
          <a:lstStyle/>
          <a:p>
            <a:pPr algn="l">
              <a:spcAft>
                <a:spcPts val="600"/>
              </a:spcAft>
            </a:pPr>
            <a:r>
              <a:rPr sz="1400" b="1" i="0">
                <a:solidFill>
                  <a:srgbClr val="5F7A61"/>
                </a:solidFill>
                <a:latin typeface="Calibri"/>
              </a:rPr>
              <a:t>✓  </a:t>
            </a:r>
            <a:r>
              <a:rPr sz="1250" b="0" i="0">
                <a:solidFill>
                  <a:srgbClr val="2B2126"/>
                </a:solidFill>
                <a:latin typeface="Calibri"/>
              </a:rPr>
              <a:t>Before the second model's run</a:t>
            </a:r>
          </a:p>
        </p:txBody>
      </p:sp>
      <p:sp>
        <p:nvSpPr>
          <p:cNvPr id="10" name="TextBox 9"/>
          <p:cNvSpPr txBox="1"/>
          <p:nvPr/>
        </p:nvSpPr>
        <p:spPr>
          <a:xfrm>
            <a:off x="886968" y="3639312"/>
            <a:ext cx="4937760" cy="384048"/>
          </a:xfrm>
          <a:prstGeom prst="rect">
            <a:avLst/>
          </a:prstGeom>
          <a:noFill/>
        </p:spPr>
        <p:txBody>
          <a:bodyPr wrap="square" lIns="0" rIns="0" tIns="0" bIns="0" anchor="t">
            <a:spAutoFit/>
          </a:bodyPr>
          <a:lstStyle/>
          <a:p>
            <a:pPr algn="l">
              <a:spcAft>
                <a:spcPts val="600"/>
              </a:spcAft>
            </a:pPr>
            <a:r>
              <a:rPr sz="1400" b="1" i="0">
                <a:solidFill>
                  <a:srgbClr val="5F7A61"/>
                </a:solidFill>
                <a:latin typeface="Calibri"/>
              </a:rPr>
              <a:t>✓  </a:t>
            </a:r>
            <a:r>
              <a:rPr sz="1250" b="0" i="0">
                <a:solidFill>
                  <a:srgbClr val="2B2126"/>
                </a:solidFill>
                <a:latin typeface="Calibri"/>
              </a:rPr>
              <a:t>Before a Type 2 simplified trajectory</a:t>
            </a:r>
          </a:p>
        </p:txBody>
      </p:sp>
      <p:sp>
        <p:nvSpPr>
          <p:cNvPr id="11" name="Rounded Rectangle 10"/>
          <p:cNvSpPr/>
          <p:nvPr/>
        </p:nvSpPr>
        <p:spPr>
          <a:xfrm>
            <a:off x="6327648" y="1572768"/>
            <a:ext cx="5303520" cy="25146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7688" y="1810512"/>
            <a:ext cx="4663440" cy="320040"/>
          </a:xfrm>
          <a:prstGeom prst="rect">
            <a:avLst/>
          </a:prstGeom>
          <a:noFill/>
        </p:spPr>
        <p:txBody>
          <a:bodyPr wrap="square" lIns="0" rIns="0" tIns="0" bIns="0" anchor="t">
            <a:spAutoFit/>
          </a:bodyPr>
          <a:lstStyle/>
          <a:p>
            <a:pPr algn="l">
              <a:spcAft>
                <a:spcPts val="600"/>
              </a:spcAft>
            </a:pPr>
            <a:r>
              <a:rPr sz="1500" b="1" i="0">
                <a:solidFill>
                  <a:srgbClr val="6D2E46"/>
                </a:solidFill>
                <a:latin typeface="Calibri"/>
              </a:rPr>
              <a:t>DO NOT RESET</a:t>
            </a:r>
          </a:p>
        </p:txBody>
      </p:sp>
      <p:sp>
        <p:nvSpPr>
          <p:cNvPr id="13" name="TextBox 12"/>
          <p:cNvSpPr txBox="1"/>
          <p:nvPr/>
        </p:nvSpPr>
        <p:spPr>
          <a:xfrm>
            <a:off x="6647688" y="2267712"/>
            <a:ext cx="4663440" cy="384048"/>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  </a:t>
            </a:r>
            <a:r>
              <a:rPr sz="1250" b="0" i="0">
                <a:solidFill>
                  <a:srgbClr val="2B2126"/>
                </a:solidFill>
                <a:latin typeface="Calibri"/>
              </a:rPr>
              <a:t>Midway through a run</a:t>
            </a:r>
          </a:p>
        </p:txBody>
      </p:sp>
      <p:sp>
        <p:nvSpPr>
          <p:cNvPr id="14" name="TextBox 13"/>
          <p:cNvSpPr txBox="1"/>
          <p:nvPr/>
        </p:nvSpPr>
        <p:spPr>
          <a:xfrm>
            <a:off x="6647688" y="2724912"/>
            <a:ext cx="4663440" cy="384048"/>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  </a:t>
            </a:r>
            <a:r>
              <a:rPr sz="1250" b="0" i="0">
                <a:solidFill>
                  <a:srgbClr val="2B2126"/>
                </a:solidFill>
                <a:latin typeface="Calibri"/>
              </a:rPr>
              <a:t>After a run, before uploading files</a:t>
            </a:r>
          </a:p>
        </p:txBody>
      </p:sp>
      <p:sp>
        <p:nvSpPr>
          <p:cNvPr id="15" name="TextBox 14"/>
          <p:cNvSpPr txBox="1"/>
          <p:nvPr/>
        </p:nvSpPr>
        <p:spPr>
          <a:xfrm>
            <a:off x="6647688" y="3182112"/>
            <a:ext cx="4663440" cy="384048"/>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  </a:t>
            </a:r>
            <a:r>
              <a:rPr sz="1250" b="0" i="0">
                <a:solidFill>
                  <a:srgbClr val="2B2126"/>
                </a:solidFill>
                <a:latin typeface="Calibri"/>
              </a:rPr>
              <a:t>Moving to a new persona — use /setup instead</a:t>
            </a:r>
          </a:p>
        </p:txBody>
      </p:sp>
      <p:sp>
        <p:nvSpPr>
          <p:cNvPr id="16" name="Rounded Rectangle 15"/>
          <p:cNvSpPr/>
          <p:nvPr/>
        </p:nvSpPr>
        <p:spPr>
          <a:xfrm>
            <a:off x="566928" y="4279392"/>
            <a:ext cx="11064240" cy="105156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498848"/>
            <a:ext cx="10424160" cy="64008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Why the second reset matters most.  </a:t>
            </a:r>
            <a:r>
              <a:rPr sz="1250" b="0" i="0">
                <a:solidFill>
                  <a:srgbClr val="2B2126"/>
                </a:solidFill>
                <a:latin typeface="Calibri"/>
              </a:rPr>
              <a:t>Models take real actions — they create events, save files and leave drafts, and those persist. Run a second model without resetting and it starts in a world the first one rearranged. The two runs then measure different environments and the comparison is worthless.</a:t>
            </a:r>
          </a:p>
        </p:txBody>
      </p:sp>
      <p:sp>
        <p:nvSpPr>
          <p:cNvPr id="18" name="TextBox 17"/>
          <p:cNvSpPr txBox="1"/>
          <p:nvPr/>
        </p:nvSpPr>
        <p:spPr>
          <a:xfrm>
            <a:off x="566928" y="5577840"/>
            <a:ext cx="11064240" cy="457200"/>
          </a:xfrm>
          <a:prstGeom prst="rect">
            <a:avLst/>
          </a:prstGeom>
          <a:noFill/>
        </p:spPr>
        <p:txBody>
          <a:bodyPr wrap="square" lIns="0" rIns="0" tIns="0" bIns="0" anchor="t">
            <a:spAutoFit/>
          </a:bodyPr>
          <a:lstStyle/>
          <a:p>
            <a:pPr algn="l">
              <a:spcAft>
                <a:spcPts val="600"/>
              </a:spcAft>
            </a:pPr>
            <a:r>
              <a:rPr sz="1250" b="1" i="0">
                <a:solidFill>
                  <a:srgbClr val="5F7A61"/>
                </a:solidFill>
                <a:latin typeface="Calibri"/>
              </a:rPr>
              <a:t>Wait for the green “Your workspace is restored” before you open a chat. </a:t>
            </a:r>
            <a:r>
              <a:rPr sz="1250" b="0" i="0">
                <a:solidFill>
                  <a:srgbClr val="6B6064"/>
                </a:solidFill>
                <a:latin typeface="Calibri"/>
              </a:rPr>
              <a:t>During busy periods you may queue for a while — starting early means running against a half-reset environment.</a:t>
            </a:r>
          </a:p>
        </p:txBody>
      </p:sp>
      <p:sp>
        <p:nvSpPr>
          <p:cNvPr id="19" name="TextBox 18"/>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0" name="TextBox 19"/>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PROMPT AND RUBRICS</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First question: which task type do you have?</a:t>
            </a:r>
          </a:p>
        </p:txBody>
      </p:sp>
      <p:sp>
        <p:nvSpPr>
          <p:cNvPr id="5" name="TextBox 4"/>
          <p:cNvSpPr txBox="1"/>
          <p:nvPr/>
        </p:nvSpPr>
        <p:spPr>
          <a:xfrm>
            <a:off x="566928" y="1463040"/>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Open the Opening Prompt step. If the prompt and target deliverables are already filled in, you have Type 1. If they are empty and waiting for you, you have Type 2.</a:t>
            </a:r>
          </a:p>
        </p:txBody>
      </p:sp>
      <p:sp>
        <p:nvSpPr>
          <p:cNvPr id="6" name="Rounded Rectangle 5"/>
          <p:cNvSpPr/>
          <p:nvPr/>
        </p:nvSpPr>
        <p:spPr>
          <a:xfrm>
            <a:off x="566928" y="2011680"/>
            <a:ext cx="11064240" cy="420624"/>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30552"/>
            <a:ext cx="3200400" cy="237744"/>
          </a:xfrm>
          <a:prstGeom prst="rect">
            <a:avLst/>
          </a:prstGeom>
          <a:noFill/>
        </p:spPr>
        <p:txBody>
          <a:bodyPr wrap="square" lIns="0" rIns="0" tIns="0" bIns="0" anchor="t">
            <a:spAutoFit/>
          </a:bodyPr>
          <a:lstStyle/>
          <a:p>
            <a:pPr algn="l">
              <a:spcAft>
                <a:spcPts val="600"/>
              </a:spcAft>
            </a:pPr>
            <a:r>
              <a:rPr sz="1100" b="1" i="0">
                <a:solidFill>
                  <a:srgbClr val="FFFFFF"/>
                </a:solidFill>
                <a:latin typeface="Calibri"/>
              </a:rPr>
              <a:t>FIELD</a:t>
            </a:r>
          </a:p>
        </p:txBody>
      </p:sp>
      <p:sp>
        <p:nvSpPr>
          <p:cNvPr id="8" name="TextBox 7"/>
          <p:cNvSpPr txBox="1"/>
          <p:nvPr/>
        </p:nvSpPr>
        <p:spPr>
          <a:xfrm>
            <a:off x="4361688" y="2130552"/>
            <a:ext cx="3566160" cy="237744"/>
          </a:xfrm>
          <a:prstGeom prst="rect">
            <a:avLst/>
          </a:prstGeom>
          <a:noFill/>
        </p:spPr>
        <p:txBody>
          <a:bodyPr wrap="square" lIns="0" rIns="0" tIns="0" bIns="0" anchor="t">
            <a:spAutoFit/>
          </a:bodyPr>
          <a:lstStyle/>
          <a:p>
            <a:pPr algn="l">
              <a:spcAft>
                <a:spcPts val="600"/>
              </a:spcAft>
            </a:pPr>
            <a:r>
              <a:rPr sz="1100" b="1" i="0">
                <a:solidFill>
                  <a:srgbClr val="FFFFFF"/>
                </a:solidFill>
                <a:latin typeface="Calibri"/>
              </a:rPr>
              <a:t>TYPE 1 · SEEDED</a:t>
            </a:r>
          </a:p>
        </p:txBody>
      </p:sp>
      <p:sp>
        <p:nvSpPr>
          <p:cNvPr id="9" name="TextBox 8"/>
          <p:cNvSpPr txBox="1"/>
          <p:nvPr/>
        </p:nvSpPr>
        <p:spPr>
          <a:xfrm>
            <a:off x="8110727" y="2130552"/>
            <a:ext cx="3566160" cy="237744"/>
          </a:xfrm>
          <a:prstGeom prst="rect">
            <a:avLst/>
          </a:prstGeom>
          <a:noFill/>
        </p:spPr>
        <p:txBody>
          <a:bodyPr wrap="square" lIns="0" rIns="0" tIns="0" bIns="0" anchor="t">
            <a:spAutoFit/>
          </a:bodyPr>
          <a:lstStyle/>
          <a:p>
            <a:pPr algn="l">
              <a:spcAft>
                <a:spcPts val="600"/>
              </a:spcAft>
            </a:pPr>
            <a:r>
              <a:rPr sz="1100" b="1" i="0">
                <a:solidFill>
                  <a:srgbClr val="FFFFFF"/>
                </a:solidFill>
                <a:latin typeface="Calibri"/>
              </a:rPr>
              <a:t>TYPE 2 · FROM SCRATCH</a:t>
            </a:r>
          </a:p>
        </p:txBody>
      </p:sp>
      <p:sp>
        <p:nvSpPr>
          <p:cNvPr id="10" name="Rectangle 9"/>
          <p:cNvSpPr/>
          <p:nvPr/>
        </p:nvSpPr>
        <p:spPr>
          <a:xfrm>
            <a:off x="566928" y="2432304"/>
            <a:ext cx="11064240" cy="402336"/>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532888"/>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Opening prompt</a:t>
            </a:r>
          </a:p>
        </p:txBody>
      </p:sp>
      <p:sp>
        <p:nvSpPr>
          <p:cNvPr id="12" name="TextBox 11"/>
          <p:cNvSpPr txBox="1"/>
          <p:nvPr/>
        </p:nvSpPr>
        <p:spPr>
          <a:xfrm>
            <a:off x="4361688" y="2532888"/>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Pre-filled — you review it</a:t>
            </a:r>
          </a:p>
        </p:txBody>
      </p:sp>
      <p:sp>
        <p:nvSpPr>
          <p:cNvPr id="13" name="TextBox 12"/>
          <p:cNvSpPr txBox="1"/>
          <p:nvPr/>
        </p:nvSpPr>
        <p:spPr>
          <a:xfrm>
            <a:off x="8110727" y="2532888"/>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You write it</a:t>
            </a:r>
          </a:p>
        </p:txBody>
      </p:sp>
      <p:sp>
        <p:nvSpPr>
          <p:cNvPr id="14" name="TextBox 13"/>
          <p:cNvSpPr txBox="1"/>
          <p:nvPr/>
        </p:nvSpPr>
        <p:spPr>
          <a:xfrm>
            <a:off x="886968" y="2935224"/>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User goal</a:t>
            </a:r>
          </a:p>
        </p:txBody>
      </p:sp>
      <p:sp>
        <p:nvSpPr>
          <p:cNvPr id="15" name="TextBox 14"/>
          <p:cNvSpPr txBox="1"/>
          <p:nvPr/>
        </p:nvSpPr>
        <p:spPr>
          <a:xfrm>
            <a:off x="4361688" y="2935224"/>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Given to you</a:t>
            </a:r>
          </a:p>
        </p:txBody>
      </p:sp>
      <p:sp>
        <p:nvSpPr>
          <p:cNvPr id="16" name="TextBox 15"/>
          <p:cNvSpPr txBox="1"/>
          <p:nvPr/>
        </p:nvSpPr>
        <p:spPr>
          <a:xfrm>
            <a:off x="8110727" y="2935224"/>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Does not exist</a:t>
            </a:r>
          </a:p>
        </p:txBody>
      </p:sp>
      <p:sp>
        <p:nvSpPr>
          <p:cNvPr id="17" name="Rectangle 16"/>
          <p:cNvSpPr/>
          <p:nvPr/>
        </p:nvSpPr>
        <p:spPr>
          <a:xfrm>
            <a:off x="566928" y="3236976"/>
            <a:ext cx="11064240" cy="402336"/>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337560"/>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Target deliverables</a:t>
            </a:r>
          </a:p>
        </p:txBody>
      </p:sp>
      <p:sp>
        <p:nvSpPr>
          <p:cNvPr id="19" name="TextBox 18"/>
          <p:cNvSpPr txBox="1"/>
          <p:nvPr/>
        </p:nvSpPr>
        <p:spPr>
          <a:xfrm>
            <a:off x="4361688" y="3337560"/>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Pre-filled — you sharpen</a:t>
            </a:r>
          </a:p>
        </p:txBody>
      </p:sp>
      <p:sp>
        <p:nvSpPr>
          <p:cNvPr id="20" name="TextBox 19"/>
          <p:cNvSpPr txBox="1"/>
          <p:nvPr/>
        </p:nvSpPr>
        <p:spPr>
          <a:xfrm>
            <a:off x="8110727" y="3337560"/>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You write them</a:t>
            </a:r>
          </a:p>
        </p:txBody>
      </p:sp>
      <p:sp>
        <p:nvSpPr>
          <p:cNvPr id="21" name="TextBox 20"/>
          <p:cNvSpPr txBox="1"/>
          <p:nvPr/>
        </p:nvSpPr>
        <p:spPr>
          <a:xfrm>
            <a:off x="886968" y="3739896"/>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Simplified trajectory</a:t>
            </a:r>
          </a:p>
        </p:txBody>
      </p:sp>
      <p:sp>
        <p:nvSpPr>
          <p:cNvPr id="22" name="TextBox 21"/>
          <p:cNvSpPr txBox="1"/>
          <p:nvPr/>
        </p:nvSpPr>
        <p:spPr>
          <a:xfrm>
            <a:off x="4361688" y="3739896"/>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Not required</a:t>
            </a:r>
          </a:p>
        </p:txBody>
      </p:sp>
      <p:sp>
        <p:nvSpPr>
          <p:cNvPr id="23" name="TextBox 22"/>
          <p:cNvSpPr txBox="1"/>
          <p:nvPr/>
        </p:nvSpPr>
        <p:spPr>
          <a:xfrm>
            <a:off x="8110727" y="3739896"/>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Required · 1–3 turns</a:t>
            </a:r>
          </a:p>
        </p:txBody>
      </p:sp>
      <p:sp>
        <p:nvSpPr>
          <p:cNvPr id="24" name="Rectangle 23"/>
          <p:cNvSpPr/>
          <p:nvPr/>
        </p:nvSpPr>
        <p:spPr>
          <a:xfrm>
            <a:off x="566928" y="4041648"/>
            <a:ext cx="11064240" cy="402336"/>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4142232"/>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40% complexity gate</a:t>
            </a:r>
          </a:p>
        </p:txBody>
      </p:sp>
      <p:sp>
        <p:nvSpPr>
          <p:cNvPr id="26" name="TextBox 25"/>
          <p:cNvSpPr txBox="1"/>
          <p:nvPr/>
        </p:nvSpPr>
        <p:spPr>
          <a:xfrm>
            <a:off x="4361688" y="4142232"/>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Not required</a:t>
            </a:r>
          </a:p>
        </p:txBody>
      </p:sp>
      <p:sp>
        <p:nvSpPr>
          <p:cNvPr id="27" name="TextBox 26"/>
          <p:cNvSpPr txBox="1"/>
          <p:nvPr/>
        </p:nvSpPr>
        <p:spPr>
          <a:xfrm>
            <a:off x="8110727" y="4142232"/>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Required</a:t>
            </a:r>
          </a:p>
        </p:txBody>
      </p:sp>
      <p:sp>
        <p:nvSpPr>
          <p:cNvPr id="28" name="TextBox 27"/>
          <p:cNvSpPr txBox="1"/>
          <p:nvPr/>
        </p:nvSpPr>
        <p:spPr>
          <a:xfrm>
            <a:off x="886968" y="4544568"/>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Known / Not Known</a:t>
            </a:r>
          </a:p>
        </p:txBody>
      </p:sp>
      <p:sp>
        <p:nvSpPr>
          <p:cNvPr id="29" name="TextBox 28"/>
          <p:cNvSpPr txBox="1"/>
          <p:nvPr/>
        </p:nvSpPr>
        <p:spPr>
          <a:xfrm>
            <a:off x="4361688" y="4544568"/>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Not required</a:t>
            </a:r>
          </a:p>
        </p:txBody>
      </p:sp>
      <p:sp>
        <p:nvSpPr>
          <p:cNvPr id="30" name="TextBox 29"/>
          <p:cNvSpPr txBox="1"/>
          <p:nvPr/>
        </p:nvSpPr>
        <p:spPr>
          <a:xfrm>
            <a:off x="8110727" y="4544568"/>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You write it</a:t>
            </a:r>
          </a:p>
        </p:txBody>
      </p:sp>
      <p:sp>
        <p:nvSpPr>
          <p:cNvPr id="31" name="Rectangle 30"/>
          <p:cNvSpPr/>
          <p:nvPr/>
        </p:nvSpPr>
        <p:spPr>
          <a:xfrm>
            <a:off x="566928" y="4846320"/>
            <a:ext cx="11064240" cy="402336"/>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946904"/>
            <a:ext cx="3291840" cy="256032"/>
          </a:xfrm>
          <a:prstGeom prst="rect">
            <a:avLst/>
          </a:prstGeom>
          <a:noFill/>
        </p:spPr>
        <p:txBody>
          <a:bodyPr wrap="square" lIns="0" rIns="0" tIns="0" bIns="0" anchor="t">
            <a:spAutoFit/>
          </a:bodyPr>
          <a:lstStyle/>
          <a:p>
            <a:pPr algn="l">
              <a:spcAft>
                <a:spcPts val="600"/>
              </a:spcAft>
            </a:pPr>
            <a:r>
              <a:rPr sz="1200" b="1" i="0">
                <a:solidFill>
                  <a:srgbClr val="2B2126"/>
                </a:solidFill>
                <a:latin typeface="Calibri"/>
              </a:rPr>
              <a:t>GTFA + weighted rubric</a:t>
            </a:r>
          </a:p>
        </p:txBody>
      </p:sp>
      <p:sp>
        <p:nvSpPr>
          <p:cNvPr id="33" name="TextBox 32"/>
          <p:cNvSpPr txBox="1"/>
          <p:nvPr/>
        </p:nvSpPr>
        <p:spPr>
          <a:xfrm>
            <a:off x="4361688" y="4946904"/>
            <a:ext cx="3566160" cy="256032"/>
          </a:xfrm>
          <a:prstGeom prst="rect">
            <a:avLst/>
          </a:prstGeom>
          <a:noFill/>
        </p:spPr>
        <p:txBody>
          <a:bodyPr wrap="square" lIns="0" rIns="0" tIns="0" bIns="0" anchor="t">
            <a:spAutoFit/>
          </a:bodyPr>
          <a:lstStyle/>
          <a:p>
            <a:pPr algn="l">
              <a:spcAft>
                <a:spcPts val="600"/>
              </a:spcAft>
            </a:pPr>
            <a:r>
              <a:rPr sz="1200" b="0" i="0">
                <a:solidFill>
                  <a:srgbClr val="6B6064"/>
                </a:solidFill>
                <a:latin typeface="Calibri"/>
              </a:rPr>
              <a:t>You write both</a:t>
            </a:r>
          </a:p>
        </p:txBody>
      </p:sp>
      <p:sp>
        <p:nvSpPr>
          <p:cNvPr id="34" name="TextBox 33"/>
          <p:cNvSpPr txBox="1"/>
          <p:nvPr/>
        </p:nvSpPr>
        <p:spPr>
          <a:xfrm>
            <a:off x="8110727" y="4946904"/>
            <a:ext cx="3566160" cy="256032"/>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You write both</a:t>
            </a:r>
          </a:p>
        </p:txBody>
      </p:sp>
      <p:sp>
        <p:nvSpPr>
          <p:cNvPr id="35" name="TextBox 34"/>
          <p:cNvSpPr txBox="1"/>
          <p:nvPr/>
        </p:nvSpPr>
        <p:spPr>
          <a:xfrm>
            <a:off x="566928" y="5440680"/>
            <a:ext cx="11064240" cy="640080"/>
          </a:xfrm>
          <a:prstGeom prst="rect">
            <a:avLst/>
          </a:prstGeom>
          <a:noFill/>
        </p:spPr>
        <p:txBody>
          <a:bodyPr wrap="square" lIns="0" rIns="0" tIns="0" bIns="0" anchor="t">
            <a:spAutoFit/>
          </a:bodyPr>
          <a:lstStyle/>
          <a:p>
            <a:pPr algn="l">
              <a:lnSpc>
                <a:spcPct val="110000"/>
              </a:lnSpc>
              <a:spcAft>
                <a:spcPts val="600"/>
              </a:spcAft>
            </a:pPr>
            <a:r>
              <a:rPr sz="1300" b="1" i="0">
                <a:solidFill>
                  <a:srgbClr val="6D2E46"/>
                </a:solidFill>
                <a:latin typeface="Calibri"/>
              </a:rPr>
              <a:t>Put plainly:  </a:t>
            </a:r>
            <a:r>
              <a:rPr sz="1300" b="0" i="0">
                <a:solidFill>
                  <a:srgbClr val="2B2126"/>
                </a:solidFill>
                <a:latin typeface="Calibri"/>
              </a:rPr>
              <a:t>Type 1 starts at the GTFA — everything before it is given and only needs a validity check. Type 2 starts at a blank page and must also prove the item is hard enough.</a:t>
            </a:r>
          </a:p>
        </p:txBody>
      </p:sp>
      <p:sp>
        <p:nvSpPr>
          <p:cNvPr id="36" name="TextBox 35"/>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37" name="TextBox 36"/>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STEP BY STEP</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Build in this order</a:t>
            </a:r>
          </a:p>
        </p:txBody>
      </p:sp>
      <p:sp>
        <p:nvSpPr>
          <p:cNvPr id="5" name="TextBox 4"/>
          <p:cNvSpPr txBox="1"/>
          <p:nvPr/>
        </p:nvSpPr>
        <p:spPr>
          <a:xfrm>
            <a:off x="566928" y="1463040"/>
            <a:ext cx="11064240" cy="274320"/>
          </a:xfrm>
          <a:prstGeom prst="rect">
            <a:avLst/>
          </a:prstGeom>
          <a:noFill/>
        </p:spPr>
        <p:txBody>
          <a:bodyPr wrap="square" lIns="0" rIns="0" tIns="0" bIns="0" anchor="t">
            <a:spAutoFit/>
          </a:bodyPr>
          <a:lstStyle/>
          <a:p>
            <a:pPr algn="l">
              <a:spcAft>
                <a:spcPts val="600"/>
              </a:spcAft>
            </a:pPr>
            <a:r>
              <a:rPr sz="1250" b="0" i="0">
                <a:solidFill>
                  <a:srgbClr val="6B6064"/>
                </a:solidFill>
                <a:latin typeface="Calibri"/>
              </a:rPr>
              <a:t>A rubric written before the GTFA almost always misses deliverables.</a:t>
            </a:r>
          </a:p>
        </p:txBody>
      </p:sp>
      <p:sp>
        <p:nvSpPr>
          <p:cNvPr id="6" name="Oval 5"/>
          <p:cNvSpPr/>
          <p:nvPr/>
        </p:nvSpPr>
        <p:spPr>
          <a:xfrm>
            <a:off x="566928" y="18470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a:t>
            </a:r>
          </a:p>
        </p:txBody>
      </p:sp>
      <p:sp>
        <p:nvSpPr>
          <p:cNvPr id="7" name="TextBox 6"/>
          <p:cNvSpPr txBox="1"/>
          <p:nvPr/>
        </p:nvSpPr>
        <p:spPr>
          <a:xfrm>
            <a:off x="1042415" y="1860804"/>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Confirm the demo account</a:t>
            </a:r>
          </a:p>
        </p:txBody>
      </p:sp>
      <p:sp>
        <p:nvSpPr>
          <p:cNvPr id="8" name="TextBox 7"/>
          <p:cNvSpPr txBox="1"/>
          <p:nvPr/>
        </p:nvSpPr>
        <p:spPr>
          <a:xfrm>
            <a:off x="1042415" y="210769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Screenshot with the address legible</a:t>
            </a:r>
          </a:p>
        </p:txBody>
      </p:sp>
      <p:sp>
        <p:nvSpPr>
          <p:cNvPr id="9" name="Oval 8"/>
          <p:cNvSpPr/>
          <p:nvPr/>
        </p:nvSpPr>
        <p:spPr>
          <a:xfrm>
            <a:off x="566928" y="248716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2</a:t>
            </a:r>
          </a:p>
        </p:txBody>
      </p:sp>
      <p:sp>
        <p:nvSpPr>
          <p:cNvPr id="10" name="TextBox 9"/>
          <p:cNvSpPr txBox="1"/>
          <p:nvPr/>
        </p:nvSpPr>
        <p:spPr>
          <a:xfrm>
            <a:off x="1042415" y="2500884"/>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Confirm the model</a:t>
            </a:r>
          </a:p>
        </p:txBody>
      </p:sp>
      <p:sp>
        <p:nvSpPr>
          <p:cNvPr id="11" name="TextBox 10"/>
          <p:cNvSpPr txBox="1"/>
          <p:nvPr/>
        </p:nvSpPr>
        <p:spPr>
          <a:xfrm>
            <a:off x="1042415" y="274777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Screenshot the selector before the run</a:t>
            </a:r>
          </a:p>
        </p:txBody>
      </p:sp>
      <p:sp>
        <p:nvSpPr>
          <p:cNvPr id="12" name="Oval 11"/>
          <p:cNvSpPr/>
          <p:nvPr/>
        </p:nvSpPr>
        <p:spPr>
          <a:xfrm>
            <a:off x="566928" y="312724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3</a:t>
            </a:r>
          </a:p>
        </p:txBody>
      </p:sp>
      <p:sp>
        <p:nvSpPr>
          <p:cNvPr id="13" name="TextBox 12"/>
          <p:cNvSpPr txBox="1"/>
          <p:nvPr/>
        </p:nvSpPr>
        <p:spPr>
          <a:xfrm>
            <a:off x="1042415" y="3140964"/>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Explore your universe</a:t>
            </a:r>
          </a:p>
        </p:txBody>
      </p:sp>
      <p:sp>
        <p:nvSpPr>
          <p:cNvPr id="14" name="TextBox 13"/>
          <p:cNvSpPr txBox="1"/>
          <p:nvPr/>
        </p:nvSpPr>
        <p:spPr>
          <a:xfrm>
            <a:off x="1042415" y="338785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List filenames, people and dates; confirm each on screen</a:t>
            </a:r>
          </a:p>
        </p:txBody>
      </p:sp>
      <p:sp>
        <p:nvSpPr>
          <p:cNvPr id="15" name="Oval 14"/>
          <p:cNvSpPr/>
          <p:nvPr/>
        </p:nvSpPr>
        <p:spPr>
          <a:xfrm>
            <a:off x="566928" y="3767327"/>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4</a:t>
            </a:r>
          </a:p>
        </p:txBody>
      </p:sp>
      <p:sp>
        <p:nvSpPr>
          <p:cNvPr id="16" name="TextBox 15"/>
          <p:cNvSpPr txBox="1"/>
          <p:nvPr/>
        </p:nvSpPr>
        <p:spPr>
          <a:xfrm>
            <a:off x="1042415" y="3781043"/>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Check the artifact pack</a:t>
            </a:r>
          </a:p>
        </p:txBody>
      </p:sp>
      <p:sp>
        <p:nvSpPr>
          <p:cNvPr id="17" name="TextBox 16"/>
          <p:cNvSpPr txBox="1"/>
          <p:nvPr/>
        </p:nvSpPr>
        <p:spPr>
          <a:xfrm>
            <a:off x="1042415" y="4027931"/>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Flag anything translated or missing</a:t>
            </a:r>
          </a:p>
        </p:txBody>
      </p:sp>
      <p:sp>
        <p:nvSpPr>
          <p:cNvPr id="18" name="Oval 17"/>
          <p:cNvSpPr/>
          <p:nvPr/>
        </p:nvSpPr>
        <p:spPr>
          <a:xfrm>
            <a:off x="566928" y="440740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5</a:t>
            </a:r>
          </a:p>
        </p:txBody>
      </p:sp>
      <p:sp>
        <p:nvSpPr>
          <p:cNvPr id="19" name="TextBox 18"/>
          <p:cNvSpPr txBox="1"/>
          <p:nvPr/>
        </p:nvSpPr>
        <p:spPr>
          <a:xfrm>
            <a:off x="1042415" y="4421124"/>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Write the opening prompt</a:t>
            </a:r>
          </a:p>
        </p:txBody>
      </p:sp>
      <p:sp>
        <p:nvSpPr>
          <p:cNvPr id="20" name="TextBox 19"/>
          <p:cNvSpPr txBox="1"/>
          <p:nvPr/>
        </p:nvSpPr>
        <p:spPr>
          <a:xfrm>
            <a:off x="1042415" y="466801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2–3 loose asks · the twelve rules · no LLM</a:t>
            </a:r>
          </a:p>
        </p:txBody>
      </p:sp>
      <p:sp>
        <p:nvSpPr>
          <p:cNvPr id="21" name="Oval 20"/>
          <p:cNvSpPr/>
          <p:nvPr/>
        </p:nvSpPr>
        <p:spPr>
          <a:xfrm>
            <a:off x="566928" y="50474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6</a:t>
            </a:r>
          </a:p>
        </p:txBody>
      </p:sp>
      <p:sp>
        <p:nvSpPr>
          <p:cNvPr id="22" name="TextBox 21"/>
          <p:cNvSpPr txBox="1"/>
          <p:nvPr/>
        </p:nvSpPr>
        <p:spPr>
          <a:xfrm>
            <a:off x="1042415" y="5061203"/>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Write the target deliverables</a:t>
            </a:r>
          </a:p>
        </p:txBody>
      </p:sp>
      <p:sp>
        <p:nvSpPr>
          <p:cNvPr id="23" name="TextBox 22"/>
          <p:cNvSpPr txBox="1"/>
          <p:nvPr/>
        </p:nvSpPr>
        <p:spPr>
          <a:xfrm>
            <a:off x="1042415" y="530809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Artifacts, values, side effects, what must be absent</a:t>
            </a:r>
          </a:p>
        </p:txBody>
      </p:sp>
      <p:sp>
        <p:nvSpPr>
          <p:cNvPr id="24" name="Oval 23"/>
          <p:cNvSpPr/>
          <p:nvPr/>
        </p:nvSpPr>
        <p:spPr>
          <a:xfrm>
            <a:off x="566928" y="5687567"/>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7</a:t>
            </a:r>
          </a:p>
        </p:txBody>
      </p:sp>
      <p:sp>
        <p:nvSpPr>
          <p:cNvPr id="25" name="TextBox 24"/>
          <p:cNvSpPr txBox="1"/>
          <p:nvPr/>
        </p:nvSpPr>
        <p:spPr>
          <a:xfrm>
            <a:off x="1042415" y="5701283"/>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Run the simplified trajectory</a:t>
            </a:r>
          </a:p>
        </p:txBody>
      </p:sp>
      <p:sp>
        <p:nvSpPr>
          <p:cNvPr id="26" name="TextBox 25"/>
          <p:cNvSpPr txBox="1"/>
          <p:nvPr/>
        </p:nvSpPr>
        <p:spPr>
          <a:xfrm>
            <a:off x="1042415" y="5948171"/>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Rehydrate first · 1–3 turns · dump everything</a:t>
            </a:r>
          </a:p>
        </p:txBody>
      </p:sp>
      <p:sp>
        <p:nvSpPr>
          <p:cNvPr id="27" name="Oval 26"/>
          <p:cNvSpPr/>
          <p:nvPr/>
        </p:nvSpPr>
        <p:spPr>
          <a:xfrm>
            <a:off x="6327648" y="18470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8</a:t>
            </a:r>
          </a:p>
        </p:txBody>
      </p:sp>
      <p:sp>
        <p:nvSpPr>
          <p:cNvPr id="28" name="TextBox 27"/>
          <p:cNvSpPr txBox="1"/>
          <p:nvPr/>
        </p:nvSpPr>
        <p:spPr>
          <a:xfrm>
            <a:off x="6803136" y="1860804"/>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Record each turn</a:t>
            </a:r>
          </a:p>
        </p:txBody>
      </p:sp>
      <p:sp>
        <p:nvSpPr>
          <p:cNvPr id="29" name="TextBox 28"/>
          <p:cNvSpPr txBox="1"/>
          <p:nvPr/>
        </p:nvSpPr>
        <p:spPr>
          <a:xfrm>
            <a:off x="6803136" y="210769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Exact prompt as the title, own link, files</a:t>
            </a:r>
          </a:p>
        </p:txBody>
      </p:sp>
      <p:sp>
        <p:nvSpPr>
          <p:cNvPr id="30" name="Oval 29"/>
          <p:cNvSpPr/>
          <p:nvPr/>
        </p:nvSpPr>
        <p:spPr>
          <a:xfrm>
            <a:off x="6327648" y="248716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9</a:t>
            </a:r>
          </a:p>
        </p:txBody>
      </p:sp>
      <p:sp>
        <p:nvSpPr>
          <p:cNvPr id="31" name="TextBox 30"/>
          <p:cNvSpPr txBox="1"/>
          <p:nvPr/>
        </p:nvSpPr>
        <p:spPr>
          <a:xfrm>
            <a:off x="6803136" y="2500884"/>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Submit trajectory evidence</a:t>
            </a:r>
          </a:p>
        </p:txBody>
      </p:sp>
      <p:sp>
        <p:nvSpPr>
          <p:cNvPr id="32" name="TextBox 31"/>
          <p:cNvSpPr txBox="1"/>
          <p:nvPr/>
        </p:nvSpPr>
        <p:spPr>
          <a:xfrm>
            <a:off x="6803136" y="274777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Share link + chat PDF that matches it</a:t>
            </a:r>
          </a:p>
        </p:txBody>
      </p:sp>
      <p:sp>
        <p:nvSpPr>
          <p:cNvPr id="33" name="Oval 32"/>
          <p:cNvSpPr/>
          <p:nvPr/>
        </p:nvSpPr>
        <p:spPr>
          <a:xfrm>
            <a:off x="6327648" y="312724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10</a:t>
            </a:r>
          </a:p>
        </p:txBody>
      </p:sp>
      <p:sp>
        <p:nvSpPr>
          <p:cNvPr id="34" name="TextBox 33"/>
          <p:cNvSpPr txBox="1"/>
          <p:nvPr/>
        </p:nvSpPr>
        <p:spPr>
          <a:xfrm>
            <a:off x="6803136" y="3140964"/>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Grade it and check the gate</a:t>
            </a:r>
          </a:p>
        </p:txBody>
      </p:sp>
      <p:sp>
        <p:nvSpPr>
          <p:cNvPr id="35" name="TextBox 34"/>
          <p:cNvSpPr txBox="1"/>
          <p:nvPr/>
        </p:nvSpPr>
        <p:spPr>
          <a:xfrm>
            <a:off x="6803136" y="338785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Must pass ≤ 40% of available weight</a:t>
            </a:r>
          </a:p>
        </p:txBody>
      </p:sp>
      <p:sp>
        <p:nvSpPr>
          <p:cNvPr id="36" name="Oval 35"/>
          <p:cNvSpPr/>
          <p:nvPr/>
        </p:nvSpPr>
        <p:spPr>
          <a:xfrm>
            <a:off x="6327648" y="3767327"/>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11</a:t>
            </a:r>
          </a:p>
        </p:txBody>
      </p:sp>
      <p:sp>
        <p:nvSpPr>
          <p:cNvPr id="37" name="TextBox 36"/>
          <p:cNvSpPr txBox="1"/>
          <p:nvPr/>
        </p:nvSpPr>
        <p:spPr>
          <a:xfrm>
            <a:off x="6803136" y="3781043"/>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Write the GTFA</a:t>
            </a:r>
          </a:p>
        </p:txBody>
      </p:sp>
      <p:sp>
        <p:nvSpPr>
          <p:cNvPr id="38" name="TextBox 37"/>
          <p:cNvSpPr txBox="1"/>
          <p:nvPr/>
        </p:nvSpPr>
        <p:spPr>
          <a:xfrm>
            <a:off x="6803136" y="4027931"/>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Deliverables · values · side effects · absences</a:t>
            </a:r>
          </a:p>
        </p:txBody>
      </p:sp>
      <p:sp>
        <p:nvSpPr>
          <p:cNvPr id="39" name="Oval 38"/>
          <p:cNvSpPr/>
          <p:nvPr/>
        </p:nvSpPr>
        <p:spPr>
          <a:xfrm>
            <a:off x="6327648" y="440740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12</a:t>
            </a:r>
          </a:p>
        </p:txBody>
      </p:sp>
      <p:sp>
        <p:nvSpPr>
          <p:cNvPr id="40" name="TextBox 39"/>
          <p:cNvSpPr txBox="1"/>
          <p:nvPr/>
        </p:nvSpPr>
        <p:spPr>
          <a:xfrm>
            <a:off x="6803136" y="4421124"/>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Author 10–30 weighted criteria</a:t>
            </a:r>
          </a:p>
        </p:txBody>
      </p:sp>
      <p:sp>
        <p:nvSpPr>
          <p:cNvPr id="41" name="TextBox 40"/>
          <p:cNvSpPr txBox="1"/>
          <p:nvPr/>
        </p:nvSpPr>
        <p:spPr>
          <a:xfrm>
            <a:off x="6803136" y="466801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Binary, observable, atomic, positive</a:t>
            </a:r>
          </a:p>
        </p:txBody>
      </p:sp>
      <p:sp>
        <p:nvSpPr>
          <p:cNvPr id="42" name="Oval 41"/>
          <p:cNvSpPr/>
          <p:nvPr/>
        </p:nvSpPr>
        <p:spPr>
          <a:xfrm>
            <a:off x="6327648" y="50474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13</a:t>
            </a:r>
          </a:p>
        </p:txBody>
      </p:sp>
      <p:sp>
        <p:nvSpPr>
          <p:cNvPr id="43" name="TextBox 42"/>
          <p:cNvSpPr txBox="1"/>
          <p:nvPr/>
        </p:nvSpPr>
        <p:spPr>
          <a:xfrm>
            <a:off x="6803136" y="5061203"/>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Tag every criterion</a:t>
            </a:r>
          </a:p>
        </p:txBody>
      </p:sp>
      <p:sp>
        <p:nvSpPr>
          <p:cNvPr id="44" name="TextBox 43"/>
          <p:cNvSpPr txBox="1"/>
          <p:nvPr/>
        </p:nvSpPr>
        <p:spPr>
          <a:xfrm>
            <a:off x="6803136" y="530809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Across all six Outcome Quality sub-dimensions</a:t>
            </a:r>
          </a:p>
        </p:txBody>
      </p:sp>
      <p:sp>
        <p:nvSpPr>
          <p:cNvPr id="45" name="Oval 44"/>
          <p:cNvSpPr/>
          <p:nvPr/>
        </p:nvSpPr>
        <p:spPr>
          <a:xfrm>
            <a:off x="6327648" y="5687567"/>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14</a:t>
            </a:r>
          </a:p>
        </p:txBody>
      </p:sp>
      <p:sp>
        <p:nvSpPr>
          <p:cNvPr id="46" name="TextBox 45"/>
          <p:cNvSpPr txBox="1"/>
          <p:nvPr/>
        </p:nvSpPr>
        <p:spPr>
          <a:xfrm>
            <a:off x="6803136" y="5701283"/>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Rubric eval check</a:t>
            </a:r>
          </a:p>
        </p:txBody>
      </p:sp>
      <p:sp>
        <p:nvSpPr>
          <p:cNvPr id="47" name="TextBox 46"/>
          <p:cNvSpPr txBox="1"/>
          <p:nvPr/>
        </p:nvSpPr>
        <p:spPr>
          <a:xfrm>
            <a:off x="6803136" y="5948171"/>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Then Known / Not Known, then submit</a:t>
            </a:r>
          </a:p>
        </p:txBody>
      </p:sp>
      <p:sp>
        <p:nvSpPr>
          <p:cNvPr id="48" name="TextBox 47"/>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Steps 7–10 are Type 2 only — on a Type 1 task you start at step 11.</a:t>
            </a:r>
          </a:p>
        </p:txBody>
      </p:sp>
      <p:sp>
        <p:nvSpPr>
          <p:cNvPr id="49" name="TextBox 48"/>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CRAFT</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opening prompt is deliberately incomplete</a:t>
            </a:r>
          </a:p>
        </p:txBody>
      </p:sp>
      <p:sp>
        <p:nvSpPr>
          <p:cNvPr id="5" name="Rounded Rectangle 4"/>
          <p:cNvSpPr/>
          <p:nvPr/>
        </p:nvSpPr>
        <p:spPr>
          <a:xfrm>
            <a:off x="566928" y="1554480"/>
            <a:ext cx="11064240" cy="84124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37360"/>
            <a:ext cx="10424160" cy="548640"/>
          </a:xfrm>
          <a:prstGeom prst="rect">
            <a:avLst/>
          </a:prstGeom>
          <a:noFill/>
        </p:spPr>
        <p:txBody>
          <a:bodyPr wrap="square" lIns="0" rIns="0" tIns="0" bIns="0" anchor="t">
            <a:spAutoFit/>
          </a:bodyPr>
          <a:lstStyle/>
          <a:p>
            <a:pPr algn="l">
              <a:lnSpc>
                <a:spcPct val="110000"/>
              </a:lnSpc>
              <a:spcAft>
                <a:spcPts val="600"/>
              </a:spcAft>
            </a:pPr>
            <a:r>
              <a:rPr sz="1300" b="1" i="0">
                <a:solidFill>
                  <a:srgbClr val="6D2E46"/>
                </a:solidFill>
                <a:latin typeface="Calibri"/>
              </a:rPr>
              <a:t>The single most important idea in this queue:  </a:t>
            </a:r>
            <a:r>
              <a:rPr sz="1300" b="0" i="0">
                <a:solidFill>
                  <a:srgbClr val="2B2126"/>
                </a:solidFill>
                <a:latin typeface="Calibri"/>
              </a:rPr>
              <a:t>the gap between what the opener states and what it withholds is the difficulty of your item. An item that gives everything away in Turn 1 cannot produce a 20+ turn conversation.</a:t>
            </a:r>
          </a:p>
        </p:txBody>
      </p:sp>
      <p:sp>
        <p:nvSpPr>
          <p:cNvPr id="7" name="TextBox 6"/>
          <p:cNvSpPr txBox="1"/>
          <p:nvPr/>
        </p:nvSpPr>
        <p:spPr>
          <a:xfrm>
            <a:off x="566928" y="2615184"/>
            <a:ext cx="539496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THE RULES THAT MATTER MOST</a:t>
            </a:r>
          </a:p>
        </p:txBody>
      </p:sp>
      <p:sp>
        <p:nvSpPr>
          <p:cNvPr id="8" name="TextBox 7"/>
          <p:cNvSpPr txBox="1"/>
          <p:nvPr/>
        </p:nvSpPr>
        <p:spPr>
          <a:xfrm>
            <a:off x="566928" y="2980944"/>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A partial request — 2–3 loose asks, not the full task</a:t>
            </a:r>
          </a:p>
        </p:txBody>
      </p:sp>
      <p:sp>
        <p:nvSpPr>
          <p:cNvPr id="9" name="TextBox 8"/>
          <p:cNvSpPr txBox="1"/>
          <p:nvPr/>
        </p:nvSpPr>
        <p:spPr>
          <a:xfrm>
            <a:off x="566928" y="3364991"/>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Start abstract; let the goal emerge over the conversation</a:t>
            </a:r>
          </a:p>
        </p:txBody>
      </p:sp>
      <p:sp>
        <p:nvSpPr>
          <p:cNvPr id="10" name="TextBox 9"/>
          <p:cNvSpPr txBox="1"/>
          <p:nvPr/>
        </p:nvSpPr>
        <p:spPr>
          <a:xfrm>
            <a:off x="566928" y="3749039"/>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Lead with motive and situation, never a task list</a:t>
            </a:r>
          </a:p>
        </p:txBody>
      </p:sp>
      <p:sp>
        <p:nvSpPr>
          <p:cNvPr id="11" name="TextBox 10"/>
          <p:cNvSpPr txBox="1"/>
          <p:nvPr/>
        </p:nvSpPr>
        <p:spPr>
          <a:xfrm>
            <a:off x="566928" y="4133087"/>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Ground every entity in your universe</a:t>
            </a:r>
          </a:p>
        </p:txBody>
      </p:sp>
      <p:sp>
        <p:nvSpPr>
          <p:cNvPr id="12" name="TextBox 11"/>
          <p:cNvSpPr txBox="1"/>
          <p:nvPr/>
        </p:nvSpPr>
        <p:spPr>
          <a:xfrm>
            <a:off x="566928" y="4517136"/>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Leave room for judgment, not a mechanical fetch</a:t>
            </a:r>
          </a:p>
        </p:txBody>
      </p:sp>
      <p:sp>
        <p:nvSpPr>
          <p:cNvPr id="13" name="TextBox 12"/>
          <p:cNvSpPr txBox="1"/>
          <p:nvPr/>
        </p:nvSpPr>
        <p:spPr>
          <a:xfrm>
            <a:off x="566928" y="4901183"/>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Natural, human, written by you — no LLM, paste is disabled</a:t>
            </a:r>
          </a:p>
        </p:txBody>
      </p:sp>
      <p:sp>
        <p:nvSpPr>
          <p:cNvPr id="14" name="TextBox 13"/>
          <p:cNvSpPr txBox="1"/>
          <p:nvPr/>
        </p:nvSpPr>
        <p:spPr>
          <a:xfrm>
            <a:off x="566928" y="5285231"/>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Native register for your locale, never a translation</a:t>
            </a:r>
          </a:p>
        </p:txBody>
      </p:sp>
      <p:sp>
        <p:nvSpPr>
          <p:cNvPr id="15" name="TextBox 14"/>
          <p:cNvSpPr txBox="1"/>
          <p:nvPr/>
        </p:nvSpPr>
        <p:spPr>
          <a:xfrm>
            <a:off x="566928" y="5669279"/>
            <a:ext cx="5394960" cy="347472"/>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0" i="0">
                <a:solidFill>
                  <a:srgbClr val="2B2126"/>
                </a:solidFill>
                <a:latin typeface="Calibri"/>
              </a:rPr>
              <a:t>Deliverables live in a separate field — never in the opener</a:t>
            </a:r>
          </a:p>
        </p:txBody>
      </p:sp>
      <p:sp>
        <p:nvSpPr>
          <p:cNvPr id="16" name="Rounded Rectangle 15"/>
          <p:cNvSpPr/>
          <p:nvPr/>
        </p:nvSpPr>
        <p:spPr>
          <a:xfrm>
            <a:off x="6327648" y="2615184"/>
            <a:ext cx="5303520" cy="157276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2779776"/>
            <a:ext cx="4754880" cy="237744"/>
          </a:xfrm>
          <a:prstGeom prst="rect">
            <a:avLst/>
          </a:prstGeom>
          <a:noFill/>
        </p:spPr>
        <p:txBody>
          <a:bodyPr wrap="square" lIns="0" rIns="0" tIns="0" bIns="0" anchor="t">
            <a:spAutoFit/>
          </a:bodyPr>
          <a:lstStyle/>
          <a:p>
            <a:pPr algn="l">
              <a:spcAft>
                <a:spcPts val="600"/>
              </a:spcAft>
            </a:pPr>
            <a:r>
              <a:rPr sz="1100" b="1" i="0">
                <a:solidFill>
                  <a:srgbClr val="5F7A61"/>
                </a:solidFill>
                <a:latin typeface="Calibri"/>
              </a:rPr>
              <a:t>GOOD OPENER</a:t>
            </a:r>
          </a:p>
        </p:txBody>
      </p:sp>
      <p:sp>
        <p:nvSpPr>
          <p:cNvPr id="18" name="TextBox 17"/>
          <p:cNvSpPr txBox="1"/>
          <p:nvPr/>
        </p:nvSpPr>
        <p:spPr>
          <a:xfrm>
            <a:off x="6601968" y="3090672"/>
            <a:ext cx="4754880" cy="777240"/>
          </a:xfrm>
          <a:prstGeom prst="rect">
            <a:avLst/>
          </a:prstGeom>
          <a:noFill/>
        </p:spPr>
        <p:txBody>
          <a:bodyPr wrap="square" lIns="0" rIns="0" tIns="0" bIns="0" anchor="t">
            <a:spAutoFit/>
          </a:bodyPr>
          <a:lstStyle/>
          <a:p>
            <a:pPr algn="l">
              <a:lnSpc>
                <a:spcPct val="110000"/>
              </a:lnSpc>
              <a:spcAft>
                <a:spcPts val="600"/>
              </a:spcAft>
            </a:pPr>
            <a:r>
              <a:rPr sz="1200" b="0" i="1">
                <a:solidFill>
                  <a:srgbClr val="2B2126"/>
                </a:solidFill>
                <a:latin typeface="Calibri"/>
              </a:rPr>
              <a:t>“My quarterly numbers are due to the board Friday and something feels off in the March figures — can you help me get to the bottom of it before then?”</a:t>
            </a:r>
          </a:p>
        </p:txBody>
      </p:sp>
      <p:sp>
        <p:nvSpPr>
          <p:cNvPr id="19" name="TextBox 18"/>
          <p:cNvSpPr txBox="1"/>
          <p:nvPr/>
        </p:nvSpPr>
        <p:spPr>
          <a:xfrm>
            <a:off x="6601968" y="3858768"/>
            <a:ext cx="4754880" cy="237744"/>
          </a:xfrm>
          <a:prstGeom prst="rect">
            <a:avLst/>
          </a:prstGeom>
          <a:noFill/>
        </p:spPr>
        <p:txBody>
          <a:bodyPr wrap="square" lIns="0" rIns="0" tIns="0" bIns="0" anchor="t">
            <a:spAutoFit/>
          </a:bodyPr>
          <a:lstStyle/>
          <a:p>
            <a:pPr algn="l">
              <a:spcAft>
                <a:spcPts val="600"/>
              </a:spcAft>
            </a:pPr>
            <a:r>
              <a:rPr sz="1050" b="0" i="0">
                <a:solidFill>
                  <a:srgbClr val="6B6064"/>
                </a:solidFill>
                <a:latin typeface="Calibri"/>
              </a:rPr>
              <a:t>Real stakes. No artifact, format or tool named.</a:t>
            </a:r>
          </a:p>
        </p:txBody>
      </p:sp>
      <p:sp>
        <p:nvSpPr>
          <p:cNvPr id="20" name="Rounded Rectangle 19"/>
          <p:cNvSpPr/>
          <p:nvPr/>
        </p:nvSpPr>
        <p:spPr>
          <a:xfrm>
            <a:off x="6327648" y="4462272"/>
            <a:ext cx="5303520" cy="155448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4626864"/>
            <a:ext cx="4754880" cy="237744"/>
          </a:xfrm>
          <a:prstGeom prst="rect">
            <a:avLst/>
          </a:prstGeom>
          <a:noFill/>
        </p:spPr>
        <p:txBody>
          <a:bodyPr wrap="square" lIns="0" rIns="0" tIns="0" bIns="0" anchor="t">
            <a:spAutoFit/>
          </a:bodyPr>
          <a:lstStyle/>
          <a:p>
            <a:pPr algn="l">
              <a:spcAft>
                <a:spcPts val="600"/>
              </a:spcAft>
            </a:pPr>
            <a:r>
              <a:rPr sz="1100" b="1" i="0">
                <a:solidFill>
                  <a:srgbClr val="6D2E46"/>
                </a:solidFill>
                <a:latin typeface="Calibri"/>
              </a:rPr>
              <a:t>TOO EASY — REWRITE</a:t>
            </a:r>
          </a:p>
        </p:txBody>
      </p:sp>
      <p:sp>
        <p:nvSpPr>
          <p:cNvPr id="22" name="TextBox 21"/>
          <p:cNvSpPr txBox="1"/>
          <p:nvPr/>
        </p:nvSpPr>
        <p:spPr>
          <a:xfrm>
            <a:off x="6601968" y="4937760"/>
            <a:ext cx="4754880" cy="777240"/>
          </a:xfrm>
          <a:prstGeom prst="rect">
            <a:avLst/>
          </a:prstGeom>
          <a:noFill/>
        </p:spPr>
        <p:txBody>
          <a:bodyPr wrap="square" lIns="0" rIns="0" tIns="0" bIns="0" anchor="t">
            <a:spAutoFit/>
          </a:bodyPr>
          <a:lstStyle/>
          <a:p>
            <a:pPr algn="l">
              <a:lnSpc>
                <a:spcPct val="110000"/>
              </a:lnSpc>
              <a:spcAft>
                <a:spcPts val="600"/>
              </a:spcAft>
            </a:pPr>
            <a:r>
              <a:rPr sz="1200" b="0" i="1">
                <a:solidFill>
                  <a:srgbClr val="2B2126"/>
                </a:solidFill>
                <a:latin typeface="Calibri"/>
              </a:rPr>
              <a:t>“Create a one-page PDF of my March expenses with a totals row and email it to my manager.”</a:t>
            </a:r>
          </a:p>
        </p:txBody>
      </p:sp>
      <p:sp>
        <p:nvSpPr>
          <p:cNvPr id="23" name="TextBox 22"/>
          <p:cNvSpPr txBox="1"/>
          <p:nvPr/>
        </p:nvSpPr>
        <p:spPr>
          <a:xfrm>
            <a:off x="6601968" y="5705856"/>
            <a:ext cx="4754880" cy="237744"/>
          </a:xfrm>
          <a:prstGeom prst="rect">
            <a:avLst/>
          </a:prstGeom>
          <a:noFill/>
        </p:spPr>
        <p:txBody>
          <a:bodyPr wrap="square" lIns="0" rIns="0" tIns="0" bIns="0" anchor="t">
            <a:spAutoFit/>
          </a:bodyPr>
          <a:lstStyle/>
          <a:p>
            <a:pPr algn="l">
              <a:spcAft>
                <a:spcPts val="600"/>
              </a:spcAft>
            </a:pPr>
            <a:r>
              <a:rPr sz="1050" b="0" i="0">
                <a:solidFill>
                  <a:srgbClr val="6B6064"/>
                </a:solidFill>
                <a:latin typeface="Calibri"/>
              </a:rPr>
              <a:t>Names the artifact, format and action. A strong model one-shots it.</a:t>
            </a:r>
          </a:p>
        </p:txBody>
      </p:sp>
      <p:sp>
        <p:nvSpPr>
          <p:cNvPr id="24" name="TextBox 2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5" name="TextBox 2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ANSWER KEY</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Target deliverables, then the GTFA</a:t>
            </a:r>
          </a:p>
        </p:txBody>
      </p:sp>
      <p:sp>
        <p:nvSpPr>
          <p:cNvPr id="5" name="TextBox 4"/>
          <p:cNvSpPr txBox="1"/>
          <p:nvPr/>
        </p:nvSpPr>
        <p:spPr>
          <a:xfrm>
            <a:off x="566928" y="1463040"/>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Work the task live first, so the outcome reflects what a strong result actually is. Then write it down. Anything you leave out cannot be graded later.</a:t>
            </a:r>
          </a:p>
        </p:txBody>
      </p:sp>
      <p:sp>
        <p:nvSpPr>
          <p:cNvPr id="6" name="Rounded Rectangle 5"/>
          <p:cNvSpPr/>
          <p:nvPr/>
        </p:nvSpPr>
        <p:spPr>
          <a:xfrm>
            <a:off x="566928" y="2011680"/>
            <a:ext cx="5440680" cy="32004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240280"/>
            <a:ext cx="475488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EVERY DELIVERABLE COVERS THREE THINGS</a:t>
            </a:r>
          </a:p>
        </p:txBody>
      </p:sp>
      <p:sp>
        <p:nvSpPr>
          <p:cNvPr id="8" name="Oval 7"/>
          <p:cNvSpPr/>
          <p:nvPr/>
        </p:nvSpPr>
        <p:spPr>
          <a:xfrm>
            <a:off x="886968" y="2670048"/>
            <a:ext cx="310896" cy="310896"/>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1</a:t>
            </a:r>
          </a:p>
        </p:txBody>
      </p:sp>
      <p:sp>
        <p:nvSpPr>
          <p:cNvPr id="9" name="TextBox 8"/>
          <p:cNvSpPr txBox="1"/>
          <p:nvPr/>
        </p:nvSpPr>
        <p:spPr>
          <a:xfrm>
            <a:off x="1325880" y="2679191"/>
            <a:ext cx="429768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The named artifacts</a:t>
            </a:r>
          </a:p>
        </p:txBody>
      </p:sp>
      <p:sp>
        <p:nvSpPr>
          <p:cNvPr id="10" name="TextBox 9"/>
          <p:cNvSpPr txBox="1"/>
          <p:nvPr/>
        </p:nvSpPr>
        <p:spPr>
          <a:xfrm>
            <a:off x="1325880" y="2935224"/>
            <a:ext cx="4297680" cy="402336"/>
          </a:xfrm>
          <a:prstGeom prst="rect">
            <a:avLst/>
          </a:prstGeom>
          <a:noFill/>
        </p:spPr>
        <p:txBody>
          <a:bodyPr wrap="square" lIns="0" rIns="0" tIns="0" bIns="0" anchor="t">
            <a:spAutoFit/>
          </a:bodyPr>
          <a:lstStyle/>
          <a:p>
            <a:pPr algn="l">
              <a:lnSpc>
                <a:spcPct val="95000"/>
              </a:lnSpc>
              <a:spcAft>
                <a:spcPts val="600"/>
              </a:spcAft>
            </a:pPr>
            <a:r>
              <a:rPr sz="1100" b="0" i="0">
                <a:solidFill>
                  <a:srgbClr val="6B6064"/>
                </a:solidFill>
                <a:latin typeface="Calibri"/>
              </a:rPr>
              <a:t>with the specific values and sections that must appear</a:t>
            </a:r>
          </a:p>
        </p:txBody>
      </p:sp>
      <p:sp>
        <p:nvSpPr>
          <p:cNvPr id="11" name="Oval 10"/>
          <p:cNvSpPr/>
          <p:nvPr/>
        </p:nvSpPr>
        <p:spPr>
          <a:xfrm>
            <a:off x="886968" y="3383280"/>
            <a:ext cx="310896" cy="310896"/>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2</a:t>
            </a:r>
          </a:p>
        </p:txBody>
      </p:sp>
      <p:sp>
        <p:nvSpPr>
          <p:cNvPr id="12" name="TextBox 11"/>
          <p:cNvSpPr txBox="1"/>
          <p:nvPr/>
        </p:nvSpPr>
        <p:spPr>
          <a:xfrm>
            <a:off x="1325880" y="3392424"/>
            <a:ext cx="429768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The named side effects</a:t>
            </a:r>
          </a:p>
        </p:txBody>
      </p:sp>
      <p:sp>
        <p:nvSpPr>
          <p:cNvPr id="13" name="TextBox 12"/>
          <p:cNvSpPr txBox="1"/>
          <p:nvPr/>
        </p:nvSpPr>
        <p:spPr>
          <a:xfrm>
            <a:off x="1325880" y="3648456"/>
            <a:ext cx="4297680" cy="402336"/>
          </a:xfrm>
          <a:prstGeom prst="rect">
            <a:avLst/>
          </a:prstGeom>
          <a:noFill/>
        </p:spPr>
        <p:txBody>
          <a:bodyPr wrap="square" lIns="0" rIns="0" tIns="0" bIns="0" anchor="t">
            <a:spAutoFit/>
          </a:bodyPr>
          <a:lstStyle/>
          <a:p>
            <a:pPr algn="l">
              <a:lnSpc>
                <a:spcPct val="95000"/>
              </a:lnSpc>
              <a:spcAft>
                <a:spcPts val="600"/>
              </a:spcAft>
            </a:pPr>
            <a:r>
              <a:rPr sz="1100" b="0" i="0">
                <a:solidFill>
                  <a:srgbClr val="6B6064"/>
                </a:solidFill>
                <a:latin typeface="Calibri"/>
              </a:rPr>
              <a:t>drafts, calendar entries, connector actions — with recipients and timing</a:t>
            </a:r>
          </a:p>
        </p:txBody>
      </p:sp>
      <p:sp>
        <p:nvSpPr>
          <p:cNvPr id="14" name="Oval 13"/>
          <p:cNvSpPr/>
          <p:nvPr/>
        </p:nvSpPr>
        <p:spPr>
          <a:xfrm>
            <a:off x="886968" y="4096512"/>
            <a:ext cx="310896" cy="310896"/>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3</a:t>
            </a:r>
          </a:p>
        </p:txBody>
      </p:sp>
      <p:sp>
        <p:nvSpPr>
          <p:cNvPr id="15" name="TextBox 14"/>
          <p:cNvSpPr txBox="1"/>
          <p:nvPr/>
        </p:nvSpPr>
        <p:spPr>
          <a:xfrm>
            <a:off x="1325880" y="4105656"/>
            <a:ext cx="429768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What must be ABSENT</a:t>
            </a:r>
          </a:p>
        </p:txBody>
      </p:sp>
      <p:sp>
        <p:nvSpPr>
          <p:cNvPr id="16" name="TextBox 15"/>
          <p:cNvSpPr txBox="1"/>
          <p:nvPr/>
        </p:nvSpPr>
        <p:spPr>
          <a:xfrm>
            <a:off x="1325880" y="4361688"/>
            <a:ext cx="4297680" cy="402336"/>
          </a:xfrm>
          <a:prstGeom prst="rect">
            <a:avLst/>
          </a:prstGeom>
          <a:noFill/>
        </p:spPr>
        <p:txBody>
          <a:bodyPr wrap="square" lIns="0" rIns="0" tIns="0" bIns="0" anchor="t">
            <a:spAutoFit/>
          </a:bodyPr>
          <a:lstStyle/>
          <a:p>
            <a:pPr algn="l">
              <a:lnSpc>
                <a:spcPct val="95000"/>
              </a:lnSpc>
              <a:spcAft>
                <a:spcPts val="600"/>
              </a:spcAft>
            </a:pPr>
            <a:r>
              <a:rPr sz="1100" b="0" i="0">
                <a:solidFill>
                  <a:srgbClr val="6B6064"/>
                </a:solidFill>
                <a:latin typeface="Calibri"/>
              </a:rPr>
              <a:t>out-of-scope data, other personas' PII, a draft that was sent</a:t>
            </a:r>
          </a:p>
        </p:txBody>
      </p:sp>
      <p:sp>
        <p:nvSpPr>
          <p:cNvPr id="17" name="Rounded Rectangle 16"/>
          <p:cNvSpPr/>
          <p:nvPr/>
        </p:nvSpPr>
        <p:spPr>
          <a:xfrm>
            <a:off x="6327648" y="2011680"/>
            <a:ext cx="5303520" cy="32004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47688" y="2240280"/>
            <a:ext cx="4663440" cy="274320"/>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THE GTFA COVERS ALL FOUR</a:t>
            </a:r>
          </a:p>
        </p:txBody>
      </p:sp>
      <p:sp>
        <p:nvSpPr>
          <p:cNvPr id="19" name="TextBox 18"/>
          <p:cNvSpPr txBox="1"/>
          <p:nvPr/>
        </p:nvSpPr>
        <p:spPr>
          <a:xfrm>
            <a:off x="6647688" y="2697480"/>
            <a:ext cx="4663440" cy="502920"/>
          </a:xfrm>
          <a:prstGeom prst="rect">
            <a:avLst/>
          </a:prstGeom>
          <a:noFill/>
        </p:spPr>
        <p:txBody>
          <a:bodyPr wrap="square" lIns="0" rIns="0" tIns="0" bIns="0" anchor="t">
            <a:spAutoFit/>
          </a:bodyPr>
          <a:lstStyle/>
          <a:p>
            <a:pPr algn="l">
              <a:lnSpc>
                <a:spcPct val="100000"/>
              </a:lnSpc>
              <a:spcAft>
                <a:spcPts val="600"/>
              </a:spcAft>
            </a:pPr>
            <a:r>
              <a:rPr sz="1250" b="1" i="0">
                <a:solidFill>
                  <a:srgbClr val="6D2E46"/>
                </a:solidFill>
                <a:latin typeface="Calibri"/>
              </a:rPr>
              <a:t>▸  </a:t>
            </a:r>
            <a:r>
              <a:rPr sz="1250" b="0" i="0">
                <a:solidFill>
                  <a:srgbClr val="2B2126"/>
                </a:solidFill>
                <a:latin typeface="Calibri"/>
              </a:rPr>
              <a:t>The concrete deliverables</a:t>
            </a:r>
          </a:p>
        </p:txBody>
      </p:sp>
      <p:sp>
        <p:nvSpPr>
          <p:cNvPr id="20" name="TextBox 19"/>
          <p:cNvSpPr txBox="1"/>
          <p:nvPr/>
        </p:nvSpPr>
        <p:spPr>
          <a:xfrm>
            <a:off x="6647688" y="3246120"/>
            <a:ext cx="4663440" cy="502920"/>
          </a:xfrm>
          <a:prstGeom prst="rect">
            <a:avLst/>
          </a:prstGeom>
          <a:noFill/>
        </p:spPr>
        <p:txBody>
          <a:bodyPr wrap="square" lIns="0" rIns="0" tIns="0" bIns="0" anchor="t">
            <a:spAutoFit/>
          </a:bodyPr>
          <a:lstStyle/>
          <a:p>
            <a:pPr algn="l">
              <a:lnSpc>
                <a:spcPct val="100000"/>
              </a:lnSpc>
              <a:spcAft>
                <a:spcPts val="600"/>
              </a:spcAft>
            </a:pPr>
            <a:r>
              <a:rPr sz="1250" b="1" i="0">
                <a:solidFill>
                  <a:srgbClr val="6D2E46"/>
                </a:solidFill>
                <a:latin typeface="Calibri"/>
              </a:rPr>
              <a:t>▸  </a:t>
            </a:r>
            <a:r>
              <a:rPr sz="1250" b="0" i="0">
                <a:solidFill>
                  <a:srgbClr val="2B2126"/>
                </a:solidFill>
                <a:latin typeface="Calibri"/>
              </a:rPr>
              <a:t>The correct values and figures</a:t>
            </a:r>
          </a:p>
        </p:txBody>
      </p:sp>
      <p:sp>
        <p:nvSpPr>
          <p:cNvPr id="21" name="TextBox 20"/>
          <p:cNvSpPr txBox="1"/>
          <p:nvPr/>
        </p:nvSpPr>
        <p:spPr>
          <a:xfrm>
            <a:off x="6647688" y="3794760"/>
            <a:ext cx="4663440" cy="502920"/>
          </a:xfrm>
          <a:prstGeom prst="rect">
            <a:avLst/>
          </a:prstGeom>
          <a:noFill/>
        </p:spPr>
        <p:txBody>
          <a:bodyPr wrap="square" lIns="0" rIns="0" tIns="0" bIns="0" anchor="t">
            <a:spAutoFit/>
          </a:bodyPr>
          <a:lstStyle/>
          <a:p>
            <a:pPr algn="l">
              <a:lnSpc>
                <a:spcPct val="100000"/>
              </a:lnSpc>
              <a:spcAft>
                <a:spcPts val="600"/>
              </a:spcAft>
            </a:pPr>
            <a:r>
              <a:rPr sz="1250" b="1" i="0">
                <a:solidFill>
                  <a:srgbClr val="6D2E46"/>
                </a:solidFill>
                <a:latin typeface="Calibri"/>
              </a:rPr>
              <a:t>▸  </a:t>
            </a:r>
            <a:r>
              <a:rPr sz="1250" b="0" i="0">
                <a:solidFill>
                  <a:srgbClr val="2B2126"/>
                </a:solidFill>
                <a:latin typeface="Calibri"/>
              </a:rPr>
              <a:t>The side effects — events created, drafts prepared, files produced</a:t>
            </a:r>
          </a:p>
        </p:txBody>
      </p:sp>
      <p:sp>
        <p:nvSpPr>
          <p:cNvPr id="22" name="TextBox 21"/>
          <p:cNvSpPr txBox="1"/>
          <p:nvPr/>
        </p:nvSpPr>
        <p:spPr>
          <a:xfrm>
            <a:off x="6647688" y="4343400"/>
            <a:ext cx="4663440" cy="502920"/>
          </a:xfrm>
          <a:prstGeom prst="rect">
            <a:avLst/>
          </a:prstGeom>
          <a:noFill/>
        </p:spPr>
        <p:txBody>
          <a:bodyPr wrap="square" lIns="0" rIns="0" tIns="0" bIns="0" anchor="t">
            <a:spAutoFit/>
          </a:bodyPr>
          <a:lstStyle/>
          <a:p>
            <a:pPr algn="l">
              <a:lnSpc>
                <a:spcPct val="100000"/>
              </a:lnSpc>
              <a:spcAft>
                <a:spcPts val="600"/>
              </a:spcAft>
            </a:pPr>
            <a:r>
              <a:rPr sz="1250" b="1" i="0">
                <a:solidFill>
                  <a:srgbClr val="6D2E46"/>
                </a:solidFill>
                <a:latin typeface="Calibri"/>
              </a:rPr>
              <a:t>▸  </a:t>
            </a:r>
            <a:r>
              <a:rPr sz="1250" b="0" i="0">
                <a:solidFill>
                  <a:srgbClr val="2B2126"/>
                </a:solidFill>
                <a:latin typeface="Calibri"/>
              </a:rPr>
              <a:t>What must be absent — no hallucinated contacts, no unauthorised actions</a:t>
            </a:r>
          </a:p>
        </p:txBody>
      </p:sp>
      <p:sp>
        <p:nvSpPr>
          <p:cNvPr id="23" name="Rounded Rectangle 22"/>
          <p:cNvSpPr/>
          <p:nvPr/>
        </p:nvSpPr>
        <p:spPr>
          <a:xfrm>
            <a:off x="566928" y="5431536"/>
            <a:ext cx="11064240" cy="86868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5614416"/>
            <a:ext cx="10424160" cy="54864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Write deliverables as final states, never as predicted user moves. </a:t>
            </a:r>
            <a:r>
              <a:rPr sz="1250" b="0" i="0">
                <a:solidFill>
                  <a:srgbClr val="2B2126"/>
                </a:solidFill>
                <a:latin typeface="Calibri"/>
              </a:rPr>
              <a:t>“The user might ask to fix the budget sheet” cannot be graded — nobody can check whether a user “might” have asked. Every exact value in a criterion must trace back to the GTFA or the deliverables.</a:t>
            </a:r>
          </a:p>
        </p:txBody>
      </p:sp>
      <p:sp>
        <p:nvSpPr>
          <p:cNvPr id="25" name="TextBox 24"/>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6" name="TextBox 25"/>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TYPE 2 ONLY</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simplified trajectory and the 40% gate</a:t>
            </a:r>
          </a:p>
        </p:txBody>
      </p:sp>
      <p:sp>
        <p:nvSpPr>
          <p:cNvPr id="5" name="Rounded Rectangle 4"/>
          <p:cNvSpPr/>
          <p:nvPr/>
        </p:nvSpPr>
        <p:spPr>
          <a:xfrm>
            <a:off x="566928" y="1627632"/>
            <a:ext cx="3520440" cy="2286000"/>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920240"/>
            <a:ext cx="3520440" cy="100584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 40%</a:t>
            </a:r>
          </a:p>
        </p:txBody>
      </p:sp>
      <p:sp>
        <p:nvSpPr>
          <p:cNvPr id="7" name="TextBox 6"/>
          <p:cNvSpPr txBox="1"/>
          <p:nvPr/>
        </p:nvSpPr>
        <p:spPr>
          <a:xfrm>
            <a:off x="841247" y="2944368"/>
            <a:ext cx="2971800" cy="731520"/>
          </a:xfrm>
          <a:prstGeom prst="rect">
            <a:avLst/>
          </a:prstGeom>
          <a:noFill/>
        </p:spPr>
        <p:txBody>
          <a:bodyPr wrap="square" lIns="0" rIns="0" tIns="0" bIns="0" anchor="t">
            <a:spAutoFit/>
          </a:bodyPr>
          <a:lstStyle/>
          <a:p>
            <a:pPr algn="ctr">
              <a:lnSpc>
                <a:spcPct val="110000"/>
              </a:lnSpc>
              <a:spcAft>
                <a:spcPts val="600"/>
              </a:spcAft>
            </a:pPr>
            <a:r>
              <a:rPr sz="1250" b="0" i="0">
                <a:solidFill>
                  <a:srgbClr val="ECE2D0"/>
                </a:solidFill>
                <a:latin typeface="Calibri"/>
              </a:rPr>
              <a:t>of the available rubric weight may pass, or the item is too easy</a:t>
            </a:r>
          </a:p>
        </p:txBody>
      </p:sp>
      <p:sp>
        <p:nvSpPr>
          <p:cNvPr id="8" name="Rounded Rectangle 7"/>
          <p:cNvSpPr/>
          <p:nvPr/>
        </p:nvSpPr>
        <p:spPr>
          <a:xfrm>
            <a:off x="566928" y="4114800"/>
            <a:ext cx="3520440" cy="93268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224528"/>
            <a:ext cx="3520440" cy="457200"/>
          </a:xfrm>
          <a:prstGeom prst="rect">
            <a:avLst/>
          </a:prstGeom>
          <a:noFill/>
        </p:spPr>
        <p:txBody>
          <a:bodyPr wrap="square" lIns="0" rIns="0" tIns="0" bIns="0" anchor="t">
            <a:spAutoFit/>
          </a:bodyPr>
          <a:lstStyle/>
          <a:p>
            <a:pPr algn="ctr">
              <a:spcAft>
                <a:spcPts val="600"/>
              </a:spcAft>
            </a:pPr>
            <a:r>
              <a:rPr sz="3000" b="1" i="0">
                <a:solidFill>
                  <a:srgbClr val="6D2E46"/>
                </a:solidFill>
                <a:latin typeface="Cambria"/>
              </a:rPr>
              <a:t>1–3</a:t>
            </a:r>
          </a:p>
        </p:txBody>
      </p:sp>
      <p:sp>
        <p:nvSpPr>
          <p:cNvPr id="10" name="TextBox 9"/>
          <p:cNvSpPr txBox="1"/>
          <p:nvPr/>
        </p:nvSpPr>
        <p:spPr>
          <a:xfrm>
            <a:off x="841247" y="4663440"/>
            <a:ext cx="2971800" cy="256032"/>
          </a:xfrm>
          <a:prstGeom prst="rect">
            <a:avLst/>
          </a:prstGeom>
          <a:noFill/>
        </p:spPr>
        <p:txBody>
          <a:bodyPr wrap="square" lIns="0" rIns="0" tIns="0" bIns="0" anchor="t">
            <a:spAutoFit/>
          </a:bodyPr>
          <a:lstStyle/>
          <a:p>
            <a:pPr algn="ctr">
              <a:spcAft>
                <a:spcPts val="600"/>
              </a:spcAft>
            </a:pPr>
            <a:r>
              <a:rPr sz="1200" b="0" i="0">
                <a:solidFill>
                  <a:srgbClr val="6B6064"/>
                </a:solidFill>
                <a:latin typeface="Calibri"/>
              </a:rPr>
              <a:t>turns, unsteered</a:t>
            </a:r>
          </a:p>
        </p:txBody>
      </p:sp>
      <p:sp>
        <p:nvSpPr>
          <p:cNvPr id="11" name="TextBox 10"/>
          <p:cNvSpPr txBox="1"/>
          <p:nvPr/>
        </p:nvSpPr>
        <p:spPr>
          <a:xfrm>
            <a:off x="4453128" y="1691640"/>
            <a:ext cx="7178040" cy="274320"/>
          </a:xfrm>
          <a:prstGeom prst="rect">
            <a:avLst/>
          </a:prstGeom>
          <a:noFill/>
        </p:spPr>
        <p:txBody>
          <a:bodyPr wrap="square" lIns="0" rIns="0" tIns="0" bIns="0" anchor="t">
            <a:spAutoFit/>
          </a:bodyPr>
          <a:lstStyle/>
          <a:p>
            <a:pPr algn="l">
              <a:spcAft>
                <a:spcPts val="600"/>
              </a:spcAft>
            </a:pPr>
            <a:r>
              <a:rPr sz="1400" b="1" i="0">
                <a:solidFill>
                  <a:srgbClr val="6D2E46"/>
                </a:solidFill>
                <a:latin typeface="Calibri"/>
              </a:rPr>
              <a:t>This is a complexity test of your item, not an evaluation of the model.</a:t>
            </a:r>
          </a:p>
        </p:txBody>
      </p:sp>
      <p:sp>
        <p:nvSpPr>
          <p:cNvPr id="12" name="TextBox 11"/>
          <p:cNvSpPr txBox="1"/>
          <p:nvPr/>
        </p:nvSpPr>
        <p:spPr>
          <a:xfrm>
            <a:off x="4453128" y="2029968"/>
            <a:ext cx="7178040" cy="548640"/>
          </a:xfrm>
          <a:prstGeom prst="rect">
            <a:avLst/>
          </a:prstGeom>
          <a:noFill/>
        </p:spPr>
        <p:txBody>
          <a:bodyPr wrap="square" lIns="0" rIns="0" tIns="0" bIns="0" anchor="t">
            <a:spAutoFit/>
          </a:bodyPr>
          <a:lstStyle/>
          <a:p>
            <a:pPr algn="l">
              <a:lnSpc>
                <a:spcPct val="115000"/>
              </a:lnSpc>
              <a:spcAft>
                <a:spcPts val="600"/>
              </a:spcAft>
            </a:pPr>
            <a:r>
              <a:rPr sz="1250" b="0" i="0">
                <a:solidFill>
                  <a:srgbClr val="2B2126"/>
                </a:solidFill>
                <a:latin typeface="Calibri"/>
              </a:rPr>
              <a:t>You deliberately give the model the easiest possible path — all deliverables dumped in 1–3 turns, no follow-ups, no steering — and check that it still fails most of your rubric.</a:t>
            </a:r>
          </a:p>
        </p:txBody>
      </p:sp>
      <p:sp>
        <p:nvSpPr>
          <p:cNvPr id="13" name="Oval 12"/>
          <p:cNvSpPr/>
          <p:nvPr/>
        </p:nvSpPr>
        <p:spPr>
          <a:xfrm>
            <a:off x="4453128" y="2761488"/>
            <a:ext cx="292608" cy="292608"/>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1</a:t>
            </a:r>
          </a:p>
        </p:txBody>
      </p:sp>
      <p:sp>
        <p:nvSpPr>
          <p:cNvPr id="14" name="TextBox 13"/>
          <p:cNvSpPr txBox="1"/>
          <p:nvPr/>
        </p:nvSpPr>
        <p:spPr>
          <a:xfrm>
            <a:off x="4855464" y="2770632"/>
            <a:ext cx="676656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Rehydrate first</a:t>
            </a:r>
          </a:p>
        </p:txBody>
      </p:sp>
      <p:sp>
        <p:nvSpPr>
          <p:cNvPr id="15" name="TextBox 14"/>
          <p:cNvSpPr txBox="1"/>
          <p:nvPr/>
        </p:nvSpPr>
        <p:spPr>
          <a:xfrm>
            <a:off x="4855464" y="3017520"/>
            <a:ext cx="676656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The gate is only meaningful against a clean environment</a:t>
            </a:r>
          </a:p>
        </p:txBody>
      </p:sp>
      <p:sp>
        <p:nvSpPr>
          <p:cNvPr id="16" name="Oval 15"/>
          <p:cNvSpPr/>
          <p:nvPr/>
        </p:nvSpPr>
        <p:spPr>
          <a:xfrm>
            <a:off x="4453128" y="3310128"/>
            <a:ext cx="292608" cy="292608"/>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2</a:t>
            </a:r>
          </a:p>
        </p:txBody>
      </p:sp>
      <p:sp>
        <p:nvSpPr>
          <p:cNvPr id="17" name="TextBox 16"/>
          <p:cNvSpPr txBox="1"/>
          <p:nvPr/>
        </p:nvSpPr>
        <p:spPr>
          <a:xfrm>
            <a:off x="4855464" y="3319272"/>
            <a:ext cx="676656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1–3 turns, unsteered</a:t>
            </a:r>
          </a:p>
        </p:txBody>
      </p:sp>
      <p:sp>
        <p:nvSpPr>
          <p:cNvPr id="18" name="TextBox 17"/>
          <p:cNvSpPr txBox="1"/>
          <p:nvPr/>
        </p:nvSpPr>
        <p:spPr>
          <a:xfrm>
            <a:off x="4855464" y="3566160"/>
            <a:ext cx="676656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If you catch yourself nudging the model, stop and start over</a:t>
            </a:r>
          </a:p>
        </p:txBody>
      </p:sp>
      <p:sp>
        <p:nvSpPr>
          <p:cNvPr id="19" name="Oval 18"/>
          <p:cNvSpPr/>
          <p:nvPr/>
        </p:nvSpPr>
        <p:spPr>
          <a:xfrm>
            <a:off x="4453128" y="3858768"/>
            <a:ext cx="292608" cy="292608"/>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3</a:t>
            </a:r>
          </a:p>
        </p:txBody>
      </p:sp>
      <p:sp>
        <p:nvSpPr>
          <p:cNvPr id="20" name="TextBox 19"/>
          <p:cNvSpPr txBox="1"/>
          <p:nvPr/>
        </p:nvSpPr>
        <p:spPr>
          <a:xfrm>
            <a:off x="4855464" y="3867911"/>
            <a:ext cx="676656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Save the share link after every turn</a:t>
            </a:r>
          </a:p>
        </p:txBody>
      </p:sp>
      <p:sp>
        <p:nvSpPr>
          <p:cNvPr id="21" name="TextBox 20"/>
          <p:cNvSpPr txBox="1"/>
          <p:nvPr/>
        </p:nvSpPr>
        <p:spPr>
          <a:xfrm>
            <a:off x="4855464" y="4114800"/>
            <a:ext cx="676656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Each turn has its own URL and cannot be recovered</a:t>
            </a:r>
          </a:p>
        </p:txBody>
      </p:sp>
      <p:sp>
        <p:nvSpPr>
          <p:cNvPr id="22" name="Oval 21"/>
          <p:cNvSpPr/>
          <p:nvPr/>
        </p:nvSpPr>
        <p:spPr>
          <a:xfrm>
            <a:off x="4453128" y="4407408"/>
            <a:ext cx="292608" cy="292608"/>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4</a:t>
            </a:r>
          </a:p>
        </p:txBody>
      </p:sp>
      <p:sp>
        <p:nvSpPr>
          <p:cNvPr id="23" name="TextBox 22"/>
          <p:cNvSpPr txBox="1"/>
          <p:nvPr/>
        </p:nvSpPr>
        <p:spPr>
          <a:xfrm>
            <a:off x="4855464" y="4416552"/>
            <a:ext cx="6766560" cy="237744"/>
          </a:xfrm>
          <a:prstGeom prst="rect">
            <a:avLst/>
          </a:prstGeom>
          <a:noFill/>
        </p:spPr>
        <p:txBody>
          <a:bodyPr wrap="square" lIns="0" rIns="0" tIns="0" bIns="0" anchor="t">
            <a:spAutoFit/>
          </a:bodyPr>
          <a:lstStyle/>
          <a:p>
            <a:pPr algn="l">
              <a:spcAft>
                <a:spcPts val="600"/>
              </a:spcAft>
            </a:pPr>
            <a:r>
              <a:rPr sz="1250" b="1" i="0">
                <a:solidFill>
                  <a:srgbClr val="2B2126"/>
                </a:solidFill>
                <a:latin typeface="Calibri"/>
              </a:rPr>
              <a:t>Grade against the same rubric</a:t>
            </a:r>
          </a:p>
        </p:txBody>
      </p:sp>
      <p:sp>
        <p:nvSpPr>
          <p:cNvPr id="24" name="TextBox 23"/>
          <p:cNvSpPr txBox="1"/>
          <p:nvPr/>
        </p:nvSpPr>
        <p:spPr>
          <a:xfrm>
            <a:off x="4855464" y="4663440"/>
            <a:ext cx="676656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Not a separate, easier one</a:t>
            </a:r>
          </a:p>
        </p:txBody>
      </p:sp>
      <p:sp>
        <p:nvSpPr>
          <p:cNvPr id="25" name="Rounded Rectangle 24"/>
          <p:cNvSpPr/>
          <p:nvPr/>
        </p:nvSpPr>
        <p:spPr>
          <a:xfrm>
            <a:off x="566928" y="5230368"/>
            <a:ext cx="11064240" cy="96012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5440680"/>
            <a:ext cx="10424160" cy="59436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Fix the item, not the measurement.  </a:t>
            </a:r>
            <a:r>
              <a:rPr sz="1250" b="0" i="0">
                <a:solidFill>
                  <a:srgbClr val="2B2126"/>
                </a:solidFill>
                <a:latin typeface="Calibri"/>
              </a:rPr>
              <a:t>Do not delete or weaken criteria to force the number down — that produces a thin rubric that fails review later. Add constraints, edge cases, cross-referencing and multi-artifact coordination, then re-run and re-grade.</a:t>
            </a:r>
          </a:p>
        </p:txBody>
      </p:sp>
      <p:sp>
        <p:nvSpPr>
          <p:cNvPr id="27" name="TextBox 26"/>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The percentage is weighted — failing a +3 criterion moves it far more than a +1.</a:t>
            </a:r>
          </a:p>
        </p:txBody>
      </p:sp>
      <p:sp>
        <p:nvSpPr>
          <p:cNvPr id="28" name="TextBox 27"/>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RUBRIC</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A rubric is a list of checkable facts</a:t>
            </a:r>
          </a:p>
        </p:txBody>
      </p:sp>
      <p:sp>
        <p:nvSpPr>
          <p:cNvPr id="5" name="TextBox 4"/>
          <p:cNvSpPr txBox="1"/>
          <p:nvPr/>
        </p:nvSpPr>
        <p:spPr>
          <a:xfrm>
            <a:off x="566928" y="1444752"/>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Not a scoring guide, not guidelines, not a description of what good looks like. Specific statements about the work, each true or false when you look at it.</a:t>
            </a:r>
          </a:p>
        </p:txBody>
      </p:sp>
      <p:sp>
        <p:nvSpPr>
          <p:cNvPr id="6" name="Rounded Rectangle 5"/>
          <p:cNvSpPr/>
          <p:nvPr/>
        </p:nvSpPr>
        <p:spPr>
          <a:xfrm>
            <a:off x="566928" y="1938528"/>
            <a:ext cx="5303520" cy="157276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21408"/>
            <a:ext cx="4754880" cy="237744"/>
          </a:xfrm>
          <a:prstGeom prst="rect">
            <a:avLst/>
          </a:prstGeom>
          <a:noFill/>
        </p:spPr>
        <p:txBody>
          <a:bodyPr wrap="square" lIns="0" rIns="0" tIns="0" bIns="0" anchor="t">
            <a:spAutoFit/>
          </a:bodyPr>
          <a:lstStyle/>
          <a:p>
            <a:pPr algn="l">
              <a:spcAft>
                <a:spcPts val="600"/>
              </a:spcAft>
            </a:pPr>
            <a:r>
              <a:rPr sz="1100" b="1" i="0">
                <a:solidFill>
                  <a:srgbClr val="5F7A61"/>
                </a:solidFill>
                <a:latin typeface="Calibri"/>
              </a:rPr>
              <a:t>A CRITERION</a:t>
            </a:r>
          </a:p>
        </p:txBody>
      </p:sp>
      <p:sp>
        <p:nvSpPr>
          <p:cNvPr id="8" name="TextBox 7"/>
          <p:cNvSpPr txBox="1"/>
          <p:nvPr/>
        </p:nvSpPr>
        <p:spPr>
          <a:xfrm>
            <a:off x="859536" y="2432304"/>
            <a:ext cx="4754880" cy="566928"/>
          </a:xfrm>
          <a:prstGeom prst="rect">
            <a:avLst/>
          </a:prstGeom>
          <a:noFill/>
        </p:spPr>
        <p:txBody>
          <a:bodyPr wrap="square" lIns="0" rIns="0" tIns="0" bIns="0" anchor="t">
            <a:spAutoFit/>
          </a:bodyPr>
          <a:lstStyle/>
          <a:p>
            <a:pPr algn="l">
              <a:lnSpc>
                <a:spcPct val="115000"/>
              </a:lnSpc>
              <a:spcAft>
                <a:spcPts val="600"/>
              </a:spcAft>
            </a:pPr>
            <a:r>
              <a:rPr sz="1400" b="0" i="1">
                <a:solidFill>
                  <a:srgbClr val="2B2126"/>
                </a:solidFill>
                <a:latin typeface="Calibri"/>
              </a:rPr>
              <a:t>“The report includes a section titled Risks.”</a:t>
            </a:r>
          </a:p>
        </p:txBody>
      </p:sp>
      <p:sp>
        <p:nvSpPr>
          <p:cNvPr id="9" name="TextBox 8"/>
          <p:cNvSpPr txBox="1"/>
          <p:nvPr/>
        </p:nvSpPr>
        <p:spPr>
          <a:xfrm>
            <a:off x="859536" y="3127248"/>
            <a:ext cx="4754880" cy="274320"/>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True or false, and everyone who looks will agree.</a:t>
            </a:r>
          </a:p>
        </p:txBody>
      </p:sp>
      <p:sp>
        <p:nvSpPr>
          <p:cNvPr id="10" name="Rounded Rectangle 9"/>
          <p:cNvSpPr/>
          <p:nvPr/>
        </p:nvSpPr>
        <p:spPr>
          <a:xfrm>
            <a:off x="6327648" y="1938528"/>
            <a:ext cx="5303520" cy="157276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0256" y="2121408"/>
            <a:ext cx="4754880" cy="237744"/>
          </a:xfrm>
          <a:prstGeom prst="rect">
            <a:avLst/>
          </a:prstGeom>
          <a:noFill/>
        </p:spPr>
        <p:txBody>
          <a:bodyPr wrap="square" lIns="0" rIns="0" tIns="0" bIns="0" anchor="t">
            <a:spAutoFit/>
          </a:bodyPr>
          <a:lstStyle/>
          <a:p>
            <a:pPr algn="l">
              <a:spcAft>
                <a:spcPts val="600"/>
              </a:spcAft>
            </a:pPr>
            <a:r>
              <a:rPr sz="1100" b="1" i="0">
                <a:solidFill>
                  <a:srgbClr val="6D2E46"/>
                </a:solidFill>
                <a:latin typeface="Calibri"/>
              </a:rPr>
              <a:t>NOT A CRITERION</a:t>
            </a:r>
          </a:p>
        </p:txBody>
      </p:sp>
      <p:sp>
        <p:nvSpPr>
          <p:cNvPr id="12" name="TextBox 11"/>
          <p:cNvSpPr txBox="1"/>
          <p:nvPr/>
        </p:nvSpPr>
        <p:spPr>
          <a:xfrm>
            <a:off x="6620256" y="2432304"/>
            <a:ext cx="4754880" cy="566928"/>
          </a:xfrm>
          <a:prstGeom prst="rect">
            <a:avLst/>
          </a:prstGeom>
          <a:noFill/>
        </p:spPr>
        <p:txBody>
          <a:bodyPr wrap="square" lIns="0" rIns="0" tIns="0" bIns="0" anchor="t">
            <a:spAutoFit/>
          </a:bodyPr>
          <a:lstStyle/>
          <a:p>
            <a:pPr algn="l">
              <a:lnSpc>
                <a:spcPct val="115000"/>
              </a:lnSpc>
              <a:spcAft>
                <a:spcPts val="600"/>
              </a:spcAft>
            </a:pPr>
            <a:r>
              <a:rPr sz="1400" b="0" i="1">
                <a:solidFill>
                  <a:srgbClr val="2B2126"/>
                </a:solidFill>
                <a:latin typeface="Calibri"/>
              </a:rPr>
              <a:t>“The report should be well structured and easy to follow.”</a:t>
            </a:r>
          </a:p>
        </p:txBody>
      </p:sp>
      <p:sp>
        <p:nvSpPr>
          <p:cNvPr id="13" name="TextBox 12"/>
          <p:cNvSpPr txBox="1"/>
          <p:nvPr/>
        </p:nvSpPr>
        <p:spPr>
          <a:xfrm>
            <a:off x="6620256" y="3127248"/>
            <a:ext cx="4754880" cy="274320"/>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This is a hope. Two readers will not mark it the same way.</a:t>
            </a:r>
          </a:p>
        </p:txBody>
      </p:sp>
      <p:sp>
        <p:nvSpPr>
          <p:cNvPr id="14" name="TextBox 13"/>
          <p:cNvSpPr txBox="1"/>
          <p:nvPr/>
        </p:nvSpPr>
        <p:spPr>
          <a:xfrm>
            <a:off x="566928" y="3712463"/>
            <a:ext cx="1106424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WHAT THAT BUYS YOU</a:t>
            </a:r>
          </a:p>
        </p:txBody>
      </p:sp>
      <p:sp>
        <p:nvSpPr>
          <p:cNvPr id="15" name="TextBox 14"/>
          <p:cNvSpPr txBox="1"/>
          <p:nvPr/>
        </p:nvSpPr>
        <p:spPr>
          <a:xfrm>
            <a:off x="566928" y="4059936"/>
            <a:ext cx="2615184" cy="237744"/>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Repeatability</a:t>
            </a:r>
          </a:p>
        </p:txBody>
      </p:sp>
      <p:sp>
        <p:nvSpPr>
          <p:cNvPr id="16" name="TextBox 15"/>
          <p:cNvSpPr txBox="1"/>
          <p:nvPr/>
        </p:nvSpPr>
        <p:spPr>
          <a:xfrm>
            <a:off x="566928" y="4334256"/>
            <a:ext cx="2615184" cy="457200"/>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the same work scores the same from anyone</a:t>
            </a:r>
          </a:p>
        </p:txBody>
      </p:sp>
      <p:sp>
        <p:nvSpPr>
          <p:cNvPr id="17" name="TextBox 16"/>
          <p:cNvSpPr txBox="1"/>
          <p:nvPr/>
        </p:nvSpPr>
        <p:spPr>
          <a:xfrm>
            <a:off x="3374136" y="4059936"/>
            <a:ext cx="2615184" cy="237744"/>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Comparability</a:t>
            </a:r>
          </a:p>
        </p:txBody>
      </p:sp>
      <p:sp>
        <p:nvSpPr>
          <p:cNvPr id="18" name="TextBox 17"/>
          <p:cNvSpPr txBox="1"/>
          <p:nvPr/>
        </p:nvSpPr>
        <p:spPr>
          <a:xfrm>
            <a:off x="3374136" y="4334256"/>
            <a:ext cx="2615184" cy="457200"/>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two runs against one fixed standard — the product</a:t>
            </a:r>
          </a:p>
        </p:txBody>
      </p:sp>
      <p:sp>
        <p:nvSpPr>
          <p:cNvPr id="19" name="TextBox 18"/>
          <p:cNvSpPr txBox="1"/>
          <p:nvPr/>
        </p:nvSpPr>
        <p:spPr>
          <a:xfrm>
            <a:off x="6181344" y="4059936"/>
            <a:ext cx="2615184" cy="237744"/>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A record</a:t>
            </a:r>
          </a:p>
        </p:txBody>
      </p:sp>
      <p:sp>
        <p:nvSpPr>
          <p:cNvPr id="20" name="TextBox 19"/>
          <p:cNvSpPr txBox="1"/>
          <p:nvPr/>
        </p:nvSpPr>
        <p:spPr>
          <a:xfrm>
            <a:off x="6181344" y="4334256"/>
            <a:ext cx="2615184" cy="457200"/>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point at the criterion, not at taste</a:t>
            </a:r>
          </a:p>
        </p:txBody>
      </p:sp>
      <p:sp>
        <p:nvSpPr>
          <p:cNvPr id="21" name="TextBox 20"/>
          <p:cNvSpPr txBox="1"/>
          <p:nvPr/>
        </p:nvSpPr>
        <p:spPr>
          <a:xfrm>
            <a:off x="8988551" y="4059936"/>
            <a:ext cx="2615184" cy="237744"/>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Speed</a:t>
            </a:r>
          </a:p>
        </p:txBody>
      </p:sp>
      <p:sp>
        <p:nvSpPr>
          <p:cNvPr id="22" name="TextBox 21"/>
          <p:cNvSpPr txBox="1"/>
          <p:nvPr/>
        </p:nvSpPr>
        <p:spPr>
          <a:xfrm>
            <a:off x="8988551" y="4334256"/>
            <a:ext cx="2615184" cy="457200"/>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checking facts beats forming an opinion</a:t>
            </a:r>
          </a:p>
        </p:txBody>
      </p:sp>
      <p:sp>
        <p:nvSpPr>
          <p:cNvPr id="23" name="Rounded Rectangle 22"/>
          <p:cNvSpPr/>
          <p:nvPr/>
        </p:nvSpPr>
        <p:spPr>
          <a:xfrm>
            <a:off x="566928" y="4956048"/>
            <a:ext cx="11064240" cy="129844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5138928"/>
            <a:ext cx="10424160" cy="274320"/>
          </a:xfrm>
          <a:prstGeom prst="rect">
            <a:avLst/>
          </a:prstGeom>
          <a:noFill/>
        </p:spPr>
        <p:txBody>
          <a:bodyPr wrap="square" lIns="0" rIns="0" tIns="0" bIns="0" anchor="t">
            <a:spAutoFit/>
          </a:bodyPr>
          <a:lstStyle/>
          <a:p>
            <a:pPr algn="l">
              <a:spcAft>
                <a:spcPts val="600"/>
              </a:spcAft>
            </a:pPr>
            <a:r>
              <a:rPr sz="1350" b="1" i="0">
                <a:solidFill>
                  <a:srgbClr val="6D2E46"/>
                </a:solidFill>
                <a:latin typeface="Calibri"/>
              </a:rPr>
              <a:t>Binary, never scaled</a:t>
            </a:r>
          </a:p>
        </p:txBody>
      </p:sp>
      <p:sp>
        <p:nvSpPr>
          <p:cNvPr id="25" name="TextBox 24"/>
          <p:cNvSpPr txBox="1"/>
          <p:nvPr/>
        </p:nvSpPr>
        <p:spPr>
          <a:xfrm>
            <a:off x="886968" y="5468112"/>
            <a:ext cx="4937760" cy="640080"/>
          </a:xfrm>
          <a:prstGeom prst="rect">
            <a:avLst/>
          </a:prstGeom>
          <a:noFill/>
        </p:spPr>
        <p:txBody>
          <a:bodyPr wrap="square" lIns="0" rIns="0" tIns="0" bIns="0" anchor="t">
            <a:spAutoFit/>
          </a:bodyPr>
          <a:lstStyle/>
          <a:p>
            <a:pPr algn="l">
              <a:lnSpc>
                <a:spcPct val="110000"/>
              </a:lnSpc>
              <a:spcAft>
                <a:spcPts val="600"/>
              </a:spcAft>
            </a:pPr>
            <a:r>
              <a:rPr sz="1200" b="1" i="0">
                <a:solidFill>
                  <a:srgbClr val="6D2E46"/>
                </a:solidFill>
                <a:latin typeface="Calibri"/>
              </a:rPr>
              <a:t>✕  </a:t>
            </a:r>
            <a:r>
              <a:rPr sz="1200" b="0" i="1">
                <a:solidFill>
                  <a:srgbClr val="2B2126"/>
                </a:solidFill>
                <a:latin typeface="Calibri"/>
              </a:rPr>
              <a:t>“Rate the clarity of the summary from 1 to 5.”  </a:t>
            </a:r>
            <a:r>
              <a:rPr sz="1200" b="0" i="0">
                <a:solidFill>
                  <a:srgbClr val="6B6064"/>
                </a:solidFill>
                <a:latin typeface="Calibri"/>
              </a:rPr>
              <a:t>Every reader picks a different number.</a:t>
            </a:r>
          </a:p>
        </p:txBody>
      </p:sp>
      <p:sp>
        <p:nvSpPr>
          <p:cNvPr id="26" name="TextBox 25"/>
          <p:cNvSpPr txBox="1"/>
          <p:nvPr/>
        </p:nvSpPr>
        <p:spPr>
          <a:xfrm>
            <a:off x="6373368" y="5468112"/>
            <a:ext cx="4937760" cy="640080"/>
          </a:xfrm>
          <a:prstGeom prst="rect">
            <a:avLst/>
          </a:prstGeom>
          <a:noFill/>
        </p:spPr>
        <p:txBody>
          <a:bodyPr wrap="square" lIns="0" rIns="0" tIns="0" bIns="0" anchor="t">
            <a:spAutoFit/>
          </a:bodyPr>
          <a:lstStyle/>
          <a:p>
            <a:pPr algn="l">
              <a:lnSpc>
                <a:spcPct val="110000"/>
              </a:lnSpc>
              <a:spcAft>
                <a:spcPts val="600"/>
              </a:spcAft>
            </a:pPr>
            <a:r>
              <a:rPr sz="1200" b="1" i="0">
                <a:solidFill>
                  <a:srgbClr val="5F7A61"/>
                </a:solidFill>
                <a:latin typeface="Calibri"/>
              </a:rPr>
              <a:t>✓  </a:t>
            </a:r>
            <a:r>
              <a:rPr sz="1200" b="0" i="1">
                <a:solidFill>
                  <a:srgbClr val="2B2126"/>
                </a:solidFill>
                <a:latin typeface="Calibri"/>
              </a:rPr>
              <a:t>“The summary is 200 words or fewer.”  </a:t>
            </a:r>
            <a:r>
              <a:rPr sz="1200" b="0" i="0">
                <a:solidFill>
                  <a:srgbClr val="6B6064"/>
                </a:solidFill>
                <a:latin typeface="Calibri"/>
              </a:rPr>
              <a:t>One reader, one answer. Count them.</a:t>
            </a:r>
          </a:p>
        </p:txBody>
      </p:sp>
      <p:sp>
        <p:nvSpPr>
          <p:cNvPr id="27" name="TextBox 26"/>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Wanting a scale usually means two or three binary criteria are hiding in one line.</a:t>
            </a:r>
          </a:p>
        </p:txBody>
      </p:sp>
      <p:sp>
        <p:nvSpPr>
          <p:cNvPr id="28" name="TextBox 27"/>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RUBRIC</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10–30 criteria, each weighted +1 to +3</a:t>
            </a:r>
          </a:p>
        </p:txBody>
      </p:sp>
      <p:sp>
        <p:nvSpPr>
          <p:cNvPr id="5" name="TextBox 4"/>
          <p:cNvSpPr txBox="1"/>
          <p:nvPr/>
        </p:nvSpPr>
        <p:spPr>
          <a:xfrm>
            <a:off x="566928" y="1536192"/>
            <a:ext cx="539496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EVERY CRITERION MUST BE</a:t>
            </a:r>
          </a:p>
        </p:txBody>
      </p:sp>
      <p:sp>
        <p:nvSpPr>
          <p:cNvPr id="6" name="TextBox 5"/>
          <p:cNvSpPr txBox="1"/>
          <p:nvPr/>
        </p:nvSpPr>
        <p:spPr>
          <a:xfrm>
            <a:off x="566928" y="1883664"/>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Binary — </a:t>
            </a:r>
            <a:r>
              <a:rPr sz="1200" b="0" i="0">
                <a:solidFill>
                  <a:srgbClr val="6B6064"/>
                </a:solidFill>
                <a:latin typeface="Calibri"/>
              </a:rPr>
              <a:t>unambiguously pass or fail</a:t>
            </a:r>
          </a:p>
        </p:txBody>
      </p:sp>
      <p:sp>
        <p:nvSpPr>
          <p:cNvPr id="7" name="TextBox 6"/>
          <p:cNvSpPr txBox="1"/>
          <p:nvPr/>
        </p:nvSpPr>
        <p:spPr>
          <a:xfrm>
            <a:off x="566928" y="2359152"/>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Observable — </a:t>
            </a:r>
            <a:r>
              <a:rPr sz="1200" b="0" i="0">
                <a:solidFill>
                  <a:srgbClr val="6B6064"/>
                </a:solidFill>
                <a:latin typeface="Calibri"/>
              </a:rPr>
              <a:t>in the artifact or transcript — never in reasoning</a:t>
            </a:r>
          </a:p>
        </p:txBody>
      </p:sp>
      <p:sp>
        <p:nvSpPr>
          <p:cNvPr id="8" name="TextBox 7"/>
          <p:cNvSpPr txBox="1"/>
          <p:nvPr/>
        </p:nvSpPr>
        <p:spPr>
          <a:xfrm>
            <a:off x="566928" y="2834640"/>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Product-independent — </a:t>
            </a:r>
            <a:r>
              <a:rPr sz="1200" b="0" i="0">
                <a:solidFill>
                  <a:srgbClr val="6B6064"/>
                </a:solidFill>
                <a:latin typeface="Calibri"/>
              </a:rPr>
              <a:t>no product name, no interface quirk</a:t>
            </a:r>
          </a:p>
        </p:txBody>
      </p:sp>
      <p:sp>
        <p:nvSpPr>
          <p:cNvPr id="9" name="TextBox 8"/>
          <p:cNvSpPr txBox="1"/>
          <p:nvPr/>
        </p:nvSpPr>
        <p:spPr>
          <a:xfrm>
            <a:off x="566928" y="3310128"/>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Atomic — </a:t>
            </a:r>
            <a:r>
              <a:rPr sz="1200" b="0" i="0">
                <a:solidFill>
                  <a:srgbClr val="6B6064"/>
                </a:solidFill>
                <a:latin typeface="Calibri"/>
              </a:rPr>
              <a:t>one requirement each, no “and” chains</a:t>
            </a:r>
          </a:p>
        </p:txBody>
      </p:sp>
      <p:sp>
        <p:nvSpPr>
          <p:cNvPr id="10" name="TextBox 9"/>
          <p:cNvSpPr txBox="1"/>
          <p:nvPr/>
        </p:nvSpPr>
        <p:spPr>
          <a:xfrm>
            <a:off x="566928" y="3785616"/>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Positive — </a:t>
            </a:r>
            <a:r>
              <a:rPr sz="1200" b="0" i="0">
                <a:solidFill>
                  <a:srgbClr val="6B6064"/>
                </a:solidFill>
                <a:latin typeface="Calibri"/>
              </a:rPr>
              <a:t>States / Includes / Reports / Provides</a:t>
            </a:r>
          </a:p>
        </p:txBody>
      </p:sp>
      <p:sp>
        <p:nvSpPr>
          <p:cNvPr id="11" name="TextBox 10"/>
          <p:cNvSpPr txBox="1"/>
          <p:nvPr/>
        </p:nvSpPr>
        <p:spPr>
          <a:xfrm>
            <a:off x="566928" y="4261104"/>
            <a:ext cx="5394960" cy="420624"/>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  </a:t>
            </a:r>
            <a:r>
              <a:rPr sz="1200" b="1" i="0">
                <a:solidFill>
                  <a:srgbClr val="2B2126"/>
                </a:solidFill>
                <a:latin typeface="Calibri"/>
              </a:rPr>
              <a:t>Self-contained — </a:t>
            </a:r>
            <a:r>
              <a:rPr sz="1200" b="0" i="0">
                <a:solidFill>
                  <a:srgbClr val="6B6064"/>
                </a:solidFill>
                <a:latin typeface="Calibri"/>
              </a:rPr>
              <a:t>decidable with only the prompt and input files</a:t>
            </a:r>
          </a:p>
        </p:txBody>
      </p:sp>
      <p:sp>
        <p:nvSpPr>
          <p:cNvPr id="12" name="TextBox 11"/>
          <p:cNvSpPr txBox="1"/>
          <p:nvPr/>
        </p:nvSpPr>
        <p:spPr>
          <a:xfrm>
            <a:off x="6327648" y="1536192"/>
            <a:ext cx="530352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WEIGHTING</a:t>
            </a:r>
          </a:p>
        </p:txBody>
      </p:sp>
      <p:sp>
        <p:nvSpPr>
          <p:cNvPr id="13" name="Rounded Rectangle 12"/>
          <p:cNvSpPr/>
          <p:nvPr/>
        </p:nvSpPr>
        <p:spPr>
          <a:xfrm>
            <a:off x="6327648" y="1883664"/>
            <a:ext cx="5303520" cy="694944"/>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28816" y="2020824"/>
            <a:ext cx="566928" cy="402336"/>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2103120"/>
            <a:ext cx="566928" cy="256032"/>
          </a:xfrm>
          <a:prstGeom prst="rect">
            <a:avLst/>
          </a:prstGeom>
          <a:noFill/>
        </p:spPr>
        <p:txBody>
          <a:bodyPr wrap="square" lIns="0" rIns="0" tIns="0" bIns="0" anchor="t">
            <a:spAutoFit/>
          </a:bodyPr>
          <a:lstStyle/>
          <a:p>
            <a:pPr algn="ctr">
              <a:spcAft>
                <a:spcPts val="600"/>
              </a:spcAft>
            </a:pPr>
            <a:r>
              <a:rPr sz="1500" b="1" i="0">
                <a:solidFill>
                  <a:srgbClr val="FFFFFF"/>
                </a:solidFill>
                <a:latin typeface="Cambria"/>
              </a:rPr>
              <a:t>+3</a:t>
            </a:r>
          </a:p>
        </p:txBody>
      </p:sp>
      <p:sp>
        <p:nvSpPr>
          <p:cNvPr id="16" name="TextBox 15"/>
          <p:cNvSpPr txBox="1"/>
          <p:nvPr/>
        </p:nvSpPr>
        <p:spPr>
          <a:xfrm>
            <a:off x="7260336" y="2002536"/>
            <a:ext cx="4114800"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Essential</a:t>
            </a:r>
          </a:p>
        </p:txBody>
      </p:sp>
      <p:sp>
        <p:nvSpPr>
          <p:cNvPr id="17" name="TextBox 16"/>
          <p:cNvSpPr txBox="1"/>
          <p:nvPr/>
        </p:nvSpPr>
        <p:spPr>
          <a:xfrm>
            <a:off x="7260336" y="2249424"/>
            <a:ext cx="420624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Failure means the user's goal is not completed</a:t>
            </a:r>
          </a:p>
        </p:txBody>
      </p:sp>
      <p:sp>
        <p:nvSpPr>
          <p:cNvPr id="18" name="Rounded Rectangle 17"/>
          <p:cNvSpPr/>
          <p:nvPr/>
        </p:nvSpPr>
        <p:spPr>
          <a:xfrm>
            <a:off x="6327648" y="2761488"/>
            <a:ext cx="5303520" cy="694944"/>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28816" y="2898648"/>
            <a:ext cx="566928" cy="402336"/>
          </a:xfrm>
          <a:prstGeom prst="roundRect">
            <a:avLst>
              <a:gd name="adj" fmla="val 6000"/>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8816" y="2980944"/>
            <a:ext cx="566928" cy="256032"/>
          </a:xfrm>
          <a:prstGeom prst="rect">
            <a:avLst/>
          </a:prstGeom>
          <a:noFill/>
        </p:spPr>
        <p:txBody>
          <a:bodyPr wrap="square" lIns="0" rIns="0" tIns="0" bIns="0" anchor="t">
            <a:spAutoFit/>
          </a:bodyPr>
          <a:lstStyle/>
          <a:p>
            <a:pPr algn="ctr">
              <a:spcAft>
                <a:spcPts val="600"/>
              </a:spcAft>
            </a:pPr>
            <a:r>
              <a:rPr sz="1500" b="1" i="0">
                <a:solidFill>
                  <a:srgbClr val="FFFFFF"/>
                </a:solidFill>
                <a:latin typeface="Cambria"/>
              </a:rPr>
              <a:t>+2</a:t>
            </a:r>
          </a:p>
        </p:txBody>
      </p:sp>
      <p:sp>
        <p:nvSpPr>
          <p:cNvPr id="21" name="TextBox 20"/>
          <p:cNvSpPr txBox="1"/>
          <p:nvPr/>
        </p:nvSpPr>
        <p:spPr>
          <a:xfrm>
            <a:off x="7260336" y="2880360"/>
            <a:ext cx="4114800" cy="237744"/>
          </a:xfrm>
          <a:prstGeom prst="rect">
            <a:avLst/>
          </a:prstGeom>
          <a:noFill/>
        </p:spPr>
        <p:txBody>
          <a:bodyPr wrap="square" lIns="0" rIns="0" tIns="0" bIns="0" anchor="t">
            <a:spAutoFit/>
          </a:bodyPr>
          <a:lstStyle/>
          <a:p>
            <a:pPr algn="l">
              <a:spcAft>
                <a:spcPts val="600"/>
              </a:spcAft>
            </a:pPr>
            <a:r>
              <a:rPr sz="1250" b="1" i="0">
                <a:solidFill>
                  <a:srgbClr val="A26769"/>
                </a:solidFill>
                <a:latin typeface="Calibri"/>
              </a:rPr>
              <a:t>Important</a:t>
            </a:r>
          </a:p>
        </p:txBody>
      </p:sp>
      <p:sp>
        <p:nvSpPr>
          <p:cNvPr id="22" name="TextBox 21"/>
          <p:cNvSpPr txBox="1"/>
          <p:nvPr/>
        </p:nvSpPr>
        <p:spPr>
          <a:xfrm>
            <a:off x="7260336" y="3127248"/>
            <a:ext cx="420624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The output is unusable as delivered without it</a:t>
            </a:r>
          </a:p>
        </p:txBody>
      </p:sp>
      <p:sp>
        <p:nvSpPr>
          <p:cNvPr id="23" name="Rounded Rectangle 22"/>
          <p:cNvSpPr/>
          <p:nvPr/>
        </p:nvSpPr>
        <p:spPr>
          <a:xfrm>
            <a:off x="6327648" y="3639312"/>
            <a:ext cx="5303520" cy="694944"/>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28816" y="3776472"/>
            <a:ext cx="566928" cy="402336"/>
          </a:xfrm>
          <a:prstGeom prst="roundRect">
            <a:avLst>
              <a:gd name="adj" fmla="val 6000"/>
            </a:avLst>
          </a:prstGeom>
          <a:solidFill>
            <a:srgbClr val="8A6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3858768"/>
            <a:ext cx="566928" cy="256032"/>
          </a:xfrm>
          <a:prstGeom prst="rect">
            <a:avLst/>
          </a:prstGeom>
          <a:noFill/>
        </p:spPr>
        <p:txBody>
          <a:bodyPr wrap="square" lIns="0" rIns="0" tIns="0" bIns="0" anchor="t">
            <a:spAutoFit/>
          </a:bodyPr>
          <a:lstStyle/>
          <a:p>
            <a:pPr algn="ctr">
              <a:spcAft>
                <a:spcPts val="600"/>
              </a:spcAft>
            </a:pPr>
            <a:r>
              <a:rPr sz="1500" b="1" i="0">
                <a:solidFill>
                  <a:srgbClr val="FFFFFF"/>
                </a:solidFill>
                <a:latin typeface="Cambria"/>
              </a:rPr>
              <a:t>+1</a:t>
            </a:r>
          </a:p>
        </p:txBody>
      </p:sp>
      <p:sp>
        <p:nvSpPr>
          <p:cNvPr id="26" name="TextBox 25"/>
          <p:cNvSpPr txBox="1"/>
          <p:nvPr/>
        </p:nvSpPr>
        <p:spPr>
          <a:xfrm>
            <a:off x="7260336" y="3758184"/>
            <a:ext cx="4114800" cy="237744"/>
          </a:xfrm>
          <a:prstGeom prst="rect">
            <a:avLst/>
          </a:prstGeom>
          <a:noFill/>
        </p:spPr>
        <p:txBody>
          <a:bodyPr wrap="square" lIns="0" rIns="0" tIns="0" bIns="0" anchor="t">
            <a:spAutoFit/>
          </a:bodyPr>
          <a:lstStyle/>
          <a:p>
            <a:pPr algn="l">
              <a:spcAft>
                <a:spcPts val="600"/>
              </a:spcAft>
            </a:pPr>
            <a:r>
              <a:rPr sz="1250" b="1" i="0">
                <a:solidFill>
                  <a:srgbClr val="8A6B0F"/>
                </a:solidFill>
                <a:latin typeface="Calibri"/>
              </a:rPr>
              <a:t>Minor positive</a:t>
            </a:r>
          </a:p>
        </p:txBody>
      </p:sp>
      <p:sp>
        <p:nvSpPr>
          <p:cNvPr id="27" name="TextBox 26"/>
          <p:cNvSpPr txBox="1"/>
          <p:nvPr/>
        </p:nvSpPr>
        <p:spPr>
          <a:xfrm>
            <a:off x="7260336" y="4005072"/>
            <a:ext cx="4206240" cy="237744"/>
          </a:xfrm>
          <a:prstGeom prst="rect">
            <a:avLst/>
          </a:prstGeom>
          <a:noFill/>
        </p:spPr>
        <p:txBody>
          <a:bodyPr wrap="square" lIns="0" rIns="0" tIns="0" bIns="0" anchor="t">
            <a:spAutoFit/>
          </a:bodyPr>
          <a:lstStyle/>
          <a:p>
            <a:pPr algn="l">
              <a:spcAft>
                <a:spcPts val="600"/>
              </a:spcAft>
            </a:pPr>
            <a:r>
              <a:rPr sz="1100" b="0" i="0">
                <a:solidFill>
                  <a:srgbClr val="6B6064"/>
                </a:solidFill>
                <a:latin typeface="Calibri"/>
              </a:rPr>
              <a:t>A nice-to-have; the task is still fulfilled</a:t>
            </a:r>
          </a:p>
        </p:txBody>
      </p:sp>
      <p:sp>
        <p:nvSpPr>
          <p:cNvPr id="28" name="Rounded Rectangle 27"/>
          <p:cNvSpPr/>
          <p:nvPr/>
        </p:nvSpPr>
        <p:spPr>
          <a:xfrm>
            <a:off x="566928" y="4864608"/>
            <a:ext cx="11064240" cy="129844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5047488"/>
            <a:ext cx="10424160" cy="320040"/>
          </a:xfrm>
          <a:prstGeom prst="rect">
            <a:avLst/>
          </a:prstGeom>
          <a:noFill/>
        </p:spPr>
        <p:txBody>
          <a:bodyPr wrap="square" lIns="0" rIns="0" tIns="0" bIns="0" anchor="t">
            <a:spAutoFit/>
          </a:bodyPr>
          <a:lstStyle/>
          <a:p>
            <a:pPr algn="l">
              <a:spcAft>
                <a:spcPts val="600"/>
              </a:spcAft>
            </a:pPr>
            <a:r>
              <a:rPr sz="1350" b="1" i="0">
                <a:solidFill>
                  <a:srgbClr val="6D2E46"/>
                </a:solidFill>
                <a:latin typeface="Calibri"/>
              </a:rPr>
              <a:t>Run the “looks-correct-but-wrong” test on every rubric</a:t>
            </a:r>
          </a:p>
        </p:txBody>
      </p:sp>
      <p:sp>
        <p:nvSpPr>
          <p:cNvPr id="30" name="TextBox 29"/>
          <p:cNvSpPr txBox="1"/>
          <p:nvPr/>
        </p:nvSpPr>
        <p:spPr>
          <a:xfrm>
            <a:off x="886968" y="5394960"/>
            <a:ext cx="10424160" cy="640080"/>
          </a:xfrm>
          <a:prstGeom prst="rect">
            <a:avLst/>
          </a:prstGeom>
          <a:noFill/>
        </p:spPr>
        <p:txBody>
          <a:bodyPr wrap="square" lIns="0" rIns="0" tIns="0" bIns="0" anchor="t">
            <a:spAutoFit/>
          </a:bodyPr>
          <a:lstStyle/>
          <a:p>
            <a:pPr algn="l">
              <a:lnSpc>
                <a:spcPct val="110000"/>
              </a:lnSpc>
              <a:spcAft>
                <a:spcPts val="600"/>
              </a:spcAft>
            </a:pPr>
            <a:r>
              <a:rPr sz="1200" b="0" i="0">
                <a:solidFill>
                  <a:srgbClr val="2B2126"/>
                </a:solidFill>
                <a:latin typeface="Calibri"/>
              </a:rPr>
              <a:t>Describe one output that would look entirely plausible yet should fail — right numbers but the draft was sent; a figure computed from a stale source; a fabricated name that reads like a real one. If your rubric would not catch it, add the criterion that does. This catches more rubric gaps than anything else.</a:t>
            </a:r>
          </a:p>
        </p:txBody>
      </p:sp>
      <p:sp>
        <p:nvSpPr>
          <p:cNvPr id="31" name="TextBox 30"/>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Weight inflation is the common failure — if most of your list is a +3, the weights distinguish nothing.</a:t>
            </a:r>
          </a:p>
        </p:txBody>
      </p:sp>
      <p:sp>
        <p:nvSpPr>
          <p:cNvPr id="32" name="TextBox 31"/>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ORDER OF WORK</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Work the task before you write a single criterion</a:t>
            </a:r>
          </a:p>
        </p:txBody>
      </p:sp>
      <p:sp>
        <p:nvSpPr>
          <p:cNvPr id="5" name="TextBox 4"/>
          <p:cNvSpPr txBox="1"/>
          <p:nvPr/>
        </p:nvSpPr>
        <p:spPr>
          <a:xfrm>
            <a:off x="566928" y="1444752"/>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The order is fixed, and it is the part most often skipped. You cannot write a rubric against an imagined result.</a:t>
            </a:r>
          </a:p>
        </p:txBody>
      </p:sp>
      <p:sp>
        <p:nvSpPr>
          <p:cNvPr id="6" name="Rounded Rectangle 5"/>
          <p:cNvSpPr/>
          <p:nvPr/>
        </p:nvSpPr>
        <p:spPr>
          <a:xfrm>
            <a:off x="566928" y="1920240"/>
            <a:ext cx="2596896" cy="2148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2139696"/>
            <a:ext cx="365760" cy="36576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a:t>
            </a:r>
          </a:p>
        </p:txBody>
      </p:sp>
      <p:sp>
        <p:nvSpPr>
          <p:cNvPr id="8" name="TextBox 7"/>
          <p:cNvSpPr txBox="1"/>
          <p:nvPr/>
        </p:nvSpPr>
        <p:spPr>
          <a:xfrm>
            <a:off x="1261872" y="2212848"/>
            <a:ext cx="173736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First</a:t>
            </a:r>
          </a:p>
        </p:txBody>
      </p:sp>
      <p:sp>
        <p:nvSpPr>
          <p:cNvPr id="9" name="TextBox 8"/>
          <p:cNvSpPr txBox="1"/>
          <p:nvPr/>
        </p:nvSpPr>
        <p:spPr>
          <a:xfrm>
            <a:off x="804672" y="2670048"/>
            <a:ext cx="2157984" cy="566928"/>
          </a:xfrm>
          <a:prstGeom prst="rect">
            <a:avLst/>
          </a:prstGeom>
          <a:noFill/>
        </p:spPr>
        <p:txBody>
          <a:bodyPr wrap="square" lIns="0" rIns="0" tIns="0" bIns="0" anchor="t">
            <a:spAutoFit/>
          </a:bodyPr>
          <a:lstStyle/>
          <a:p>
            <a:pPr algn="l">
              <a:lnSpc>
                <a:spcPct val="105000"/>
              </a:lnSpc>
              <a:spcAft>
                <a:spcPts val="600"/>
              </a:spcAft>
            </a:pPr>
            <a:r>
              <a:rPr sz="1300" b="1" i="0">
                <a:solidFill>
                  <a:srgbClr val="6D2E46"/>
                </a:solidFill>
                <a:latin typeface="Calibri"/>
              </a:rPr>
              <a:t>Define the intent and the opening prompt</a:t>
            </a:r>
          </a:p>
        </p:txBody>
      </p:sp>
      <p:sp>
        <p:nvSpPr>
          <p:cNvPr id="10" name="TextBox 9"/>
          <p:cNvSpPr txBox="1"/>
          <p:nvPr/>
        </p:nvSpPr>
        <p:spPr>
          <a:xfrm>
            <a:off x="804672" y="3310128"/>
            <a:ext cx="2157984" cy="658368"/>
          </a:xfrm>
          <a:prstGeom prst="rect">
            <a:avLst/>
          </a:prstGeom>
          <a:noFill/>
        </p:spPr>
        <p:txBody>
          <a:bodyPr wrap="square" lIns="0" rIns="0" tIns="0" bIns="0" anchor="t">
            <a:spAutoFit/>
          </a:bodyPr>
          <a:lstStyle/>
          <a:p>
            <a:pPr algn="l">
              <a:lnSpc>
                <a:spcPct val="105000"/>
              </a:lnSpc>
              <a:spcAft>
                <a:spcPts val="600"/>
              </a:spcAft>
            </a:pPr>
            <a:r>
              <a:rPr sz="1100" b="0" i="0">
                <a:solidFill>
                  <a:srgbClr val="6B6064"/>
                </a:solidFill>
                <a:latin typeface="Calibri"/>
              </a:rPr>
              <a:t>The concrete deliverable a real user would pay for.</a:t>
            </a:r>
          </a:p>
        </p:txBody>
      </p:sp>
      <p:sp>
        <p:nvSpPr>
          <p:cNvPr id="11" name="Rounded Rectangle 10"/>
          <p:cNvSpPr/>
          <p:nvPr/>
        </p:nvSpPr>
        <p:spPr>
          <a:xfrm>
            <a:off x="3374136" y="1920240"/>
            <a:ext cx="2596896" cy="2148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139696"/>
            <a:ext cx="365760" cy="36576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2</a:t>
            </a:r>
          </a:p>
        </p:txBody>
      </p:sp>
      <p:sp>
        <p:nvSpPr>
          <p:cNvPr id="13" name="TextBox 12"/>
          <p:cNvSpPr txBox="1"/>
          <p:nvPr/>
        </p:nvSpPr>
        <p:spPr>
          <a:xfrm>
            <a:off x="4069080" y="2212848"/>
            <a:ext cx="173736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Then</a:t>
            </a:r>
          </a:p>
        </p:txBody>
      </p:sp>
      <p:sp>
        <p:nvSpPr>
          <p:cNvPr id="14" name="TextBox 13"/>
          <p:cNvSpPr txBox="1"/>
          <p:nvPr/>
        </p:nvSpPr>
        <p:spPr>
          <a:xfrm>
            <a:off x="3611880" y="2670048"/>
            <a:ext cx="2157984" cy="566928"/>
          </a:xfrm>
          <a:prstGeom prst="rect">
            <a:avLst/>
          </a:prstGeom>
          <a:noFill/>
        </p:spPr>
        <p:txBody>
          <a:bodyPr wrap="square" lIns="0" rIns="0" tIns="0" bIns="0" anchor="t">
            <a:spAutoFit/>
          </a:bodyPr>
          <a:lstStyle/>
          <a:p>
            <a:pPr algn="l">
              <a:lnSpc>
                <a:spcPct val="105000"/>
              </a:lnSpc>
              <a:spcAft>
                <a:spcPts val="600"/>
              </a:spcAft>
            </a:pPr>
            <a:r>
              <a:rPr sz="1300" b="1" i="0">
                <a:solidFill>
                  <a:srgbClr val="6D2E46"/>
                </a:solidFill>
                <a:latin typeface="Calibri"/>
              </a:rPr>
              <a:t>Run the task live, on more than one model</a:t>
            </a:r>
          </a:p>
        </p:txBody>
      </p:sp>
      <p:sp>
        <p:nvSpPr>
          <p:cNvPr id="15" name="TextBox 14"/>
          <p:cNvSpPr txBox="1"/>
          <p:nvPr/>
        </p:nvSpPr>
        <p:spPr>
          <a:xfrm>
            <a:off x="3611880" y="3310128"/>
            <a:ext cx="2157984" cy="658368"/>
          </a:xfrm>
          <a:prstGeom prst="rect">
            <a:avLst/>
          </a:prstGeom>
          <a:noFill/>
        </p:spPr>
        <p:txBody>
          <a:bodyPr wrap="square" lIns="0" rIns="0" tIns="0" bIns="0" anchor="t">
            <a:spAutoFit/>
          </a:bodyPr>
          <a:lstStyle/>
          <a:p>
            <a:pPr algn="l">
              <a:lnSpc>
                <a:spcPct val="105000"/>
              </a:lnSpc>
              <a:spcAft>
                <a:spcPts val="600"/>
              </a:spcAft>
            </a:pPr>
            <a:r>
              <a:rPr sz="1100" b="0" i="0">
                <a:solidFill>
                  <a:srgbClr val="6B6064"/>
                </a:solidFill>
                <a:latin typeface="Calibri"/>
              </a:rPr>
              <a:t>Several turns. You are looking for how the task actually behaves.</a:t>
            </a:r>
          </a:p>
        </p:txBody>
      </p:sp>
      <p:sp>
        <p:nvSpPr>
          <p:cNvPr id="16" name="Rounded Rectangle 15"/>
          <p:cNvSpPr/>
          <p:nvPr/>
        </p:nvSpPr>
        <p:spPr>
          <a:xfrm>
            <a:off x="6181344" y="1920240"/>
            <a:ext cx="2596896" cy="2148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19088" y="2139696"/>
            <a:ext cx="365760" cy="36576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3</a:t>
            </a:r>
          </a:p>
        </p:txBody>
      </p:sp>
      <p:sp>
        <p:nvSpPr>
          <p:cNvPr id="18" name="TextBox 17"/>
          <p:cNvSpPr txBox="1"/>
          <p:nvPr/>
        </p:nvSpPr>
        <p:spPr>
          <a:xfrm>
            <a:off x="6876288" y="2212848"/>
            <a:ext cx="173736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Then</a:t>
            </a:r>
          </a:p>
        </p:txBody>
      </p:sp>
      <p:sp>
        <p:nvSpPr>
          <p:cNvPr id="19" name="TextBox 18"/>
          <p:cNvSpPr txBox="1"/>
          <p:nvPr/>
        </p:nvSpPr>
        <p:spPr>
          <a:xfrm>
            <a:off x="6419088" y="2670048"/>
            <a:ext cx="2157984" cy="566928"/>
          </a:xfrm>
          <a:prstGeom prst="rect">
            <a:avLst/>
          </a:prstGeom>
          <a:noFill/>
        </p:spPr>
        <p:txBody>
          <a:bodyPr wrap="square" lIns="0" rIns="0" tIns="0" bIns="0" anchor="t">
            <a:spAutoFit/>
          </a:bodyPr>
          <a:lstStyle/>
          <a:p>
            <a:pPr algn="l">
              <a:lnSpc>
                <a:spcPct val="105000"/>
              </a:lnSpc>
              <a:spcAft>
                <a:spcPts val="600"/>
              </a:spcAft>
            </a:pPr>
            <a:r>
              <a:rPr sz="1300" b="1" i="0">
                <a:solidFill>
                  <a:srgbClr val="6D2E46"/>
                </a:solidFill>
                <a:latin typeface="Calibri"/>
              </a:rPr>
              <a:t>Fix the target outcome</a:t>
            </a:r>
          </a:p>
        </p:txBody>
      </p:sp>
      <p:sp>
        <p:nvSpPr>
          <p:cNvPr id="20" name="TextBox 19"/>
          <p:cNvSpPr txBox="1"/>
          <p:nvPr/>
        </p:nvSpPr>
        <p:spPr>
          <a:xfrm>
            <a:off x="6419088" y="3310128"/>
            <a:ext cx="2157984" cy="658368"/>
          </a:xfrm>
          <a:prstGeom prst="rect">
            <a:avLst/>
          </a:prstGeom>
          <a:noFill/>
        </p:spPr>
        <p:txBody>
          <a:bodyPr wrap="square" lIns="0" rIns="0" tIns="0" bIns="0" anchor="t">
            <a:spAutoFit/>
          </a:bodyPr>
          <a:lstStyle/>
          <a:p>
            <a:pPr algn="l">
              <a:lnSpc>
                <a:spcPct val="105000"/>
              </a:lnSpc>
              <a:spcAft>
                <a:spcPts val="600"/>
              </a:spcAft>
            </a:pPr>
            <a:r>
              <a:rPr sz="1100" b="0" i="0">
                <a:solidFill>
                  <a:srgbClr val="6B6064"/>
                </a:solidFill>
                <a:latin typeface="Calibri"/>
              </a:rPr>
              <a:t>The reference final state. This becomes the anchor for everything scored.</a:t>
            </a:r>
          </a:p>
        </p:txBody>
      </p:sp>
      <p:sp>
        <p:nvSpPr>
          <p:cNvPr id="21" name="Rounded Rectangle 20"/>
          <p:cNvSpPr/>
          <p:nvPr/>
        </p:nvSpPr>
        <p:spPr>
          <a:xfrm>
            <a:off x="8988551" y="1920240"/>
            <a:ext cx="2596896" cy="214884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26295" y="2139696"/>
            <a:ext cx="365760" cy="36576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4</a:t>
            </a:r>
          </a:p>
        </p:txBody>
      </p:sp>
      <p:sp>
        <p:nvSpPr>
          <p:cNvPr id="23" name="TextBox 22"/>
          <p:cNvSpPr txBox="1"/>
          <p:nvPr/>
        </p:nvSpPr>
        <p:spPr>
          <a:xfrm>
            <a:off x="9683495" y="2212848"/>
            <a:ext cx="173736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Only then</a:t>
            </a:r>
          </a:p>
        </p:txBody>
      </p:sp>
      <p:sp>
        <p:nvSpPr>
          <p:cNvPr id="24" name="TextBox 23"/>
          <p:cNvSpPr txBox="1"/>
          <p:nvPr/>
        </p:nvSpPr>
        <p:spPr>
          <a:xfrm>
            <a:off x="9226295" y="2670048"/>
            <a:ext cx="2157984" cy="566928"/>
          </a:xfrm>
          <a:prstGeom prst="rect">
            <a:avLst/>
          </a:prstGeom>
          <a:noFill/>
        </p:spPr>
        <p:txBody>
          <a:bodyPr wrap="square" lIns="0" rIns="0" tIns="0" bIns="0" anchor="t">
            <a:spAutoFit/>
          </a:bodyPr>
          <a:lstStyle/>
          <a:p>
            <a:pPr algn="l">
              <a:lnSpc>
                <a:spcPct val="105000"/>
              </a:lnSpc>
              <a:spcAft>
                <a:spcPts val="600"/>
              </a:spcAft>
            </a:pPr>
            <a:r>
              <a:rPr sz="1300" b="1" i="0">
                <a:solidFill>
                  <a:srgbClr val="6D2E46"/>
                </a:solidFill>
                <a:latin typeface="Calibri"/>
              </a:rPr>
              <a:t>Write the criteria against it</a:t>
            </a:r>
          </a:p>
        </p:txBody>
      </p:sp>
      <p:sp>
        <p:nvSpPr>
          <p:cNvPr id="25" name="TextBox 24"/>
          <p:cNvSpPr txBox="1"/>
          <p:nvPr/>
        </p:nvSpPr>
        <p:spPr>
          <a:xfrm>
            <a:off x="9226295" y="3310128"/>
            <a:ext cx="2157984" cy="658368"/>
          </a:xfrm>
          <a:prstGeom prst="rect">
            <a:avLst/>
          </a:prstGeom>
          <a:noFill/>
        </p:spPr>
        <p:txBody>
          <a:bodyPr wrap="square" lIns="0" rIns="0" tIns="0" bIns="0" anchor="t">
            <a:spAutoFit/>
          </a:bodyPr>
          <a:lstStyle/>
          <a:p>
            <a:pPr algn="l">
              <a:lnSpc>
                <a:spcPct val="105000"/>
              </a:lnSpc>
              <a:spcAft>
                <a:spcPts val="600"/>
              </a:spcAft>
            </a:pPr>
            <a:r>
              <a:rPr sz="1100" b="0" i="0">
                <a:solidFill>
                  <a:srgbClr val="6B6064"/>
                </a:solidFill>
                <a:latin typeface="Calibri"/>
              </a:rPr>
              <a:t>The target outcome is what makes a criterion checkable.</a:t>
            </a:r>
          </a:p>
        </p:txBody>
      </p:sp>
      <p:sp>
        <p:nvSpPr>
          <p:cNvPr id="26" name="Rounded Rectangle 25"/>
          <p:cNvSpPr/>
          <p:nvPr/>
        </p:nvSpPr>
        <p:spPr>
          <a:xfrm>
            <a:off x="566928" y="4279392"/>
            <a:ext cx="11064240" cy="987552"/>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480560"/>
            <a:ext cx="10424160" cy="64008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The person applying your rubric has never seen your reasoning.  </a:t>
            </a:r>
            <a:r>
              <a:rPr sz="1250" b="0" i="0">
                <a:solidFill>
                  <a:srgbClr val="2B2126"/>
                </a:solidFill>
                <a:latin typeface="Calibri"/>
              </a:rPr>
              <a:t>They were not there when you worked the task, and they are reading your criteria for the first time after the conversations are finished. A criterion cannot lean on anything that stayed in your head.</a:t>
            </a:r>
          </a:p>
        </p:txBody>
      </p:sp>
      <p:sp>
        <p:nvSpPr>
          <p:cNvPr id="28" name="TextBox 27"/>
          <p:cNvSpPr txBox="1"/>
          <p:nvPr/>
        </p:nvSpPr>
        <p:spPr>
          <a:xfrm>
            <a:off x="566928" y="5468112"/>
            <a:ext cx="11064240" cy="640080"/>
          </a:xfrm>
          <a:prstGeom prst="rect">
            <a:avLst/>
          </a:prstGeom>
          <a:noFill/>
        </p:spPr>
        <p:txBody>
          <a:bodyPr wrap="square" lIns="0" rIns="0" tIns="0" bIns="0" anchor="t">
            <a:spAutoFit/>
          </a:bodyPr>
          <a:lstStyle/>
          <a:p>
            <a:pPr algn="l">
              <a:lnSpc>
                <a:spcPct val="110000"/>
              </a:lnSpc>
              <a:spcAft>
                <a:spcPts val="600"/>
              </a:spcAft>
            </a:pPr>
            <a:r>
              <a:rPr sz="1200" b="1" i="0">
                <a:solidFill>
                  <a:srgbClr val="A26769"/>
                </a:solidFill>
                <a:latin typeface="Calibri"/>
              </a:rPr>
              <a:t>Traceability.  </a:t>
            </a:r>
            <a:r>
              <a:rPr sz="1200" b="0" i="0">
                <a:solidFill>
                  <a:srgbClr val="6B6064"/>
                </a:solidFill>
                <a:latin typeface="Calibri"/>
              </a:rPr>
              <a:t>Every value, filename, recipient and date should trace to the target outcome and GTFA you fixed. “Reports the net distribution as $7,626.60” is only writable because you worked the task and know the number — skip the live pass and you write “calculates the correct net distribution”, which nobody downstream can apply.</a:t>
            </a:r>
          </a:p>
        </p:txBody>
      </p:sp>
      <p:sp>
        <p:nvSpPr>
          <p:cNvPr id="29" name="TextBox 28"/>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30" name="TextBox 29"/>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WHAT REVIEWERS FIND</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Where rubrics actually fail</a:t>
            </a:r>
          </a:p>
        </p:txBody>
      </p:sp>
      <p:sp>
        <p:nvSpPr>
          <p:cNvPr id="5" name="TextBox 4"/>
          <p:cNvSpPr txBox="1"/>
          <p:nvPr/>
        </p:nvSpPr>
        <p:spPr>
          <a:xfrm>
            <a:off x="566928" y="1463040"/>
            <a:ext cx="6675120" cy="502920"/>
          </a:xfrm>
          <a:prstGeom prst="rect">
            <a:avLst/>
          </a:prstGeom>
          <a:noFill/>
        </p:spPr>
        <p:txBody>
          <a:bodyPr wrap="square" lIns="0" rIns="0" tIns="0" bIns="0" anchor="t">
            <a:spAutoFit/>
          </a:bodyPr>
          <a:lstStyle/>
          <a:p>
            <a:pPr algn="l">
              <a:lnSpc>
                <a:spcPct val="110000"/>
              </a:lnSpc>
              <a:spcAft>
                <a:spcPts val="600"/>
              </a:spcAft>
            </a:pPr>
            <a:r>
              <a:rPr sz="1250" b="0" i="0">
                <a:solidFill>
                  <a:srgbClr val="6B6064"/>
                </a:solidFill>
                <a:latin typeface="Calibri"/>
              </a:rPr>
              <a:t>Across 297 criteria flagged as defective, the distribution was lopsided. The two at the top are more than half of everything found — and both are caught by one question.</a:t>
            </a:r>
          </a:p>
        </p:txBody>
      </p:sp>
      <p:graphicFrame>
        <p:nvGraphicFramePr>
          <p:cNvPr id="6" name="Chart 5"/>
          <p:cNvGraphicFramePr>
            <a:graphicFrameLocks noGrp="1"/>
          </p:cNvGraphicFramePr>
          <p:nvPr/>
        </p:nvGraphicFramePr>
        <p:xfrm>
          <a:off x="566928" y="2103120"/>
          <a:ext cx="6858000" cy="3017520"/>
        </p:xfrm>
        <a:graphic>
          <a:graphicData uri="http://schemas.openxmlformats.org/drawingml/2006/chart">
            <c:chart xmlns:c="http://schemas.openxmlformats.org/drawingml/2006/chart" r:id="rId2"/>
          </a:graphicData>
        </a:graphic>
      </p:graphicFrame>
      <p:sp>
        <p:nvSpPr>
          <p:cNvPr id="7" name="Rounded Rectangle 6"/>
          <p:cNvSpPr/>
          <p:nvPr/>
        </p:nvSpPr>
        <p:spPr>
          <a:xfrm>
            <a:off x="7744967" y="2103120"/>
            <a:ext cx="3886200" cy="301752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37575" y="2322576"/>
            <a:ext cx="3291840" cy="27432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Ask one question of every line:</a:t>
            </a:r>
          </a:p>
        </p:txBody>
      </p:sp>
      <p:sp>
        <p:nvSpPr>
          <p:cNvPr id="9" name="TextBox 8"/>
          <p:cNvSpPr txBox="1"/>
          <p:nvPr/>
        </p:nvSpPr>
        <p:spPr>
          <a:xfrm>
            <a:off x="8037575" y="2688336"/>
            <a:ext cx="3291840" cy="960120"/>
          </a:xfrm>
          <a:prstGeom prst="rect">
            <a:avLst/>
          </a:prstGeom>
          <a:noFill/>
        </p:spPr>
        <p:txBody>
          <a:bodyPr wrap="square" lIns="0" rIns="0" tIns="0" bIns="0" anchor="t">
            <a:spAutoFit/>
          </a:bodyPr>
          <a:lstStyle/>
          <a:p>
            <a:pPr algn="l">
              <a:lnSpc>
                <a:spcPct val="120000"/>
              </a:lnSpc>
              <a:spcAft>
                <a:spcPts val="600"/>
              </a:spcAft>
            </a:pPr>
            <a:r>
              <a:rPr sz="1400" b="0" i="1">
                <a:solidFill>
                  <a:srgbClr val="2B2126"/>
                </a:solidFill>
                <a:latin typeface="Calibri"/>
              </a:rPr>
              <a:t>“Would a perfect, honest response pass this — and would two people reading only the prompt agree on borderline work?”</a:t>
            </a:r>
          </a:p>
        </p:txBody>
      </p:sp>
      <p:sp>
        <p:nvSpPr>
          <p:cNvPr id="10" name="TextBox 9"/>
          <p:cNvSpPr txBox="1"/>
          <p:nvPr/>
        </p:nvSpPr>
        <p:spPr>
          <a:xfrm>
            <a:off x="8037575" y="3712463"/>
            <a:ext cx="3291840" cy="731520"/>
          </a:xfrm>
          <a:prstGeom prst="rect">
            <a:avLst/>
          </a:prstGeom>
          <a:noFill/>
        </p:spPr>
        <p:txBody>
          <a:bodyPr wrap="square" lIns="0" rIns="0" tIns="0" bIns="0" anchor="t">
            <a:spAutoFit/>
          </a:bodyPr>
          <a:lstStyle/>
          <a:p>
            <a:pPr algn="l">
              <a:lnSpc>
                <a:spcPct val="110000"/>
              </a:lnSpc>
              <a:spcAft>
                <a:spcPts val="600"/>
              </a:spcAft>
            </a:pPr>
            <a:r>
              <a:rPr sz="1150" b="0" i="0">
                <a:solidFill>
                  <a:srgbClr val="6B6064"/>
                </a:solidFill>
                <a:latin typeface="Calibri"/>
              </a:rPr>
              <a:t>Duplication and bundling are what people instinctively proofread for, and they are almost never the problem.</a:t>
            </a:r>
          </a:p>
        </p:txBody>
      </p:sp>
      <p:sp>
        <p:nvSpPr>
          <p:cNvPr id="11" name="TextBox 10"/>
          <p:cNvSpPr txBox="1"/>
          <p:nvPr/>
        </p:nvSpPr>
        <p:spPr>
          <a:xfrm>
            <a:off x="8037575" y="4535424"/>
            <a:ext cx="3291840" cy="402336"/>
          </a:xfrm>
          <a:prstGeom prst="rect">
            <a:avLst/>
          </a:prstGeom>
          <a:noFill/>
        </p:spPr>
        <p:txBody>
          <a:bodyPr wrap="square" lIns="0" rIns="0" tIns="0" bIns="0" anchor="t">
            <a:spAutoFit/>
          </a:bodyPr>
          <a:lstStyle/>
          <a:p>
            <a:pPr algn="l">
              <a:lnSpc>
                <a:spcPct val="110000"/>
              </a:lnSpc>
              <a:spcAft>
                <a:spcPts val="600"/>
              </a:spcAft>
            </a:pPr>
            <a:r>
              <a:rPr sz="1200" b="1" i="0">
                <a:solidFill>
                  <a:srgbClr val="6D2E46"/>
                </a:solidFill>
                <a:latin typeface="Calibri"/>
              </a:rPr>
              <a:t>Together, the top two are more than half of everything found.</a:t>
            </a:r>
          </a:p>
        </p:txBody>
      </p:sp>
      <p:sp>
        <p:nvSpPr>
          <p:cNvPr id="12" name="Rounded Rectangle 11"/>
          <p:cNvSpPr/>
          <p:nvPr/>
        </p:nvSpPr>
        <p:spPr>
          <a:xfrm>
            <a:off x="566928" y="5358384"/>
            <a:ext cx="11064240" cy="713232"/>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5513832"/>
            <a:ext cx="10424160" cy="411480"/>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Review thresholds:  </a:t>
            </a:r>
            <a:r>
              <a:rPr sz="1250" b="0" i="0">
                <a:solidFill>
                  <a:srgbClr val="2B2126"/>
                </a:solidFill>
                <a:latin typeface="Calibri"/>
              </a:rPr>
              <a:t>roughly 10% of criteria carrying a major defect, 15% major-or-moderate, or 20% carrying any defect — and the rubric fails review.</a:t>
            </a:r>
          </a:p>
        </p:txBody>
      </p:sp>
      <p:sp>
        <p:nvSpPr>
          <p:cNvPr id="14" name="TextBox 1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15" name="TextBox 1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RUBRIC</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two defects that cost the most</a:t>
            </a:r>
          </a:p>
        </p:txBody>
      </p:sp>
      <p:sp>
        <p:nvSpPr>
          <p:cNvPr id="5" name="TextBox 4"/>
          <p:cNvSpPr txBox="1"/>
          <p:nvPr/>
        </p:nvSpPr>
        <p:spPr>
          <a:xfrm>
            <a:off x="566928" y="1444752"/>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Together they are 56% of everything reviewers find. Both are caught by asking one question of each line. Every example below is a real submitted criterion.</a:t>
            </a:r>
          </a:p>
        </p:txBody>
      </p:sp>
      <p:sp>
        <p:nvSpPr>
          <p:cNvPr id="6" name="Rounded Rectangle 5"/>
          <p:cNvSpPr/>
          <p:nvPr/>
        </p:nvSpPr>
        <p:spPr>
          <a:xfrm>
            <a:off x="566928" y="1920240"/>
            <a:ext cx="5303520" cy="338328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21408"/>
            <a:ext cx="393192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PUNISHES THE RIGHT ANSWER</a:t>
            </a:r>
          </a:p>
        </p:txBody>
      </p:sp>
      <p:sp>
        <p:nvSpPr>
          <p:cNvPr id="8" name="TextBox 7"/>
          <p:cNvSpPr txBox="1"/>
          <p:nvPr/>
        </p:nvSpPr>
        <p:spPr>
          <a:xfrm>
            <a:off x="4910328" y="2084831"/>
            <a:ext cx="685800" cy="292608"/>
          </a:xfrm>
          <a:prstGeom prst="rect">
            <a:avLst/>
          </a:prstGeom>
          <a:noFill/>
        </p:spPr>
        <p:txBody>
          <a:bodyPr wrap="square" lIns="0" rIns="0" tIns="0" bIns="0" anchor="t">
            <a:spAutoFit/>
          </a:bodyPr>
          <a:lstStyle/>
          <a:p>
            <a:pPr algn="r">
              <a:spcAft>
                <a:spcPts val="600"/>
              </a:spcAft>
            </a:pPr>
            <a:r>
              <a:rPr sz="1700" b="1" i="0">
                <a:solidFill>
                  <a:srgbClr val="A26769"/>
                </a:solidFill>
                <a:latin typeface="Cambria"/>
              </a:rPr>
              <a:t>26%</a:t>
            </a:r>
          </a:p>
        </p:txBody>
      </p:sp>
      <p:sp>
        <p:nvSpPr>
          <p:cNvPr id="9" name="TextBox 8"/>
          <p:cNvSpPr txBox="1"/>
          <p:nvPr/>
        </p:nvSpPr>
        <p:spPr>
          <a:xfrm>
            <a:off x="859536" y="2432304"/>
            <a:ext cx="4754880" cy="548640"/>
          </a:xfrm>
          <a:prstGeom prst="rect">
            <a:avLst/>
          </a:prstGeom>
          <a:noFill/>
        </p:spPr>
        <p:txBody>
          <a:bodyPr wrap="square" lIns="0" rIns="0" tIns="0" bIns="0" anchor="t">
            <a:spAutoFit/>
          </a:bodyPr>
          <a:lstStyle/>
          <a:p>
            <a:pPr algn="l">
              <a:lnSpc>
                <a:spcPct val="110000"/>
              </a:lnSpc>
              <a:spcAft>
                <a:spcPts val="600"/>
              </a:spcAft>
            </a:pPr>
            <a:r>
              <a:rPr sz="1150" b="0" i="0">
                <a:solidFill>
                  <a:srgbClr val="2B2126"/>
                </a:solidFill>
                <a:latin typeface="Calibri"/>
              </a:rPr>
              <a:t>The criterion rewards something the conversation ruled out, or invents a constraint the user never set. A flawless response fails it.</a:t>
            </a:r>
          </a:p>
        </p:txBody>
      </p:sp>
      <p:sp>
        <p:nvSpPr>
          <p:cNvPr id="10" name="TextBox 9"/>
          <p:cNvSpPr txBox="1"/>
          <p:nvPr/>
        </p:nvSpPr>
        <p:spPr>
          <a:xfrm>
            <a:off x="859536" y="3072384"/>
            <a:ext cx="4754880" cy="402336"/>
          </a:xfrm>
          <a:prstGeom prst="rect">
            <a:avLst/>
          </a:prstGeom>
          <a:noFill/>
        </p:spPr>
        <p:txBody>
          <a:bodyPr wrap="square" lIns="0" rIns="0" tIns="0" bIns="0" anchor="t">
            <a:spAutoFit/>
          </a:bodyPr>
          <a:lstStyle/>
          <a:p>
            <a:pPr algn="l">
              <a:lnSpc>
                <a:spcPct val="105000"/>
              </a:lnSpc>
              <a:spcAft>
                <a:spcPts val="600"/>
              </a:spcAft>
            </a:pPr>
            <a:r>
              <a:rPr sz="1200" b="0" i="1">
                <a:solidFill>
                  <a:srgbClr val="6D2E46"/>
                </a:solidFill>
                <a:latin typeface="Calibri"/>
              </a:rPr>
              <a:t>“Provides the file already in the first turn.”</a:t>
            </a:r>
          </a:p>
        </p:txBody>
      </p:sp>
      <p:sp>
        <p:nvSpPr>
          <p:cNvPr id="11" name="TextBox 10"/>
          <p:cNvSpPr txBox="1"/>
          <p:nvPr/>
        </p:nvSpPr>
        <p:spPr>
          <a:xfrm>
            <a:off x="859536" y="3438144"/>
            <a:ext cx="475488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At turn 3 the user said to produce the document only on request.</a:t>
            </a:r>
          </a:p>
        </p:txBody>
      </p:sp>
      <p:sp>
        <p:nvSpPr>
          <p:cNvPr id="12" name="TextBox 11"/>
          <p:cNvSpPr txBox="1"/>
          <p:nvPr/>
        </p:nvSpPr>
        <p:spPr>
          <a:xfrm>
            <a:off x="859536" y="3913632"/>
            <a:ext cx="4754880" cy="402336"/>
          </a:xfrm>
          <a:prstGeom prst="rect">
            <a:avLst/>
          </a:prstGeom>
          <a:noFill/>
        </p:spPr>
        <p:txBody>
          <a:bodyPr wrap="square" lIns="0" rIns="0" tIns="0" bIns="0" anchor="t">
            <a:spAutoFit/>
          </a:bodyPr>
          <a:lstStyle/>
          <a:p>
            <a:pPr algn="l">
              <a:lnSpc>
                <a:spcPct val="105000"/>
              </a:lnSpc>
              <a:spcAft>
                <a:spcPts val="600"/>
              </a:spcAft>
            </a:pPr>
            <a:r>
              <a:rPr sz="1200" b="0" i="1">
                <a:solidFill>
                  <a:srgbClr val="6D2E46"/>
                </a:solidFill>
                <a:latin typeface="Calibri"/>
              </a:rPr>
              <a:t>“Reports the name Cassandra as the user’s name.”</a:t>
            </a:r>
          </a:p>
        </p:txBody>
      </p:sp>
      <p:sp>
        <p:nvSpPr>
          <p:cNvPr id="13" name="TextBox 12"/>
          <p:cNvSpPr txBox="1"/>
          <p:nvPr/>
        </p:nvSpPr>
        <p:spPr>
          <a:xfrm>
            <a:off x="859536" y="4279392"/>
            <a:ext cx="475488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That name appears nowhere. The only way to pass is to invent it.</a:t>
            </a:r>
          </a:p>
        </p:txBody>
      </p:sp>
      <p:sp>
        <p:nvSpPr>
          <p:cNvPr id="14" name="TextBox 13"/>
          <p:cNvSpPr txBox="1"/>
          <p:nvPr/>
        </p:nvSpPr>
        <p:spPr>
          <a:xfrm>
            <a:off x="859536" y="4791456"/>
            <a:ext cx="4754880" cy="347472"/>
          </a:xfrm>
          <a:prstGeom prst="rect">
            <a:avLst/>
          </a:prstGeom>
          <a:noFill/>
        </p:spPr>
        <p:txBody>
          <a:bodyPr wrap="square" lIns="0" rIns="0" tIns="0" bIns="0" anchor="t">
            <a:spAutoFit/>
          </a:bodyPr>
          <a:lstStyle/>
          <a:p>
            <a:pPr algn="l">
              <a:lnSpc>
                <a:spcPct val="105000"/>
              </a:lnSpc>
              <a:spcAft>
                <a:spcPts val="600"/>
              </a:spcAft>
            </a:pPr>
            <a:r>
              <a:rPr sz="1150" b="1" i="0">
                <a:solidFill>
                  <a:srgbClr val="A26769"/>
                </a:solidFill>
                <a:latin typeface="Calibri"/>
              </a:rPr>
              <a:t>The test:  </a:t>
            </a:r>
            <a:r>
              <a:rPr sz="1150" b="0" i="0">
                <a:solidFill>
                  <a:srgbClr val="2B2126"/>
                </a:solidFill>
                <a:latin typeface="Calibri"/>
              </a:rPr>
              <a:t>Would a perfect, honest response pass this?</a:t>
            </a:r>
          </a:p>
        </p:txBody>
      </p:sp>
      <p:sp>
        <p:nvSpPr>
          <p:cNvPr id="15" name="Rounded Rectangle 14"/>
          <p:cNvSpPr/>
          <p:nvPr/>
        </p:nvSpPr>
        <p:spPr>
          <a:xfrm>
            <a:off x="6327648" y="1920240"/>
            <a:ext cx="5303520" cy="338328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6" y="2121408"/>
            <a:ext cx="393192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WORDING TWO PEOPLE CANNOT APPLY</a:t>
            </a:r>
          </a:p>
        </p:txBody>
      </p:sp>
      <p:sp>
        <p:nvSpPr>
          <p:cNvPr id="17" name="TextBox 16"/>
          <p:cNvSpPr txBox="1"/>
          <p:nvPr/>
        </p:nvSpPr>
        <p:spPr>
          <a:xfrm>
            <a:off x="10671048" y="2084831"/>
            <a:ext cx="685800" cy="292608"/>
          </a:xfrm>
          <a:prstGeom prst="rect">
            <a:avLst/>
          </a:prstGeom>
          <a:noFill/>
        </p:spPr>
        <p:txBody>
          <a:bodyPr wrap="square" lIns="0" rIns="0" tIns="0" bIns="0" anchor="t">
            <a:spAutoFit/>
          </a:bodyPr>
          <a:lstStyle/>
          <a:p>
            <a:pPr algn="r">
              <a:spcAft>
                <a:spcPts val="600"/>
              </a:spcAft>
            </a:pPr>
            <a:r>
              <a:rPr sz="1700" b="1" i="0">
                <a:solidFill>
                  <a:srgbClr val="A26769"/>
                </a:solidFill>
                <a:latin typeface="Cambria"/>
              </a:rPr>
              <a:t>30%</a:t>
            </a:r>
          </a:p>
        </p:txBody>
      </p:sp>
      <p:sp>
        <p:nvSpPr>
          <p:cNvPr id="18" name="TextBox 17"/>
          <p:cNvSpPr txBox="1"/>
          <p:nvPr/>
        </p:nvSpPr>
        <p:spPr>
          <a:xfrm>
            <a:off x="6620256" y="2432304"/>
            <a:ext cx="4754880" cy="548640"/>
          </a:xfrm>
          <a:prstGeom prst="rect">
            <a:avLst/>
          </a:prstGeom>
          <a:noFill/>
        </p:spPr>
        <p:txBody>
          <a:bodyPr wrap="square" lIns="0" rIns="0" tIns="0" bIns="0" anchor="t">
            <a:spAutoFit/>
          </a:bodyPr>
          <a:lstStyle/>
          <a:p>
            <a:pPr algn="l">
              <a:lnSpc>
                <a:spcPct val="110000"/>
              </a:lnSpc>
              <a:spcAft>
                <a:spcPts val="600"/>
              </a:spcAft>
            </a:pPr>
            <a:r>
              <a:rPr sz="1150" b="0" i="0">
                <a:solidFill>
                  <a:srgbClr val="2B2126"/>
                </a:solidFill>
                <a:latin typeface="Calibri"/>
              </a:rPr>
              <a:t>The criterion turns on a word with no observable feature, so the result depends on who is scoring.</a:t>
            </a:r>
          </a:p>
        </p:txBody>
      </p:sp>
      <p:sp>
        <p:nvSpPr>
          <p:cNvPr id="19" name="TextBox 18"/>
          <p:cNvSpPr txBox="1"/>
          <p:nvPr/>
        </p:nvSpPr>
        <p:spPr>
          <a:xfrm>
            <a:off x="6620256" y="3072384"/>
            <a:ext cx="4754880" cy="402336"/>
          </a:xfrm>
          <a:prstGeom prst="rect">
            <a:avLst/>
          </a:prstGeom>
          <a:noFill/>
        </p:spPr>
        <p:txBody>
          <a:bodyPr wrap="square" lIns="0" rIns="0" tIns="0" bIns="0" anchor="t">
            <a:spAutoFit/>
          </a:bodyPr>
          <a:lstStyle/>
          <a:p>
            <a:pPr algn="l">
              <a:lnSpc>
                <a:spcPct val="105000"/>
              </a:lnSpc>
              <a:spcAft>
                <a:spcPts val="600"/>
              </a:spcAft>
            </a:pPr>
            <a:r>
              <a:rPr sz="1200" b="0" i="1">
                <a:solidFill>
                  <a:srgbClr val="6D2E46"/>
                </a:solidFill>
                <a:latin typeface="Calibri"/>
              </a:rPr>
              <a:t>“Maintains a reassuring tone in the note.”</a:t>
            </a:r>
          </a:p>
        </p:txBody>
      </p:sp>
      <p:sp>
        <p:nvSpPr>
          <p:cNvPr id="20" name="TextBox 19"/>
          <p:cNvSpPr txBox="1"/>
          <p:nvPr/>
        </p:nvSpPr>
        <p:spPr>
          <a:xfrm>
            <a:off x="6620256" y="3438144"/>
            <a:ext cx="475488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Tone has no threshold — and this note also delivers bad news.</a:t>
            </a:r>
          </a:p>
        </p:txBody>
      </p:sp>
      <p:sp>
        <p:nvSpPr>
          <p:cNvPr id="21" name="TextBox 20"/>
          <p:cNvSpPr txBox="1"/>
          <p:nvPr/>
        </p:nvSpPr>
        <p:spPr>
          <a:xfrm>
            <a:off x="6620256" y="3913632"/>
            <a:ext cx="4754880" cy="402336"/>
          </a:xfrm>
          <a:prstGeom prst="rect">
            <a:avLst/>
          </a:prstGeom>
          <a:noFill/>
        </p:spPr>
        <p:txBody>
          <a:bodyPr wrap="square" lIns="0" rIns="0" tIns="0" bIns="0" anchor="t">
            <a:spAutoFit/>
          </a:bodyPr>
          <a:lstStyle/>
          <a:p>
            <a:pPr algn="l">
              <a:lnSpc>
                <a:spcPct val="105000"/>
              </a:lnSpc>
              <a:spcAft>
                <a:spcPts val="600"/>
              </a:spcAft>
            </a:pPr>
            <a:r>
              <a:rPr sz="1200" b="0" i="1">
                <a:solidFill>
                  <a:srgbClr val="6D2E46"/>
                </a:solidFill>
                <a:latin typeface="Calibri"/>
              </a:rPr>
              <a:t>“The report includes few UI screenshots.”</a:t>
            </a:r>
          </a:p>
        </p:txBody>
      </p:sp>
      <p:sp>
        <p:nvSpPr>
          <p:cNvPr id="22" name="TextBox 21"/>
          <p:cNvSpPr txBox="1"/>
          <p:nvPr/>
        </p:nvSpPr>
        <p:spPr>
          <a:xfrm>
            <a:off x="6620256" y="4279392"/>
            <a:ext cx="475488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“Few” is not a number.</a:t>
            </a:r>
          </a:p>
        </p:txBody>
      </p:sp>
      <p:sp>
        <p:nvSpPr>
          <p:cNvPr id="23" name="TextBox 22"/>
          <p:cNvSpPr txBox="1"/>
          <p:nvPr/>
        </p:nvSpPr>
        <p:spPr>
          <a:xfrm>
            <a:off x="6620256" y="4791456"/>
            <a:ext cx="4754880" cy="347472"/>
          </a:xfrm>
          <a:prstGeom prst="rect">
            <a:avLst/>
          </a:prstGeom>
          <a:noFill/>
        </p:spPr>
        <p:txBody>
          <a:bodyPr wrap="square" lIns="0" rIns="0" tIns="0" bIns="0" anchor="t">
            <a:spAutoFit/>
          </a:bodyPr>
          <a:lstStyle/>
          <a:p>
            <a:pPr algn="l">
              <a:lnSpc>
                <a:spcPct val="105000"/>
              </a:lnSpc>
              <a:spcAft>
                <a:spcPts val="600"/>
              </a:spcAft>
            </a:pPr>
            <a:r>
              <a:rPr sz="1150" b="1" i="0">
                <a:solidFill>
                  <a:srgbClr val="A26769"/>
                </a:solidFill>
                <a:latin typeface="Calibri"/>
              </a:rPr>
              <a:t>The test:  </a:t>
            </a:r>
            <a:r>
              <a:rPr sz="1150" b="0" i="0">
                <a:solidFill>
                  <a:srgbClr val="2B2126"/>
                </a:solidFill>
                <a:latin typeface="Calibri"/>
              </a:rPr>
              <a:t>Would two people agree on borderline work?</a:t>
            </a:r>
          </a:p>
        </p:txBody>
      </p:sp>
      <p:sp>
        <p:nvSpPr>
          <p:cNvPr id="24" name="Rounded Rectangle 23"/>
          <p:cNvSpPr/>
          <p:nvPr/>
        </p:nvSpPr>
        <p:spPr>
          <a:xfrm>
            <a:off x="566928" y="5504688"/>
            <a:ext cx="11064240" cy="786384"/>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5669280"/>
            <a:ext cx="10424160" cy="475488"/>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The fix is always the same move: </a:t>
            </a:r>
            <a:r>
              <a:rPr sz="1250" b="0" i="0">
                <a:solidFill>
                  <a:srgbClr val="2B2126"/>
                </a:solidFill>
                <a:latin typeface="Calibri"/>
              </a:rPr>
              <a:t>replace the adjective with the observable feature. “Reassuring tone” becomes the specific sentence the note must contain. “Few screenshots” becomes a count.</a:t>
            </a:r>
          </a:p>
        </p:txBody>
      </p:sp>
      <p:sp>
        <p:nvSpPr>
          <p:cNvPr id="26" name="TextBox 25"/>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7" name="TextBox 26"/>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RUBRIC</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A worked example</a:t>
            </a:r>
          </a:p>
        </p:txBody>
      </p:sp>
      <p:sp>
        <p:nvSpPr>
          <p:cNvPr id="5" name="Rounded Rectangle 4"/>
          <p:cNvSpPr/>
          <p:nvPr/>
        </p:nvSpPr>
        <p:spPr>
          <a:xfrm>
            <a:off x="566928" y="1426464"/>
            <a:ext cx="11064240" cy="512064"/>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563624"/>
            <a:ext cx="10424160" cy="292608"/>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The request:  </a:t>
            </a:r>
            <a:r>
              <a:rPr sz="1250" b="0" i="1">
                <a:solidFill>
                  <a:srgbClr val="2B2126"/>
                </a:solidFill>
                <a:latin typeface="Calibri"/>
              </a:rPr>
              <a:t>“Pull our Q3 numbers together into something I can send the board on Monday. Keep it short, and flag anything that looks off.”</a:t>
            </a:r>
          </a:p>
        </p:txBody>
      </p:sp>
      <p:sp>
        <p:nvSpPr>
          <p:cNvPr id="7" name="Rounded Rectangle 6"/>
          <p:cNvSpPr/>
          <p:nvPr/>
        </p:nvSpPr>
        <p:spPr>
          <a:xfrm>
            <a:off x="566928" y="2121408"/>
            <a:ext cx="5303520" cy="32461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322576"/>
            <a:ext cx="4754880" cy="237744"/>
          </a:xfrm>
          <a:prstGeom prst="rect">
            <a:avLst/>
          </a:prstGeom>
          <a:noFill/>
        </p:spPr>
        <p:txBody>
          <a:bodyPr wrap="square" lIns="0" rIns="0" tIns="0" bIns="0" anchor="t">
            <a:spAutoFit/>
          </a:bodyPr>
          <a:lstStyle/>
          <a:p>
            <a:pPr algn="l">
              <a:spcAft>
                <a:spcPts val="600"/>
              </a:spcAft>
            </a:pPr>
            <a:r>
              <a:rPr sz="1100" b="1" i="0">
                <a:solidFill>
                  <a:srgbClr val="6D2E46"/>
                </a:solidFill>
                <a:latin typeface="Calibri"/>
              </a:rPr>
              <a:t>FIRST ATTEMPT — NONE OF THESE WORK</a:t>
            </a:r>
          </a:p>
        </p:txBody>
      </p:sp>
      <p:sp>
        <p:nvSpPr>
          <p:cNvPr id="9" name="TextBox 8"/>
          <p:cNvSpPr txBox="1"/>
          <p:nvPr/>
        </p:nvSpPr>
        <p:spPr>
          <a:xfrm>
            <a:off x="859536" y="2706624"/>
            <a:ext cx="4754880" cy="402336"/>
          </a:xfrm>
          <a:prstGeom prst="rect">
            <a:avLst/>
          </a:prstGeom>
          <a:noFill/>
        </p:spPr>
        <p:txBody>
          <a:bodyPr wrap="square" lIns="0" rIns="0" tIns="0" bIns="0" anchor="t">
            <a:spAutoFit/>
          </a:bodyPr>
          <a:lstStyle/>
          <a:p>
            <a:pPr algn="l">
              <a:lnSpc>
                <a:spcPct val="105000"/>
              </a:lnSpc>
              <a:spcAft>
                <a:spcPts val="600"/>
              </a:spcAft>
            </a:pPr>
            <a:r>
              <a:rPr sz="1200" b="1" i="0">
                <a:solidFill>
                  <a:srgbClr val="6D2E46"/>
                </a:solidFill>
                <a:latin typeface="Calibri"/>
              </a:rPr>
              <a:t>✕  </a:t>
            </a:r>
            <a:r>
              <a:rPr sz="1200" b="0" i="1">
                <a:solidFill>
                  <a:srgbClr val="2B2126"/>
                </a:solidFill>
                <a:latin typeface="Calibri"/>
              </a:rPr>
              <a:t>The memo is board-ready.</a:t>
            </a:r>
          </a:p>
        </p:txBody>
      </p:sp>
      <p:sp>
        <p:nvSpPr>
          <p:cNvPr id="10" name="TextBox 9"/>
          <p:cNvSpPr txBox="1"/>
          <p:nvPr/>
        </p:nvSpPr>
        <p:spPr>
          <a:xfrm>
            <a:off x="1133856" y="3072384"/>
            <a:ext cx="448056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The whole judgement restated as a criterion.</a:t>
            </a:r>
          </a:p>
        </p:txBody>
      </p:sp>
      <p:sp>
        <p:nvSpPr>
          <p:cNvPr id="11" name="TextBox 10"/>
          <p:cNvSpPr txBox="1"/>
          <p:nvPr/>
        </p:nvSpPr>
        <p:spPr>
          <a:xfrm>
            <a:off x="859536" y="3566160"/>
            <a:ext cx="4754880" cy="402336"/>
          </a:xfrm>
          <a:prstGeom prst="rect">
            <a:avLst/>
          </a:prstGeom>
          <a:noFill/>
        </p:spPr>
        <p:txBody>
          <a:bodyPr wrap="square" lIns="0" rIns="0" tIns="0" bIns="0" anchor="t">
            <a:spAutoFit/>
          </a:bodyPr>
          <a:lstStyle/>
          <a:p>
            <a:pPr algn="l">
              <a:lnSpc>
                <a:spcPct val="105000"/>
              </a:lnSpc>
              <a:spcAft>
                <a:spcPts val="600"/>
              </a:spcAft>
            </a:pPr>
            <a:r>
              <a:rPr sz="1200" b="1" i="0">
                <a:solidFill>
                  <a:srgbClr val="6D2E46"/>
                </a:solidFill>
                <a:latin typeface="Calibri"/>
              </a:rPr>
              <a:t>✕  </a:t>
            </a:r>
            <a:r>
              <a:rPr sz="1200" b="0" i="1">
                <a:solidFill>
                  <a:srgbClr val="2B2126"/>
                </a:solidFill>
                <a:latin typeface="Calibri"/>
              </a:rPr>
              <a:t>The memo is short and well written.</a:t>
            </a:r>
          </a:p>
        </p:txBody>
      </p:sp>
      <p:sp>
        <p:nvSpPr>
          <p:cNvPr id="12" name="TextBox 11"/>
          <p:cNvSpPr txBox="1"/>
          <p:nvPr/>
        </p:nvSpPr>
        <p:spPr>
          <a:xfrm>
            <a:off x="1133856" y="3931920"/>
            <a:ext cx="448056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Bundled, and neither half is checkable.</a:t>
            </a:r>
          </a:p>
        </p:txBody>
      </p:sp>
      <p:sp>
        <p:nvSpPr>
          <p:cNvPr id="13" name="TextBox 12"/>
          <p:cNvSpPr txBox="1"/>
          <p:nvPr/>
        </p:nvSpPr>
        <p:spPr>
          <a:xfrm>
            <a:off x="859536" y="4425696"/>
            <a:ext cx="4754880" cy="402336"/>
          </a:xfrm>
          <a:prstGeom prst="rect">
            <a:avLst/>
          </a:prstGeom>
          <a:noFill/>
        </p:spPr>
        <p:txBody>
          <a:bodyPr wrap="square" lIns="0" rIns="0" tIns="0" bIns="0" anchor="t">
            <a:spAutoFit/>
          </a:bodyPr>
          <a:lstStyle/>
          <a:p>
            <a:pPr algn="l">
              <a:lnSpc>
                <a:spcPct val="105000"/>
              </a:lnSpc>
              <a:spcAft>
                <a:spcPts val="600"/>
              </a:spcAft>
            </a:pPr>
            <a:r>
              <a:rPr sz="1200" b="1" i="0">
                <a:solidFill>
                  <a:srgbClr val="6D2E46"/>
                </a:solidFill>
                <a:latin typeface="Calibri"/>
              </a:rPr>
              <a:t>✕  </a:t>
            </a:r>
            <a:r>
              <a:rPr sz="1200" b="0" i="1">
                <a:solidFill>
                  <a:srgbClr val="2B2126"/>
                </a:solidFill>
                <a:latin typeface="Calibri"/>
              </a:rPr>
              <a:t>Correctly identifies the Q3 anomalies.</a:t>
            </a:r>
          </a:p>
        </p:txBody>
      </p:sp>
      <p:sp>
        <p:nvSpPr>
          <p:cNvPr id="14" name="TextBox 13"/>
          <p:cNvSpPr txBox="1"/>
          <p:nvPr/>
        </p:nvSpPr>
        <p:spPr>
          <a:xfrm>
            <a:off x="1133856" y="4791456"/>
            <a:ext cx="4480560" cy="402336"/>
          </a:xfrm>
          <a:prstGeom prst="rect">
            <a:avLst/>
          </a:prstGeom>
          <a:noFill/>
        </p:spPr>
        <p:txBody>
          <a:bodyPr wrap="square" lIns="0" rIns="0" tIns="0" bIns="0" anchor="t">
            <a:spAutoFit/>
          </a:bodyPr>
          <a:lstStyle/>
          <a:p>
            <a:pPr algn="l">
              <a:lnSpc>
                <a:spcPct val="100000"/>
              </a:lnSpc>
              <a:spcAft>
                <a:spcPts val="600"/>
              </a:spcAft>
            </a:pPr>
            <a:r>
              <a:rPr sz="1100" b="0" i="0">
                <a:solidFill>
                  <a:srgbClr val="6B6064"/>
                </a:solidFill>
                <a:latin typeface="Calibri"/>
              </a:rPr>
              <a:t>Needs information nobody has — which anomalies are the correct ones?</a:t>
            </a:r>
          </a:p>
        </p:txBody>
      </p:sp>
      <p:sp>
        <p:nvSpPr>
          <p:cNvPr id="15" name="Rounded Rectangle 14"/>
          <p:cNvSpPr/>
          <p:nvPr/>
        </p:nvSpPr>
        <p:spPr>
          <a:xfrm>
            <a:off x="6327648" y="2121408"/>
            <a:ext cx="5303520" cy="32461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6" y="2322576"/>
            <a:ext cx="4754880" cy="237744"/>
          </a:xfrm>
          <a:prstGeom prst="rect">
            <a:avLst/>
          </a:prstGeom>
          <a:noFill/>
        </p:spPr>
        <p:txBody>
          <a:bodyPr wrap="square" lIns="0" rIns="0" tIns="0" bIns="0" anchor="t">
            <a:spAutoFit/>
          </a:bodyPr>
          <a:lstStyle/>
          <a:p>
            <a:pPr algn="l">
              <a:spcAft>
                <a:spcPts val="600"/>
              </a:spcAft>
            </a:pPr>
            <a:r>
              <a:rPr sz="1100" b="1" i="0">
                <a:solidFill>
                  <a:srgbClr val="5F7A61"/>
                </a:solidFill>
                <a:latin typeface="Calibri"/>
              </a:rPr>
              <a:t>SAME REQUEST, CHECKABLE</a:t>
            </a:r>
          </a:p>
        </p:txBody>
      </p:sp>
      <p:sp>
        <p:nvSpPr>
          <p:cNvPr id="17" name="TextBox 16"/>
          <p:cNvSpPr txBox="1"/>
          <p:nvPr/>
        </p:nvSpPr>
        <p:spPr>
          <a:xfrm>
            <a:off x="6620256" y="2706624"/>
            <a:ext cx="4754880" cy="457200"/>
          </a:xfrm>
          <a:prstGeom prst="rect">
            <a:avLst/>
          </a:prstGeom>
          <a:noFill/>
        </p:spPr>
        <p:txBody>
          <a:bodyPr wrap="square" lIns="0" rIns="0" tIns="0" bIns="0" anchor="t">
            <a:spAutoFit/>
          </a:bodyPr>
          <a:lstStyle/>
          <a:p>
            <a:pPr algn="l">
              <a:lnSpc>
                <a:spcPct val="105000"/>
              </a:lnSpc>
              <a:spcAft>
                <a:spcPts val="600"/>
              </a:spcAft>
            </a:pPr>
            <a:r>
              <a:rPr sz="1200" b="1" i="0">
                <a:solidFill>
                  <a:srgbClr val="5F7A61"/>
                </a:solidFill>
                <a:latin typeface="Calibri"/>
              </a:rPr>
              <a:t>✓  </a:t>
            </a:r>
            <a:r>
              <a:rPr sz="1200" b="0" i="1">
                <a:solidFill>
                  <a:srgbClr val="2B2126"/>
                </a:solidFill>
                <a:latin typeface="Calibri"/>
              </a:rPr>
              <a:t>Provides a document of 500 words or fewer.</a:t>
            </a:r>
          </a:p>
        </p:txBody>
      </p:sp>
      <p:sp>
        <p:nvSpPr>
          <p:cNvPr id="18" name="TextBox 17"/>
          <p:cNvSpPr txBox="1"/>
          <p:nvPr/>
        </p:nvSpPr>
        <p:spPr>
          <a:xfrm>
            <a:off x="6620256" y="3209544"/>
            <a:ext cx="4754880" cy="457200"/>
          </a:xfrm>
          <a:prstGeom prst="rect">
            <a:avLst/>
          </a:prstGeom>
          <a:noFill/>
        </p:spPr>
        <p:txBody>
          <a:bodyPr wrap="square" lIns="0" rIns="0" tIns="0" bIns="0" anchor="t">
            <a:spAutoFit/>
          </a:bodyPr>
          <a:lstStyle/>
          <a:p>
            <a:pPr algn="l">
              <a:lnSpc>
                <a:spcPct val="105000"/>
              </a:lnSpc>
              <a:spcAft>
                <a:spcPts val="600"/>
              </a:spcAft>
            </a:pPr>
            <a:r>
              <a:rPr sz="1200" b="1" i="0">
                <a:solidFill>
                  <a:srgbClr val="5F7A61"/>
                </a:solidFill>
                <a:latin typeface="Calibri"/>
              </a:rPr>
              <a:t>✓  </a:t>
            </a:r>
            <a:r>
              <a:rPr sz="1200" b="0" i="1">
                <a:solidFill>
                  <a:srgbClr val="2B2126"/>
                </a:solidFill>
                <a:latin typeface="Calibri"/>
              </a:rPr>
              <a:t>Reports Q3 revenue as $4.18M.</a:t>
            </a:r>
          </a:p>
        </p:txBody>
      </p:sp>
      <p:sp>
        <p:nvSpPr>
          <p:cNvPr id="19" name="TextBox 18"/>
          <p:cNvSpPr txBox="1"/>
          <p:nvPr/>
        </p:nvSpPr>
        <p:spPr>
          <a:xfrm>
            <a:off x="6620256" y="3712464"/>
            <a:ext cx="4754880" cy="457200"/>
          </a:xfrm>
          <a:prstGeom prst="rect">
            <a:avLst/>
          </a:prstGeom>
          <a:noFill/>
        </p:spPr>
        <p:txBody>
          <a:bodyPr wrap="square" lIns="0" rIns="0" tIns="0" bIns="0" anchor="t">
            <a:spAutoFit/>
          </a:bodyPr>
          <a:lstStyle/>
          <a:p>
            <a:pPr algn="l">
              <a:lnSpc>
                <a:spcPct val="105000"/>
              </a:lnSpc>
              <a:spcAft>
                <a:spcPts val="600"/>
              </a:spcAft>
            </a:pPr>
            <a:r>
              <a:rPr sz="1200" b="1" i="0">
                <a:solidFill>
                  <a:srgbClr val="5F7A61"/>
                </a:solidFill>
                <a:latin typeface="Calibri"/>
              </a:rPr>
              <a:t>✓  </a:t>
            </a:r>
            <a:r>
              <a:rPr sz="1200" b="0" i="1">
                <a:solidFill>
                  <a:srgbClr val="2B2126"/>
                </a:solidFill>
                <a:latin typeface="Calibri"/>
              </a:rPr>
              <a:t>States that the September figure is provisional.</a:t>
            </a:r>
          </a:p>
        </p:txBody>
      </p:sp>
      <p:sp>
        <p:nvSpPr>
          <p:cNvPr id="20" name="TextBox 19"/>
          <p:cNvSpPr txBox="1"/>
          <p:nvPr/>
        </p:nvSpPr>
        <p:spPr>
          <a:xfrm>
            <a:off x="6620256" y="4215384"/>
            <a:ext cx="4754880" cy="457200"/>
          </a:xfrm>
          <a:prstGeom prst="rect">
            <a:avLst/>
          </a:prstGeom>
          <a:noFill/>
        </p:spPr>
        <p:txBody>
          <a:bodyPr wrap="square" lIns="0" rIns="0" tIns="0" bIns="0" anchor="t">
            <a:spAutoFit/>
          </a:bodyPr>
          <a:lstStyle/>
          <a:p>
            <a:pPr algn="l">
              <a:lnSpc>
                <a:spcPct val="105000"/>
              </a:lnSpc>
              <a:spcAft>
                <a:spcPts val="600"/>
              </a:spcAft>
            </a:pPr>
            <a:r>
              <a:rPr sz="1200" b="1" i="0">
                <a:solidFill>
                  <a:srgbClr val="5F7A61"/>
                </a:solidFill>
                <a:latin typeface="Calibri"/>
              </a:rPr>
              <a:t>✓  </a:t>
            </a:r>
            <a:r>
              <a:rPr sz="1200" b="0" i="1">
                <a:solidFill>
                  <a:srgbClr val="2B2126"/>
                </a:solidFill>
                <a:latin typeface="Calibri"/>
              </a:rPr>
              <a:t>Includes sections titled Summary, Q3 performance and Risks.</a:t>
            </a:r>
          </a:p>
        </p:txBody>
      </p:sp>
      <p:sp>
        <p:nvSpPr>
          <p:cNvPr id="21" name="TextBox 20"/>
          <p:cNvSpPr txBox="1"/>
          <p:nvPr/>
        </p:nvSpPr>
        <p:spPr>
          <a:xfrm>
            <a:off x="6620256" y="4718304"/>
            <a:ext cx="4754880" cy="457200"/>
          </a:xfrm>
          <a:prstGeom prst="rect">
            <a:avLst/>
          </a:prstGeom>
          <a:noFill/>
        </p:spPr>
        <p:txBody>
          <a:bodyPr wrap="square" lIns="0" rIns="0" tIns="0" bIns="0" anchor="t">
            <a:spAutoFit/>
          </a:bodyPr>
          <a:lstStyle/>
          <a:p>
            <a:pPr algn="l">
              <a:lnSpc>
                <a:spcPct val="105000"/>
              </a:lnSpc>
              <a:spcAft>
                <a:spcPts val="600"/>
              </a:spcAft>
            </a:pPr>
            <a:r>
              <a:rPr sz="1200" b="1" i="0">
                <a:solidFill>
                  <a:srgbClr val="5F7A61"/>
                </a:solidFill>
                <a:latin typeface="Calibri"/>
              </a:rPr>
              <a:t>✓  </a:t>
            </a:r>
            <a:r>
              <a:rPr sz="1200" b="0" i="1">
                <a:solidFill>
                  <a:srgbClr val="2B2126"/>
                </a:solidFill>
                <a:latin typeface="Calibri"/>
              </a:rPr>
              <a:t>Attaches the document as a file rather than pasting it.</a:t>
            </a:r>
          </a:p>
        </p:txBody>
      </p:sp>
      <p:sp>
        <p:nvSpPr>
          <p:cNvPr id="22" name="Rounded Rectangle 21"/>
          <p:cNvSpPr/>
          <p:nvPr/>
        </p:nvSpPr>
        <p:spPr>
          <a:xfrm>
            <a:off x="566928" y="5504688"/>
            <a:ext cx="11064240" cy="74980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669280"/>
            <a:ext cx="10424160" cy="45720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Notice what happened to the vague words.  </a:t>
            </a:r>
            <a:r>
              <a:rPr sz="1250" b="0" i="0">
                <a:solidFill>
                  <a:srgbClr val="2B2126"/>
                </a:solidFill>
                <a:latin typeface="Calibri"/>
              </a:rPr>
              <a:t>Short became a word count. Anything that looks off became the one specific thing that was off. Board-ready dissolved into structure, length and format — and no meaning was lost.</a:t>
            </a:r>
          </a:p>
        </p:txBody>
      </p:sp>
      <p:sp>
        <p:nvSpPr>
          <p:cNvPr id="24" name="TextBox 2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5" name="TextBox 2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1  ·  THE RUBRIC</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pass to run before you submit</a:t>
            </a:r>
          </a:p>
        </p:txBody>
      </p:sp>
      <p:sp>
        <p:nvSpPr>
          <p:cNvPr id="5" name="TextBox 4"/>
          <p:cNvSpPr txBox="1"/>
          <p:nvPr/>
        </p:nvSpPr>
        <p:spPr>
          <a:xfrm>
            <a:off x="566928" y="1444752"/>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Rubric creation is independently reviewed, so run this first. Work down the list once, in order.</a:t>
            </a:r>
          </a:p>
        </p:txBody>
      </p:sp>
      <p:sp>
        <p:nvSpPr>
          <p:cNvPr id="6" name="Rounded Rectangle 5"/>
          <p:cNvSpPr/>
          <p:nvPr/>
        </p:nvSpPr>
        <p:spPr>
          <a:xfrm>
            <a:off x="566928" y="1883664"/>
            <a:ext cx="5303520" cy="331012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084831"/>
            <a:ext cx="475488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LINE BY LINE</a:t>
            </a:r>
          </a:p>
        </p:txBody>
      </p:sp>
      <p:sp>
        <p:nvSpPr>
          <p:cNvPr id="8" name="TextBox 7"/>
          <p:cNvSpPr txBox="1"/>
          <p:nvPr/>
        </p:nvSpPr>
        <p:spPr>
          <a:xfrm>
            <a:off x="859536" y="2468880"/>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Would a perfect, honest response pass this?</a:t>
            </a:r>
          </a:p>
        </p:txBody>
      </p:sp>
      <p:sp>
        <p:nvSpPr>
          <p:cNvPr id="9" name="TextBox 8"/>
          <p:cNvSpPr txBox="1"/>
          <p:nvPr/>
        </p:nvSpPr>
        <p:spPr>
          <a:xfrm>
            <a:off x="859536" y="2907792"/>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Would two people reading only the prompt agree?</a:t>
            </a:r>
          </a:p>
        </p:txBody>
      </p:sp>
      <p:sp>
        <p:nvSpPr>
          <p:cNvPr id="10" name="TextBox 9"/>
          <p:cNvSpPr txBox="1"/>
          <p:nvPr/>
        </p:nvSpPr>
        <p:spPr>
          <a:xfrm>
            <a:off x="859536" y="3346704"/>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Decidable from the prompt, environment and delivered work alone?</a:t>
            </a:r>
          </a:p>
        </p:txBody>
      </p:sp>
      <p:sp>
        <p:nvSpPr>
          <p:cNvPr id="11" name="TextBox 10"/>
          <p:cNvSpPr txBox="1"/>
          <p:nvPr/>
        </p:nvSpPr>
        <p:spPr>
          <a:xfrm>
            <a:off x="859536" y="3785616"/>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About the delivered state, not how the model got there?</a:t>
            </a:r>
          </a:p>
        </p:txBody>
      </p:sp>
      <p:sp>
        <p:nvSpPr>
          <p:cNvPr id="12" name="TextBox 11"/>
          <p:cNvSpPr txBox="1"/>
          <p:nvPr/>
        </p:nvSpPr>
        <p:spPr>
          <a:xfrm>
            <a:off x="859536" y="4224528"/>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Names only entities that exist in the universe?</a:t>
            </a:r>
          </a:p>
        </p:txBody>
      </p:sp>
      <p:sp>
        <p:nvSpPr>
          <p:cNvPr id="13" name="TextBox 12"/>
          <p:cNvSpPr txBox="1"/>
          <p:nvPr/>
        </p:nvSpPr>
        <p:spPr>
          <a:xfrm>
            <a:off x="859536" y="4663440"/>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One requirement, present tense, positive, product-neutral?</a:t>
            </a:r>
          </a:p>
        </p:txBody>
      </p:sp>
      <p:sp>
        <p:nvSpPr>
          <p:cNvPr id="14" name="Rounded Rectangle 13"/>
          <p:cNvSpPr/>
          <p:nvPr/>
        </p:nvSpPr>
        <p:spPr>
          <a:xfrm>
            <a:off x="6327648" y="1883664"/>
            <a:ext cx="5303520" cy="3310128"/>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6" y="2084831"/>
            <a:ext cx="475488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ONCE, OVER THE WHOLE LIST</a:t>
            </a:r>
          </a:p>
        </p:txBody>
      </p:sp>
      <p:sp>
        <p:nvSpPr>
          <p:cNvPr id="16" name="TextBox 15"/>
          <p:cNvSpPr txBox="1"/>
          <p:nvPr/>
        </p:nvSpPr>
        <p:spPr>
          <a:xfrm>
            <a:off x="6620256" y="2468880"/>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Search for [[ — no placeholder survived</a:t>
            </a:r>
          </a:p>
        </p:txBody>
      </p:sp>
      <p:sp>
        <p:nvSpPr>
          <p:cNvPr id="17" name="TextBox 16"/>
          <p:cNvSpPr txBox="1"/>
          <p:nvPr/>
        </p:nvSpPr>
        <p:spPr>
          <a:xfrm>
            <a:off x="6620256" y="2907792"/>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Paste-check filenames, values and thresholds — including the direction of every inequality</a:t>
            </a:r>
          </a:p>
        </p:txBody>
      </p:sp>
      <p:sp>
        <p:nvSpPr>
          <p:cNvPr id="18" name="TextBox 17"/>
          <p:cNvSpPr txBox="1"/>
          <p:nvPr/>
        </p:nvSpPr>
        <p:spPr>
          <a:xfrm>
            <a:off x="6620256" y="3346704"/>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Read it as a set: does any pair contradict, or always pass together?</a:t>
            </a:r>
          </a:p>
        </p:txBody>
      </p:sp>
      <p:sp>
        <p:nvSpPr>
          <p:cNvPr id="19" name="TextBox 18"/>
          <p:cNvSpPr txBox="1"/>
          <p:nvPr/>
        </p:nvSpPr>
        <p:spPr>
          <a:xfrm>
            <a:off x="6620256" y="3785616"/>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Walk the prompt’s asks and tick each against its criterion</a:t>
            </a:r>
          </a:p>
        </p:txBody>
      </p:sp>
      <p:sp>
        <p:nvSpPr>
          <p:cNvPr id="20" name="TextBox 19"/>
          <p:cNvSpPr txBox="1"/>
          <p:nvPr/>
        </p:nvSpPr>
        <p:spPr>
          <a:xfrm>
            <a:off x="6620256" y="4224528"/>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Between 10 and 30 criteria, every weight 1, 2 or 3</a:t>
            </a:r>
          </a:p>
        </p:txBody>
      </p:sp>
      <p:sp>
        <p:nvSpPr>
          <p:cNvPr id="21" name="TextBox 20"/>
          <p:cNvSpPr txBox="1"/>
          <p:nvPr/>
        </p:nvSpPr>
        <p:spPr>
          <a:xfrm>
            <a:off x="6620256" y="4663440"/>
            <a:ext cx="4754880" cy="402336"/>
          </a:xfrm>
          <a:prstGeom prst="rect">
            <a:avLst/>
          </a:prstGeom>
          <a:noFill/>
        </p:spPr>
        <p:txBody>
          <a:bodyPr wrap="square" lIns="0" rIns="0" tIns="0" bIns="0" anchor="t">
            <a:spAutoFit/>
          </a:bodyPr>
          <a:lstStyle/>
          <a:p>
            <a:pPr algn="l">
              <a:lnSpc>
                <a:spcPct val="100000"/>
              </a:lnSpc>
              <a:spcAft>
                <a:spcPts val="600"/>
              </a:spcAft>
            </a:pPr>
            <a:r>
              <a:rPr sz="1150" b="1" i="0">
                <a:solidFill>
                  <a:srgbClr val="A26769"/>
                </a:solidFill>
                <a:latin typeface="Calibri"/>
              </a:rPr>
              <a:t>▸  </a:t>
            </a:r>
            <a:r>
              <a:rPr sz="1150" b="0" i="0">
                <a:solidFill>
                  <a:srgbClr val="2B2126"/>
                </a:solidFill>
                <a:latin typeface="Calibri"/>
              </a:rPr>
              <a:t>Sorted by weight, does the order match what matters to this persona?</a:t>
            </a:r>
          </a:p>
        </p:txBody>
      </p:sp>
      <p:sp>
        <p:nvSpPr>
          <p:cNvPr id="22" name="Rounded Rectangle 21"/>
          <p:cNvSpPr/>
          <p:nvPr/>
        </p:nvSpPr>
        <p:spPr>
          <a:xfrm>
            <a:off x="566928" y="5394960"/>
            <a:ext cx="11064240" cy="859536"/>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559552"/>
            <a:ext cx="10424160" cy="27432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The one question, asked of every line</a:t>
            </a:r>
          </a:p>
        </p:txBody>
      </p:sp>
      <p:sp>
        <p:nvSpPr>
          <p:cNvPr id="24" name="TextBox 23"/>
          <p:cNvSpPr txBox="1"/>
          <p:nvPr/>
        </p:nvSpPr>
        <p:spPr>
          <a:xfrm>
            <a:off x="886968" y="5870448"/>
            <a:ext cx="10424160" cy="310896"/>
          </a:xfrm>
          <a:prstGeom prst="rect">
            <a:avLst/>
          </a:prstGeom>
          <a:noFill/>
        </p:spPr>
        <p:txBody>
          <a:bodyPr wrap="square" lIns="0" rIns="0" tIns="0" bIns="0" anchor="t">
            <a:spAutoFit/>
          </a:bodyPr>
          <a:lstStyle/>
          <a:p>
            <a:pPr algn="l">
              <a:spcAft>
                <a:spcPts val="600"/>
              </a:spcAft>
            </a:pPr>
            <a:r>
              <a:rPr sz="1250" b="0" i="1">
                <a:solidFill>
                  <a:srgbClr val="2B2126"/>
                </a:solidFill>
                <a:latin typeface="Calibri"/>
              </a:rPr>
              <a:t>Could a stranger, holding only the original request and the delivered work, mark this true or false and get the same answer I would?</a:t>
            </a:r>
          </a:p>
        </p:txBody>
      </p:sp>
      <p:sp>
        <p:nvSpPr>
          <p:cNvPr id="25" name="TextBox 24"/>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6" name="TextBox 25"/>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2  ·  SxS</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First question: base task or follow-on?</a:t>
            </a:r>
          </a:p>
        </p:txBody>
      </p:sp>
      <p:sp>
        <p:nvSpPr>
          <p:cNvPr id="5" name="TextBox 4"/>
          <p:cNvSpPr txBox="1"/>
          <p:nvPr/>
        </p:nvSpPr>
        <p:spPr>
          <a:xfrm>
            <a:off x="566928" y="1463040"/>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Every task pairs one item against two models. One side is always the base model, Gemini; the other is a comparison model that changes from task to task.</a:t>
            </a:r>
          </a:p>
        </p:txBody>
      </p:sp>
      <p:sp>
        <p:nvSpPr>
          <p:cNvPr id="6" name="Rounded Rectangle 5"/>
          <p:cNvSpPr/>
          <p:nvPr/>
        </p:nvSpPr>
        <p:spPr>
          <a:xfrm>
            <a:off x="566928" y="2011680"/>
            <a:ext cx="5303520" cy="25146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2286000"/>
            <a:ext cx="1783080" cy="329184"/>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350008"/>
            <a:ext cx="1783080" cy="219456"/>
          </a:xfrm>
          <a:prstGeom prst="rect">
            <a:avLst/>
          </a:prstGeom>
          <a:noFill/>
        </p:spPr>
        <p:txBody>
          <a:bodyPr wrap="square" lIns="0" rIns="0" tIns="0" bIns="0" anchor="t">
            <a:spAutoFit/>
          </a:bodyPr>
          <a:lstStyle/>
          <a:p>
            <a:pPr algn="ctr">
              <a:spcAft>
                <a:spcPts val="600"/>
              </a:spcAft>
            </a:pPr>
            <a:r>
              <a:rPr sz="1050" b="1" i="0">
                <a:solidFill>
                  <a:srgbClr val="FFFFFF"/>
                </a:solidFill>
                <a:latin typeface="Calibri"/>
              </a:rPr>
              <a:t>BASE TASK</a:t>
            </a:r>
          </a:p>
        </p:txBody>
      </p:sp>
      <p:sp>
        <p:nvSpPr>
          <p:cNvPr id="9" name="TextBox 8"/>
          <p:cNvSpPr txBox="1"/>
          <p:nvPr/>
        </p:nvSpPr>
        <p:spPr>
          <a:xfrm>
            <a:off x="859536" y="2779776"/>
            <a:ext cx="4846320" cy="274320"/>
          </a:xfrm>
          <a:prstGeom prst="rect">
            <a:avLst/>
          </a:prstGeom>
          <a:noFill/>
        </p:spPr>
        <p:txBody>
          <a:bodyPr wrap="square" lIns="0" rIns="0" tIns="0" bIns="0" anchor="t">
            <a:spAutoFit/>
          </a:bodyPr>
          <a:lstStyle/>
          <a:p>
            <a:pPr algn="l">
              <a:spcAft>
                <a:spcPts val="600"/>
              </a:spcAft>
            </a:pPr>
            <a:r>
              <a:rPr sz="1500" b="1" i="0">
                <a:solidFill>
                  <a:srgbClr val="6D2E46"/>
                </a:solidFill>
                <a:latin typeface="Cambria"/>
              </a:rPr>
              <a:t>Gemini vs. Model X</a:t>
            </a:r>
          </a:p>
        </p:txBody>
      </p:sp>
      <p:sp>
        <p:nvSpPr>
          <p:cNvPr id="10" name="TextBox 9"/>
          <p:cNvSpPr txBox="1"/>
          <p:nvPr/>
        </p:nvSpPr>
        <p:spPr>
          <a:xfrm>
            <a:off x="859536" y="3182112"/>
            <a:ext cx="4846320" cy="868680"/>
          </a:xfrm>
          <a:prstGeom prst="rect">
            <a:avLst/>
          </a:prstGeom>
          <a:noFill/>
        </p:spPr>
        <p:txBody>
          <a:bodyPr wrap="square" lIns="0" rIns="0" tIns="0" bIns="0" anchor="t">
            <a:spAutoFit/>
          </a:bodyPr>
          <a:lstStyle/>
          <a:p>
            <a:pPr algn="l">
              <a:lnSpc>
                <a:spcPct val="115000"/>
              </a:lnSpc>
              <a:spcAft>
                <a:spcPts val="600"/>
              </a:spcAft>
            </a:pPr>
            <a:r>
              <a:rPr sz="1250" b="0" i="0">
                <a:solidFill>
                  <a:srgbClr val="2B2126"/>
                </a:solidFill>
                <a:latin typeface="Calibri"/>
              </a:rPr>
              <a:t>You generate BOTH sides — full trajectory, grading, annotation and ratings for each. You reset twice, once before each model's run.</a:t>
            </a:r>
          </a:p>
        </p:txBody>
      </p:sp>
      <p:sp>
        <p:nvSpPr>
          <p:cNvPr id="11" name="TextBox 10"/>
          <p:cNvSpPr txBox="1"/>
          <p:nvPr/>
        </p:nvSpPr>
        <p:spPr>
          <a:xfrm>
            <a:off x="859536" y="4133087"/>
            <a:ext cx="4846320" cy="256032"/>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Reuses nothing</a:t>
            </a:r>
          </a:p>
        </p:txBody>
      </p:sp>
      <p:sp>
        <p:nvSpPr>
          <p:cNvPr id="12" name="Rounded Rectangle 11"/>
          <p:cNvSpPr/>
          <p:nvPr/>
        </p:nvSpPr>
        <p:spPr>
          <a:xfrm>
            <a:off x="6327648" y="2011680"/>
            <a:ext cx="5303520" cy="251460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20256" y="2286000"/>
            <a:ext cx="1783080" cy="329184"/>
          </a:xfrm>
          <a:prstGeom prst="roundRect">
            <a:avLst>
              <a:gd name="adj" fmla="val 6000"/>
            </a:avLst>
          </a:prstGeom>
          <a:solidFill>
            <a:srgbClr val="5F7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2350008"/>
            <a:ext cx="1783080" cy="219456"/>
          </a:xfrm>
          <a:prstGeom prst="rect">
            <a:avLst/>
          </a:prstGeom>
          <a:noFill/>
        </p:spPr>
        <p:txBody>
          <a:bodyPr wrap="square" lIns="0" rIns="0" tIns="0" bIns="0" anchor="t">
            <a:spAutoFit/>
          </a:bodyPr>
          <a:lstStyle/>
          <a:p>
            <a:pPr algn="ctr">
              <a:spcAft>
                <a:spcPts val="600"/>
              </a:spcAft>
            </a:pPr>
            <a:r>
              <a:rPr sz="1050" b="1" i="0">
                <a:solidFill>
                  <a:srgbClr val="FFFFFF"/>
                </a:solidFill>
                <a:latin typeface="Calibri"/>
              </a:rPr>
              <a:t>FOLLOW-ON TASK</a:t>
            </a:r>
          </a:p>
        </p:txBody>
      </p:sp>
      <p:sp>
        <p:nvSpPr>
          <p:cNvPr id="15" name="TextBox 14"/>
          <p:cNvSpPr txBox="1"/>
          <p:nvPr/>
        </p:nvSpPr>
        <p:spPr>
          <a:xfrm>
            <a:off x="6620256" y="2779776"/>
            <a:ext cx="4846320" cy="274320"/>
          </a:xfrm>
          <a:prstGeom prst="rect">
            <a:avLst/>
          </a:prstGeom>
          <a:noFill/>
        </p:spPr>
        <p:txBody>
          <a:bodyPr wrap="square" lIns="0" rIns="0" tIns="0" bIns="0" anchor="t">
            <a:spAutoFit/>
          </a:bodyPr>
          <a:lstStyle/>
          <a:p>
            <a:pPr algn="l">
              <a:spcAft>
                <a:spcPts val="600"/>
              </a:spcAft>
            </a:pPr>
            <a:r>
              <a:rPr sz="1500" b="1" i="0">
                <a:solidFill>
                  <a:srgbClr val="5F7A61"/>
                </a:solidFill>
                <a:latin typeface="Cambria"/>
              </a:rPr>
              <a:t>Gemini vs. a new Model X</a:t>
            </a:r>
          </a:p>
        </p:txBody>
      </p:sp>
      <p:sp>
        <p:nvSpPr>
          <p:cNvPr id="16" name="TextBox 15"/>
          <p:cNvSpPr txBox="1"/>
          <p:nvPr/>
        </p:nvSpPr>
        <p:spPr>
          <a:xfrm>
            <a:off x="6620256" y="3182112"/>
            <a:ext cx="4846320" cy="868680"/>
          </a:xfrm>
          <a:prstGeom prst="rect">
            <a:avLst/>
          </a:prstGeom>
          <a:noFill/>
        </p:spPr>
        <p:txBody>
          <a:bodyPr wrap="square" lIns="0" rIns="0" tIns="0" bIns="0" anchor="t">
            <a:spAutoFit/>
          </a:bodyPr>
          <a:lstStyle/>
          <a:p>
            <a:pPr algn="l">
              <a:lnSpc>
                <a:spcPct val="115000"/>
              </a:lnSpc>
              <a:spcAft>
                <a:spcPts val="600"/>
              </a:spcAft>
            </a:pPr>
            <a:r>
              <a:rPr sz="1250" b="0" i="0">
                <a:solidFill>
                  <a:srgbClr val="2B2126"/>
                </a:solidFill>
                <a:latin typeface="Calibri"/>
              </a:rPr>
              <a:t>You generate the NEW MODEL ONLY. Gemini's trajectory, grades, ratings and links are reused exactly as produced on the base task.</a:t>
            </a:r>
          </a:p>
        </p:txBody>
      </p:sp>
      <p:sp>
        <p:nvSpPr>
          <p:cNvPr id="17" name="TextBox 16"/>
          <p:cNvSpPr txBox="1"/>
          <p:nvPr/>
        </p:nvSpPr>
        <p:spPr>
          <a:xfrm>
            <a:off x="6620256" y="4133087"/>
            <a:ext cx="4846320" cy="256032"/>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Reuses the base side</a:t>
            </a:r>
          </a:p>
        </p:txBody>
      </p:sp>
      <p:sp>
        <p:nvSpPr>
          <p:cNvPr id="18" name="Rounded Rectangle 17"/>
          <p:cNvSpPr/>
          <p:nvPr/>
        </p:nvSpPr>
        <p:spPr>
          <a:xfrm>
            <a:off x="566928" y="4754880"/>
            <a:ext cx="11064240" cy="914400"/>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4956048"/>
            <a:ext cx="10424160" cy="548640"/>
          </a:xfrm>
          <a:prstGeom prst="rect">
            <a:avLst/>
          </a:prstGeom>
          <a:noFill/>
        </p:spPr>
        <p:txBody>
          <a:bodyPr wrap="square" lIns="0" rIns="0" tIns="0" bIns="0" anchor="t">
            <a:spAutoFit/>
          </a:bodyPr>
          <a:lstStyle/>
          <a:p>
            <a:pPr algn="l">
              <a:lnSpc>
                <a:spcPct val="110000"/>
              </a:lnSpc>
              <a:spcAft>
                <a:spcPts val="600"/>
              </a:spcAft>
            </a:pPr>
            <a:r>
              <a:rPr sz="1250" b="1" i="0">
                <a:solidFill>
                  <a:srgbClr val="6D2E46"/>
                </a:solidFill>
                <a:latin typeface="Calibri"/>
              </a:rPr>
              <a:t>Never touch an existing trajectory.  </a:t>
            </a:r>
            <a:r>
              <a:rPr sz="1250" b="0" i="0">
                <a:solidFill>
                  <a:srgbClr val="2B2126"/>
                </a:solidFill>
                <a:latin typeface="Calibri"/>
              </a:rPr>
              <a:t>On a follow-on task the Gemini side is final — do not re-run, re-grade, re-rate, re-upload, edit or delete it. Modifying one invalidates the whole comparison and fails the task. If it looks wrong, flag it in the War Room.</a:t>
            </a:r>
          </a:p>
        </p:txBody>
      </p:sp>
      <p:sp>
        <p:nvSpPr>
          <p:cNvPr id="20" name="TextBox 19"/>
          <p:cNvSpPr txBox="1"/>
          <p:nvPr/>
        </p:nvSpPr>
        <p:spPr>
          <a:xfrm>
            <a:off x="566928" y="5806440"/>
            <a:ext cx="11064240" cy="365760"/>
          </a:xfrm>
          <a:prstGeom prst="rect">
            <a:avLst/>
          </a:prstGeom>
          <a:noFill/>
        </p:spPr>
        <p:txBody>
          <a:bodyPr wrap="square" lIns="0" rIns="0" tIns="0" bIns="0" anchor="t">
            <a:spAutoFit/>
          </a:bodyPr>
          <a:lstStyle/>
          <a:p>
            <a:pPr algn="l">
              <a:spcAft>
                <a:spcPts val="600"/>
              </a:spcAft>
            </a:pPr>
            <a:r>
              <a:rPr sz="1200" b="1" i="0">
                <a:solidFill>
                  <a:srgbClr val="A26769"/>
                </a:solidFill>
                <a:latin typeface="Calibri"/>
              </a:rPr>
              <a:t>Two Geminis in one task is the biggest trap in this queue. </a:t>
            </a:r>
            <a:r>
              <a:rPr sz="1200" b="0" i="0">
                <a:solidFill>
                  <a:srgbClr val="6B6064"/>
                </a:solidFill>
                <a:latin typeface="Calibri"/>
              </a:rPr>
              <a:t>Match the version string character for character and screenshot the selector before Turn 1.</a:t>
            </a:r>
          </a:p>
        </p:txBody>
      </p:sp>
      <p:sp>
        <p:nvSpPr>
          <p:cNvPr id="21" name="TextBox 20"/>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22" name="TextBox 21"/>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2  ·  STEP BY STEP</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Run, capture, grade, rate, compare — in that order</a:t>
            </a:r>
          </a:p>
        </p:txBody>
      </p:sp>
      <p:sp>
        <p:nvSpPr>
          <p:cNvPr id="5" name="Oval 4"/>
          <p:cNvSpPr/>
          <p:nvPr/>
        </p:nvSpPr>
        <p:spPr>
          <a:xfrm>
            <a:off x="566928" y="1645920"/>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a:t>
            </a:r>
          </a:p>
        </p:txBody>
      </p:sp>
      <p:sp>
        <p:nvSpPr>
          <p:cNvPr id="6" name="TextBox 5"/>
          <p:cNvSpPr txBox="1"/>
          <p:nvPr/>
        </p:nvSpPr>
        <p:spPr>
          <a:xfrm>
            <a:off x="1042415" y="1659636"/>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Confirm the account</a:t>
            </a:r>
          </a:p>
        </p:txBody>
      </p:sp>
      <p:sp>
        <p:nvSpPr>
          <p:cNvPr id="7" name="TextBox 6"/>
          <p:cNvSpPr txBox="1"/>
          <p:nvPr/>
        </p:nvSpPr>
        <p:spPr>
          <a:xfrm>
            <a:off x="1042415" y="1906524"/>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Match the model named in the task to its account</a:t>
            </a:r>
          </a:p>
        </p:txBody>
      </p:sp>
      <p:sp>
        <p:nvSpPr>
          <p:cNvPr id="8" name="Oval 7"/>
          <p:cNvSpPr/>
          <p:nvPr/>
        </p:nvSpPr>
        <p:spPr>
          <a:xfrm>
            <a:off x="566928" y="23042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2</a:t>
            </a:r>
          </a:p>
        </p:txBody>
      </p:sp>
      <p:sp>
        <p:nvSpPr>
          <p:cNvPr id="9" name="TextBox 8"/>
          <p:cNvSpPr txBox="1"/>
          <p:nvPr/>
        </p:nvSpPr>
        <p:spPr>
          <a:xfrm>
            <a:off x="1042415" y="2318004"/>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Confirm the model + screenshot</a:t>
            </a:r>
          </a:p>
        </p:txBody>
      </p:sp>
      <p:sp>
        <p:nvSpPr>
          <p:cNvPr id="10" name="TextBox 9"/>
          <p:cNvSpPr txBox="1"/>
          <p:nvPr/>
        </p:nvSpPr>
        <p:spPr>
          <a:xfrm>
            <a:off x="1042415" y="2564892"/>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Selector legible, taken before Turn 1</a:t>
            </a:r>
          </a:p>
        </p:txBody>
      </p:sp>
      <p:sp>
        <p:nvSpPr>
          <p:cNvPr id="11" name="Oval 10"/>
          <p:cNvSpPr/>
          <p:nvPr/>
        </p:nvSpPr>
        <p:spPr>
          <a:xfrm>
            <a:off x="566928" y="2962656"/>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3</a:t>
            </a:r>
          </a:p>
        </p:txBody>
      </p:sp>
      <p:sp>
        <p:nvSpPr>
          <p:cNvPr id="12" name="TextBox 11"/>
          <p:cNvSpPr txBox="1"/>
          <p:nvPr/>
        </p:nvSpPr>
        <p:spPr>
          <a:xfrm>
            <a:off x="1042415" y="2976372"/>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Check the starter universe</a:t>
            </a:r>
          </a:p>
        </p:txBody>
      </p:sp>
      <p:sp>
        <p:nvSpPr>
          <p:cNvPr id="13" name="TextBox 12"/>
          <p:cNvSpPr txBox="1"/>
          <p:nvPr/>
        </p:nvSpPr>
        <p:spPr>
          <a:xfrm>
            <a:off x="1042415" y="3223260"/>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If the task is connector-based</a:t>
            </a:r>
          </a:p>
        </p:txBody>
      </p:sp>
      <p:sp>
        <p:nvSpPr>
          <p:cNvPr id="14" name="Oval 13"/>
          <p:cNvSpPr/>
          <p:nvPr/>
        </p:nvSpPr>
        <p:spPr>
          <a:xfrm>
            <a:off x="566928" y="3621024"/>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4</a:t>
            </a:r>
          </a:p>
        </p:txBody>
      </p:sp>
      <p:sp>
        <p:nvSpPr>
          <p:cNvPr id="15" name="TextBox 14"/>
          <p:cNvSpPr txBox="1"/>
          <p:nvPr/>
        </p:nvSpPr>
        <p:spPr>
          <a:xfrm>
            <a:off x="1042415" y="3634740"/>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Rehydrate, then run 20+ turns</a:t>
            </a:r>
          </a:p>
        </p:txBody>
      </p:sp>
      <p:sp>
        <p:nvSpPr>
          <p:cNvPr id="16" name="TextBox 15"/>
          <p:cNvSpPr txBox="1"/>
          <p:nvPr/>
        </p:nvSpPr>
        <p:spPr>
          <a:xfrm>
            <a:off x="1042415" y="3881628"/>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Opening prompt verbatim as Turn 1</a:t>
            </a:r>
          </a:p>
        </p:txBody>
      </p:sp>
      <p:sp>
        <p:nvSpPr>
          <p:cNvPr id="17" name="Oval 16"/>
          <p:cNvSpPr/>
          <p:nvPr/>
        </p:nvSpPr>
        <p:spPr>
          <a:xfrm>
            <a:off x="566928" y="4279392"/>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5</a:t>
            </a:r>
          </a:p>
        </p:txBody>
      </p:sp>
      <p:sp>
        <p:nvSpPr>
          <p:cNvPr id="18" name="TextBox 17"/>
          <p:cNvSpPr txBox="1"/>
          <p:nvPr/>
        </p:nvSpPr>
        <p:spPr>
          <a:xfrm>
            <a:off x="1042415" y="4293107"/>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Record every turn</a:t>
            </a:r>
          </a:p>
        </p:txBody>
      </p:sp>
      <p:sp>
        <p:nvSpPr>
          <p:cNvPr id="19" name="TextBox 18"/>
          <p:cNvSpPr txBox="1"/>
          <p:nvPr/>
        </p:nvSpPr>
        <p:spPr>
          <a:xfrm>
            <a:off x="1042415" y="4539996"/>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Exact prompt as title · link · files · one key turn</a:t>
            </a:r>
          </a:p>
        </p:txBody>
      </p:sp>
      <p:sp>
        <p:nvSpPr>
          <p:cNvPr id="20" name="Oval 19"/>
          <p:cNvSpPr/>
          <p:nvPr/>
        </p:nvSpPr>
        <p:spPr>
          <a:xfrm>
            <a:off x="566928" y="4937759"/>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6</a:t>
            </a:r>
          </a:p>
        </p:txBody>
      </p:sp>
      <p:sp>
        <p:nvSpPr>
          <p:cNvPr id="21" name="TextBox 20"/>
          <p:cNvSpPr txBox="1"/>
          <p:nvPr/>
        </p:nvSpPr>
        <p:spPr>
          <a:xfrm>
            <a:off x="1042415" y="4951475"/>
            <a:ext cx="4965192"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Submit the final evidence</a:t>
            </a:r>
          </a:p>
        </p:txBody>
      </p:sp>
      <p:sp>
        <p:nvSpPr>
          <p:cNvPr id="22" name="TextBox 21"/>
          <p:cNvSpPr txBox="1"/>
          <p:nvPr/>
        </p:nvSpPr>
        <p:spPr>
          <a:xfrm>
            <a:off x="1042415" y="5198364"/>
            <a:ext cx="4965192"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Share link · chat PDF · output artifacts</a:t>
            </a:r>
          </a:p>
        </p:txBody>
      </p:sp>
      <p:sp>
        <p:nvSpPr>
          <p:cNvPr id="23" name="Oval 22"/>
          <p:cNvSpPr/>
          <p:nvPr/>
        </p:nvSpPr>
        <p:spPr>
          <a:xfrm>
            <a:off x="6327648" y="1645920"/>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7</a:t>
            </a:r>
          </a:p>
        </p:txBody>
      </p:sp>
      <p:sp>
        <p:nvSpPr>
          <p:cNvPr id="24" name="TextBox 23"/>
          <p:cNvSpPr txBox="1"/>
          <p:nvPr/>
        </p:nvSpPr>
        <p:spPr>
          <a:xfrm>
            <a:off x="6803136" y="1659636"/>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Lint acknowledgement</a:t>
            </a:r>
          </a:p>
        </p:txBody>
      </p:sp>
      <p:sp>
        <p:nvSpPr>
          <p:cNvPr id="25" name="TextBox 24"/>
          <p:cNvSpPr txBox="1"/>
          <p:nvPr/>
        </p:nvSpPr>
        <p:spPr>
          <a:xfrm>
            <a:off x="6803136" y="1906524"/>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Fix what is fixable before acknowledging</a:t>
            </a:r>
          </a:p>
        </p:txBody>
      </p:sp>
      <p:sp>
        <p:nvSpPr>
          <p:cNvPr id="26" name="Oval 25"/>
          <p:cNvSpPr/>
          <p:nvPr/>
        </p:nvSpPr>
        <p:spPr>
          <a:xfrm>
            <a:off x="6327648" y="2304288"/>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8</a:t>
            </a:r>
          </a:p>
        </p:txBody>
      </p:sp>
      <p:sp>
        <p:nvSpPr>
          <p:cNvPr id="27" name="TextBox 26"/>
          <p:cNvSpPr txBox="1"/>
          <p:nvPr/>
        </p:nvSpPr>
        <p:spPr>
          <a:xfrm>
            <a:off x="6803136" y="2318004"/>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Grade every criterion</a:t>
            </a:r>
          </a:p>
        </p:txBody>
      </p:sp>
      <p:sp>
        <p:nvSpPr>
          <p:cNvPr id="28" name="TextBox 27"/>
          <p:cNvSpPr txBox="1"/>
          <p:nvPr/>
        </p:nvSpPr>
        <p:spPr>
          <a:xfrm>
            <a:off x="6803136" y="2564892"/>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Pass 1 / fail 0 · never edit the rubric</a:t>
            </a:r>
          </a:p>
        </p:txBody>
      </p:sp>
      <p:sp>
        <p:nvSpPr>
          <p:cNvPr id="29" name="Oval 28"/>
          <p:cNvSpPr/>
          <p:nvPr/>
        </p:nvSpPr>
        <p:spPr>
          <a:xfrm>
            <a:off x="6327648" y="2962656"/>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9</a:t>
            </a:r>
          </a:p>
        </p:txBody>
      </p:sp>
      <p:sp>
        <p:nvSpPr>
          <p:cNvPr id="30" name="TextBox 29"/>
          <p:cNvSpPr txBox="1"/>
          <p:nvPr/>
        </p:nvSpPr>
        <p:spPr>
          <a:xfrm>
            <a:off x="6803136" y="2976372"/>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Annotate the turns</a:t>
            </a:r>
          </a:p>
        </p:txBody>
      </p:sp>
      <p:sp>
        <p:nvSpPr>
          <p:cNvPr id="31" name="TextBox 30"/>
          <p:cNvSpPr txBox="1"/>
          <p:nvPr/>
        </p:nvSpPr>
        <p:spPr>
          <a:xfrm>
            <a:off x="6803136" y="3223260"/>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Link each criterion to where it was decided</a:t>
            </a:r>
          </a:p>
        </p:txBody>
      </p:sp>
      <p:sp>
        <p:nvSpPr>
          <p:cNvPr id="32" name="Oval 31"/>
          <p:cNvSpPr/>
          <p:nvPr/>
        </p:nvSpPr>
        <p:spPr>
          <a:xfrm>
            <a:off x="6327648" y="3621024"/>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10</a:t>
            </a:r>
          </a:p>
        </p:txBody>
      </p:sp>
      <p:sp>
        <p:nvSpPr>
          <p:cNvPr id="33" name="TextBox 32"/>
          <p:cNvSpPr txBox="1"/>
          <p:nvPr/>
        </p:nvSpPr>
        <p:spPr>
          <a:xfrm>
            <a:off x="6803136" y="3634740"/>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Rate the eight dimensions</a:t>
            </a:r>
          </a:p>
        </p:txBody>
      </p:sp>
      <p:sp>
        <p:nvSpPr>
          <p:cNvPr id="34" name="TextBox 33"/>
          <p:cNvSpPr txBox="1"/>
          <p:nvPr/>
        </p:nvSpPr>
        <p:spPr>
          <a:xfrm>
            <a:off x="6803136" y="3881628"/>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1–5 · 200+ char justification · cite turns</a:t>
            </a:r>
          </a:p>
        </p:txBody>
      </p:sp>
      <p:sp>
        <p:nvSpPr>
          <p:cNvPr id="35" name="Oval 34"/>
          <p:cNvSpPr/>
          <p:nvPr/>
        </p:nvSpPr>
        <p:spPr>
          <a:xfrm>
            <a:off x="6327648" y="4279392"/>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11</a:t>
            </a:r>
          </a:p>
        </p:txBody>
      </p:sp>
      <p:sp>
        <p:nvSpPr>
          <p:cNvPr id="36" name="TextBox 35"/>
          <p:cNvSpPr txBox="1"/>
          <p:nvPr/>
        </p:nvSpPr>
        <p:spPr>
          <a:xfrm>
            <a:off x="6803136" y="4293107"/>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Record one preference</a:t>
            </a:r>
          </a:p>
        </p:txBody>
      </p:sp>
      <p:sp>
        <p:nvSpPr>
          <p:cNvPr id="37" name="TextBox 36"/>
          <p:cNvSpPr txBox="1"/>
          <p:nvPr/>
        </p:nvSpPr>
        <p:spPr>
          <a:xfrm>
            <a:off x="6803136" y="4539996"/>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1–7 · read the slot labels every time</a:t>
            </a:r>
          </a:p>
        </p:txBody>
      </p:sp>
      <p:sp>
        <p:nvSpPr>
          <p:cNvPr id="38" name="Oval 37"/>
          <p:cNvSpPr/>
          <p:nvPr/>
        </p:nvSpPr>
        <p:spPr>
          <a:xfrm>
            <a:off x="6327648" y="4937759"/>
            <a:ext cx="329184" cy="329184"/>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12</a:t>
            </a:r>
          </a:p>
        </p:txBody>
      </p:sp>
      <p:sp>
        <p:nvSpPr>
          <p:cNvPr id="39" name="TextBox 38"/>
          <p:cNvSpPr txBox="1"/>
          <p:nvPr/>
        </p:nvSpPr>
        <p:spPr>
          <a:xfrm>
            <a:off x="6803136" y="4951475"/>
            <a:ext cx="4828031" cy="237744"/>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Chat preservation</a:t>
            </a:r>
          </a:p>
        </p:txBody>
      </p:sp>
      <p:sp>
        <p:nvSpPr>
          <p:cNvPr id="40" name="TextBox 39"/>
          <p:cNvSpPr txBox="1"/>
          <p:nvPr/>
        </p:nvSpPr>
        <p:spPr>
          <a:xfrm>
            <a:off x="6803136" y="5198364"/>
            <a:ext cx="4828031" cy="457200"/>
          </a:xfrm>
          <a:prstGeom prst="rect">
            <a:avLst/>
          </a:prstGeom>
          <a:noFill/>
        </p:spPr>
        <p:txBody>
          <a:bodyPr wrap="square" lIns="0" rIns="0" tIns="0" bIns="0" anchor="t">
            <a:spAutoFit/>
          </a:bodyPr>
          <a:lstStyle/>
          <a:p>
            <a:pPr algn="l">
              <a:lnSpc>
                <a:spcPct val="95000"/>
              </a:lnSpc>
              <a:spcAft>
                <a:spcPts val="600"/>
              </a:spcAft>
            </a:pPr>
            <a:r>
              <a:rPr sz="1050" b="0" i="0">
                <a:solidFill>
                  <a:srgbClr val="6B6064"/>
                </a:solidFill>
                <a:latin typeface="Calibri"/>
              </a:rPr>
              <a:t>Tick the acknowledgement, then submit</a:t>
            </a:r>
          </a:p>
        </p:txBody>
      </p:sp>
      <p:sp>
        <p:nvSpPr>
          <p:cNvPr id="41" name="Rounded Rectangle 40"/>
          <p:cNvSpPr/>
          <p:nvPr/>
        </p:nvSpPr>
        <p:spPr>
          <a:xfrm>
            <a:off x="566928" y="5724144"/>
            <a:ext cx="11064240" cy="438912"/>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7" y="5833872"/>
            <a:ext cx="10515600" cy="292608"/>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On the base task you do steps 4–11 twice — once per model, with a rehydration between them.</a:t>
            </a:r>
          </a:p>
        </p:txBody>
      </p:sp>
      <p:sp>
        <p:nvSpPr>
          <p:cNvPr id="43" name="TextBox 42"/>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44" name="TextBox 43"/>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2  ·  STEERING</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Running the trajectory</a:t>
            </a:r>
          </a:p>
        </p:txBody>
      </p:sp>
      <p:sp>
        <p:nvSpPr>
          <p:cNvPr id="5" name="Rounded Rectangle 4"/>
          <p:cNvSpPr/>
          <p:nvPr/>
        </p:nvSpPr>
        <p:spPr>
          <a:xfrm>
            <a:off x="566928" y="1572768"/>
            <a:ext cx="2606040" cy="1417320"/>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737360"/>
            <a:ext cx="2606040" cy="685800"/>
          </a:xfrm>
          <a:prstGeom prst="rect">
            <a:avLst/>
          </a:prstGeom>
          <a:noFill/>
        </p:spPr>
        <p:txBody>
          <a:bodyPr wrap="square" lIns="0" rIns="0" tIns="0" bIns="0" anchor="t">
            <a:spAutoFit/>
          </a:bodyPr>
          <a:lstStyle/>
          <a:p>
            <a:pPr algn="ctr">
              <a:spcAft>
                <a:spcPts val="600"/>
              </a:spcAft>
            </a:pPr>
            <a:r>
              <a:rPr sz="4400" b="1" i="0">
                <a:solidFill>
                  <a:srgbClr val="FFFFFF"/>
                </a:solidFill>
                <a:latin typeface="Cambria"/>
              </a:rPr>
              <a:t>20+</a:t>
            </a:r>
          </a:p>
        </p:txBody>
      </p:sp>
      <p:sp>
        <p:nvSpPr>
          <p:cNvPr id="7" name="TextBox 6"/>
          <p:cNvSpPr txBox="1"/>
          <p:nvPr/>
        </p:nvSpPr>
        <p:spPr>
          <a:xfrm>
            <a:off x="566928" y="2487168"/>
            <a:ext cx="2606040" cy="274320"/>
          </a:xfrm>
          <a:prstGeom prst="rect">
            <a:avLst/>
          </a:prstGeom>
          <a:noFill/>
        </p:spPr>
        <p:txBody>
          <a:bodyPr wrap="square" lIns="0" rIns="0" tIns="0" bIns="0" anchor="t">
            <a:spAutoFit/>
          </a:bodyPr>
          <a:lstStyle/>
          <a:p>
            <a:pPr algn="ctr">
              <a:spcAft>
                <a:spcPts val="600"/>
              </a:spcAft>
            </a:pPr>
            <a:r>
              <a:rPr sz="1150" b="0" i="0">
                <a:solidFill>
                  <a:srgbClr val="ECE2D0"/>
                </a:solidFill>
                <a:latin typeface="Calibri"/>
              </a:rPr>
              <a:t>turns is the design target</a:t>
            </a:r>
          </a:p>
        </p:txBody>
      </p:sp>
      <p:sp>
        <p:nvSpPr>
          <p:cNvPr id="8" name="Rounded Rectangle 7"/>
          <p:cNvSpPr/>
          <p:nvPr/>
        </p:nvSpPr>
        <p:spPr>
          <a:xfrm>
            <a:off x="3401568" y="1572768"/>
            <a:ext cx="2606040" cy="14173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1737360"/>
            <a:ext cx="2606040" cy="685800"/>
          </a:xfrm>
          <a:prstGeom prst="rect">
            <a:avLst/>
          </a:prstGeom>
          <a:noFill/>
        </p:spPr>
        <p:txBody>
          <a:bodyPr wrap="square" lIns="0" rIns="0" tIns="0" bIns="0" anchor="t">
            <a:spAutoFit/>
          </a:bodyPr>
          <a:lstStyle/>
          <a:p>
            <a:pPr algn="ctr">
              <a:spcAft>
                <a:spcPts val="600"/>
              </a:spcAft>
            </a:pPr>
            <a:r>
              <a:rPr sz="4400" b="1" i="0">
                <a:solidFill>
                  <a:srgbClr val="6D2E46"/>
                </a:solidFill>
                <a:latin typeface="Cambria"/>
              </a:rPr>
              <a:t>&lt; 7</a:t>
            </a:r>
          </a:p>
        </p:txBody>
      </p:sp>
      <p:sp>
        <p:nvSpPr>
          <p:cNvPr id="10" name="TextBox 9"/>
          <p:cNvSpPr txBox="1"/>
          <p:nvPr/>
        </p:nvSpPr>
        <p:spPr>
          <a:xfrm>
            <a:off x="3401568" y="2487168"/>
            <a:ext cx="2606040" cy="274320"/>
          </a:xfrm>
          <a:prstGeom prst="rect">
            <a:avLst/>
          </a:prstGeom>
          <a:noFill/>
        </p:spPr>
        <p:txBody>
          <a:bodyPr wrap="square" lIns="0" rIns="0" tIns="0" bIns="0" anchor="t">
            <a:spAutoFit/>
          </a:bodyPr>
          <a:lstStyle/>
          <a:p>
            <a:pPr algn="ctr">
              <a:spcAft>
                <a:spcPts val="600"/>
              </a:spcAft>
            </a:pPr>
            <a:r>
              <a:rPr sz="1150" b="0" i="0">
                <a:solidFill>
                  <a:srgbClr val="6B6064"/>
                </a:solidFill>
                <a:latin typeface="Calibri"/>
              </a:rPr>
              <a:t>turns fails outright</a:t>
            </a:r>
          </a:p>
        </p:txBody>
      </p:sp>
      <p:sp>
        <p:nvSpPr>
          <p:cNvPr id="11" name="TextBox 10"/>
          <p:cNvSpPr txBox="1"/>
          <p:nvPr/>
        </p:nvSpPr>
        <p:spPr>
          <a:xfrm>
            <a:off x="6419088" y="1627632"/>
            <a:ext cx="5212080" cy="274320"/>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THE RUN LOOP</a:t>
            </a:r>
          </a:p>
        </p:txBody>
      </p:sp>
      <p:sp>
        <p:nvSpPr>
          <p:cNvPr id="12" name="TextBox 11"/>
          <p:cNvSpPr txBox="1"/>
          <p:nvPr/>
        </p:nvSpPr>
        <p:spPr>
          <a:xfrm>
            <a:off x="6419088" y="1920240"/>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1.  </a:t>
            </a:r>
            <a:r>
              <a:rPr sz="1150" b="0" i="0">
                <a:solidFill>
                  <a:srgbClr val="2B2126"/>
                </a:solidFill>
                <a:latin typeface="Calibri"/>
              </a:rPr>
              <a:t>Rehydrate the account</a:t>
            </a:r>
          </a:p>
        </p:txBody>
      </p:sp>
      <p:sp>
        <p:nvSpPr>
          <p:cNvPr id="13" name="TextBox 12"/>
          <p:cNvSpPr txBox="1"/>
          <p:nvPr/>
        </p:nvSpPr>
        <p:spPr>
          <a:xfrm>
            <a:off x="6419088" y="2185416"/>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2.  </a:t>
            </a:r>
            <a:r>
              <a:rPr sz="1150" b="0" i="0">
                <a:solidFill>
                  <a:srgbClr val="2B2126"/>
                </a:solidFill>
                <a:latin typeface="Calibri"/>
              </a:rPr>
              <a:t>New chat — opening prompt verbatim as Turn 1</a:t>
            </a:r>
          </a:p>
        </p:txBody>
      </p:sp>
      <p:sp>
        <p:nvSpPr>
          <p:cNvPr id="14" name="TextBox 13"/>
          <p:cNvSpPr txBox="1"/>
          <p:nvPr/>
        </p:nvSpPr>
        <p:spPr>
          <a:xfrm>
            <a:off x="6419088" y="2450592"/>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3.  </a:t>
            </a:r>
            <a:r>
              <a:rPr sz="1150" b="0" i="0">
                <a:solidFill>
                  <a:srgbClr val="2B2126"/>
                </a:solidFill>
                <a:latin typeface="Calibri"/>
              </a:rPr>
              <a:t>Steer naturally toward the deliverables</a:t>
            </a:r>
          </a:p>
        </p:txBody>
      </p:sp>
      <p:sp>
        <p:nvSpPr>
          <p:cNvPr id="15" name="TextBox 14"/>
          <p:cNvSpPr txBox="1"/>
          <p:nvPr/>
        </p:nvSpPr>
        <p:spPr>
          <a:xfrm>
            <a:off x="6419088" y="2715768"/>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4.  </a:t>
            </a:r>
            <a:r>
              <a:rPr sz="1150" b="0" i="0">
                <a:solidFill>
                  <a:srgbClr val="2B2126"/>
                </a:solidFill>
                <a:latin typeface="Calibri"/>
              </a:rPr>
              <a:t>Save the share link after every turn</a:t>
            </a:r>
          </a:p>
        </p:txBody>
      </p:sp>
      <p:sp>
        <p:nvSpPr>
          <p:cNvPr id="16" name="TextBox 15"/>
          <p:cNvSpPr txBox="1"/>
          <p:nvPr/>
        </p:nvSpPr>
        <p:spPr>
          <a:xfrm>
            <a:off x="6419088" y="2980944"/>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5.  </a:t>
            </a:r>
            <a:r>
              <a:rPr sz="1150" b="0" i="0">
                <a:solidFill>
                  <a:srgbClr val="2B2126"/>
                </a:solidFill>
                <a:latin typeface="Calibri"/>
              </a:rPr>
              <a:t>Note the turn number of every notable moment</a:t>
            </a:r>
          </a:p>
        </p:txBody>
      </p:sp>
      <p:sp>
        <p:nvSpPr>
          <p:cNvPr id="17" name="TextBox 16"/>
          <p:cNvSpPr txBox="1"/>
          <p:nvPr/>
        </p:nvSpPr>
        <p:spPr>
          <a:xfrm>
            <a:off x="6419088" y="3246120"/>
            <a:ext cx="5212080" cy="246888"/>
          </a:xfrm>
          <a:prstGeom prst="rect">
            <a:avLst/>
          </a:prstGeom>
          <a:noFill/>
        </p:spPr>
        <p:txBody>
          <a:bodyPr wrap="square" lIns="0" rIns="0" tIns="0" bIns="0" anchor="t">
            <a:spAutoFit/>
          </a:bodyPr>
          <a:lstStyle/>
          <a:p>
            <a:pPr algn="l">
              <a:spcAft>
                <a:spcPts val="600"/>
              </a:spcAft>
            </a:pPr>
            <a:r>
              <a:rPr sz="1150" b="1" i="0">
                <a:solidFill>
                  <a:srgbClr val="A26769"/>
                </a:solidFill>
                <a:latin typeface="Calibri"/>
              </a:rPr>
              <a:t>6.  </a:t>
            </a:r>
            <a:r>
              <a:rPr sz="1150" b="0" i="0">
                <a:solidFill>
                  <a:srgbClr val="2B2126"/>
                </a:solidFill>
                <a:latin typeface="Calibri"/>
              </a:rPr>
              <a:t>Grade and rate while it is fresh</a:t>
            </a:r>
          </a:p>
        </p:txBody>
      </p:sp>
      <p:sp>
        <p:nvSpPr>
          <p:cNvPr id="18" name="Rounded Rectangle 17"/>
          <p:cNvSpPr/>
          <p:nvPr/>
        </p:nvSpPr>
        <p:spPr>
          <a:xfrm>
            <a:off x="566928" y="3611880"/>
            <a:ext cx="5303520" cy="201168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3785615"/>
            <a:ext cx="4846320" cy="256032"/>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GOOD STEERING</a:t>
            </a:r>
          </a:p>
        </p:txBody>
      </p:sp>
      <p:sp>
        <p:nvSpPr>
          <p:cNvPr id="20" name="TextBox 19"/>
          <p:cNvSpPr txBox="1"/>
          <p:nvPr/>
        </p:nvSpPr>
        <p:spPr>
          <a:xfrm>
            <a:off x="859536" y="4133087"/>
            <a:ext cx="4846320" cy="329184"/>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  </a:t>
            </a:r>
            <a:r>
              <a:rPr sz="1150" b="0" i="0">
                <a:solidFill>
                  <a:srgbClr val="2B2126"/>
                </a:solidFill>
                <a:latin typeface="Calibri"/>
              </a:rPr>
              <a:t>Introduce withheld details as a real user would</a:t>
            </a:r>
          </a:p>
        </p:txBody>
      </p:sp>
      <p:sp>
        <p:nvSpPr>
          <p:cNvPr id="21" name="TextBox 20"/>
          <p:cNvSpPr txBox="1"/>
          <p:nvPr/>
        </p:nvSpPr>
        <p:spPr>
          <a:xfrm>
            <a:off x="859536" y="4498848"/>
            <a:ext cx="4846320" cy="329184"/>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  </a:t>
            </a:r>
            <a:r>
              <a:rPr sz="1150" b="0" i="0">
                <a:solidFill>
                  <a:srgbClr val="2B2126"/>
                </a:solidFill>
                <a:latin typeface="Calibri"/>
              </a:rPr>
              <a:t>Correct the model; pivot; follow up</a:t>
            </a:r>
          </a:p>
        </p:txBody>
      </p:sp>
      <p:sp>
        <p:nvSpPr>
          <p:cNvPr id="22" name="TextBox 21"/>
          <p:cNvSpPr txBox="1"/>
          <p:nvPr/>
        </p:nvSpPr>
        <p:spPr>
          <a:xfrm>
            <a:off x="859536" y="4864607"/>
            <a:ext cx="4846320" cy="329184"/>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  </a:t>
            </a:r>
            <a:r>
              <a:rPr sz="1150" b="0" i="0">
                <a:solidFill>
                  <a:srgbClr val="2B2126"/>
                </a:solidFill>
                <a:latin typeface="Calibri"/>
              </a:rPr>
              <a:t>Keep going when it struggles — struggling is signal</a:t>
            </a:r>
          </a:p>
        </p:txBody>
      </p:sp>
      <p:sp>
        <p:nvSpPr>
          <p:cNvPr id="23" name="TextBox 22"/>
          <p:cNvSpPr txBox="1"/>
          <p:nvPr/>
        </p:nvSpPr>
        <p:spPr>
          <a:xfrm>
            <a:off x="859536" y="5230368"/>
            <a:ext cx="4846320" cy="329184"/>
          </a:xfrm>
          <a:prstGeom prst="rect">
            <a:avLst/>
          </a:prstGeom>
          <a:noFill/>
        </p:spPr>
        <p:txBody>
          <a:bodyPr wrap="square" lIns="0" rIns="0" tIns="0" bIns="0" anchor="t">
            <a:spAutoFit/>
          </a:bodyPr>
          <a:lstStyle/>
          <a:p>
            <a:pPr algn="l">
              <a:spcAft>
                <a:spcPts val="600"/>
              </a:spcAft>
            </a:pPr>
            <a:r>
              <a:rPr sz="1150" b="1" i="0">
                <a:solidFill>
                  <a:srgbClr val="5F7A61"/>
                </a:solidFill>
                <a:latin typeface="Calibri"/>
              </a:rPr>
              <a:t>✓  </a:t>
            </a:r>
            <a:r>
              <a:rPr sz="1150" b="0" i="0">
                <a:solidFill>
                  <a:srgbClr val="2B2126"/>
                </a:solidFill>
                <a:latin typeface="Calibri"/>
              </a:rPr>
              <a:t>Pursue the same deliverables with both models</a:t>
            </a:r>
          </a:p>
        </p:txBody>
      </p:sp>
      <p:sp>
        <p:nvSpPr>
          <p:cNvPr id="24" name="Rounded Rectangle 23"/>
          <p:cNvSpPr/>
          <p:nvPr/>
        </p:nvSpPr>
        <p:spPr>
          <a:xfrm>
            <a:off x="6327648" y="3611880"/>
            <a:ext cx="5303520" cy="201168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0256" y="3785615"/>
            <a:ext cx="4754880" cy="256032"/>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BAD STEERING</a:t>
            </a:r>
          </a:p>
        </p:txBody>
      </p:sp>
      <p:sp>
        <p:nvSpPr>
          <p:cNvPr id="26" name="TextBox 25"/>
          <p:cNvSpPr txBox="1"/>
          <p:nvPr/>
        </p:nvSpPr>
        <p:spPr>
          <a:xfrm>
            <a:off x="6620256" y="4133087"/>
            <a:ext cx="4754880" cy="32918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  </a:t>
            </a:r>
            <a:r>
              <a:rPr sz="1150" b="0" i="0">
                <a:solidFill>
                  <a:srgbClr val="2B2126"/>
                </a:solidFill>
                <a:latin typeface="Calibri"/>
              </a:rPr>
              <a:t>Dumping the whole deliverable list in one turn</a:t>
            </a:r>
          </a:p>
        </p:txBody>
      </p:sp>
      <p:sp>
        <p:nvSpPr>
          <p:cNvPr id="27" name="TextBox 26"/>
          <p:cNvSpPr txBox="1"/>
          <p:nvPr/>
        </p:nvSpPr>
        <p:spPr>
          <a:xfrm>
            <a:off x="6620256" y="4498848"/>
            <a:ext cx="4754880" cy="32918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  </a:t>
            </a:r>
            <a:r>
              <a:rPr sz="1150" b="0" i="0">
                <a:solidFill>
                  <a:srgbClr val="2B2126"/>
                </a:solidFill>
                <a:latin typeface="Calibri"/>
              </a:rPr>
              <a:t>Nudging the model toward the right answer</a:t>
            </a:r>
          </a:p>
        </p:txBody>
      </p:sp>
      <p:sp>
        <p:nvSpPr>
          <p:cNvPr id="28" name="TextBox 27"/>
          <p:cNvSpPr txBox="1"/>
          <p:nvPr/>
        </p:nvSpPr>
        <p:spPr>
          <a:xfrm>
            <a:off x="6620256" y="4864607"/>
            <a:ext cx="4754880" cy="32918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  </a:t>
            </a:r>
            <a:r>
              <a:rPr sz="1150" b="0" i="0">
                <a:solidFill>
                  <a:srgbClr val="2B2126"/>
                </a:solidFill>
                <a:latin typeface="Calibri"/>
              </a:rPr>
              <a:t>Padding with re-confirmations — these do not count</a:t>
            </a:r>
          </a:p>
        </p:txBody>
      </p:sp>
      <p:sp>
        <p:nvSpPr>
          <p:cNvPr id="29" name="TextBox 28"/>
          <p:cNvSpPr txBox="1"/>
          <p:nvPr/>
        </p:nvSpPr>
        <p:spPr>
          <a:xfrm>
            <a:off x="6620256" y="5230368"/>
            <a:ext cx="4754880" cy="32918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  </a:t>
            </a:r>
            <a:r>
              <a:rPr sz="1150" b="0" i="0">
                <a:solidFill>
                  <a:srgbClr val="2B2126"/>
                </a:solidFill>
                <a:latin typeface="Calibri"/>
              </a:rPr>
              <a:t>Abandoning the run because the model is doing badly</a:t>
            </a:r>
          </a:p>
        </p:txBody>
      </p:sp>
      <p:sp>
        <p:nvSpPr>
          <p:cNvPr id="30" name="Rounded Rectangle 29"/>
          <p:cNvSpPr/>
          <p:nvPr/>
        </p:nvSpPr>
        <p:spPr>
          <a:xfrm>
            <a:off x="566928" y="5779008"/>
            <a:ext cx="11064240" cy="475488"/>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 y="5897880"/>
            <a:ext cx="10515600" cy="292608"/>
          </a:xfrm>
          <a:prstGeom prst="rect">
            <a:avLst/>
          </a:prstGeom>
          <a:noFill/>
        </p:spPr>
        <p:txBody>
          <a:bodyPr wrap="square" lIns="0" rIns="0" tIns="0" bIns="0" anchor="t">
            <a:spAutoFit/>
          </a:bodyPr>
          <a:lstStyle/>
          <a:p>
            <a:pPr algn="l">
              <a:spcAft>
                <a:spcPts val="600"/>
              </a:spcAft>
            </a:pPr>
            <a:r>
              <a:rPr sz="1200" b="1" i="0">
                <a:solidFill>
                  <a:srgbClr val="6D2E46"/>
                </a:solidFill>
                <a:latin typeface="Calibri"/>
              </a:rPr>
              <a:t>Never copy the browser address bar. </a:t>
            </a:r>
            <a:r>
              <a:rPr sz="1200" b="0" i="0">
                <a:solidFill>
                  <a:srgbClr val="2B2126"/>
                </a:solidFill>
                <a:latin typeface="Calibri"/>
              </a:rPr>
              <a:t>Always use the product's Share feature. Gemini-family runs need one link per turn; GPT and Claude need only the final link.</a:t>
            </a:r>
          </a:p>
        </p:txBody>
      </p:sp>
      <p:sp>
        <p:nvSpPr>
          <p:cNvPr id="32" name="TextBox 31"/>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33" name="TextBox 32"/>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QUEUE 2  ·  SCORING</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Grade, annotate, rate, prefer</a:t>
            </a:r>
          </a:p>
        </p:txBody>
      </p:sp>
      <p:sp>
        <p:nvSpPr>
          <p:cNvPr id="5" name="Rounded Rectangle 4"/>
          <p:cNvSpPr/>
          <p:nvPr/>
        </p:nvSpPr>
        <p:spPr>
          <a:xfrm>
            <a:off x="566928" y="1600200"/>
            <a:ext cx="2596896" cy="39319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4708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7" name="TextBox 6"/>
          <p:cNvSpPr txBox="1"/>
          <p:nvPr/>
        </p:nvSpPr>
        <p:spPr>
          <a:xfrm>
            <a:off x="1316736" y="1911095"/>
            <a:ext cx="1737360" cy="274320"/>
          </a:xfrm>
          <a:prstGeom prst="rect">
            <a:avLst/>
          </a:prstGeom>
          <a:noFill/>
        </p:spPr>
        <p:txBody>
          <a:bodyPr wrap="square" lIns="0" rIns="0" tIns="0" bIns="0" anchor="t">
            <a:spAutoFit/>
          </a:bodyPr>
          <a:lstStyle/>
          <a:p>
            <a:pPr algn="l">
              <a:spcAft>
                <a:spcPts val="600"/>
              </a:spcAft>
            </a:pPr>
            <a:r>
              <a:rPr sz="1600" b="1" i="0">
                <a:solidFill>
                  <a:srgbClr val="6D2E46"/>
                </a:solidFill>
                <a:latin typeface="Cambria"/>
              </a:rPr>
              <a:t>Grade</a:t>
            </a:r>
          </a:p>
        </p:txBody>
      </p:sp>
      <p:sp>
        <p:nvSpPr>
          <p:cNvPr id="8" name="TextBox 7"/>
          <p:cNvSpPr txBox="1"/>
          <p:nvPr/>
        </p:nvSpPr>
        <p:spPr>
          <a:xfrm>
            <a:off x="822960" y="2395728"/>
            <a:ext cx="2148840" cy="594360"/>
          </a:xfrm>
          <a:prstGeom prst="rect">
            <a:avLst/>
          </a:prstGeom>
          <a:noFill/>
        </p:spPr>
        <p:txBody>
          <a:bodyPr wrap="square" lIns="0" rIns="0" tIns="0" bIns="0" anchor="t">
            <a:spAutoFit/>
          </a:bodyPr>
          <a:lstStyle/>
          <a:p>
            <a:pPr algn="l">
              <a:lnSpc>
                <a:spcPct val="105000"/>
              </a:lnSpc>
              <a:spcAft>
                <a:spcPts val="600"/>
              </a:spcAft>
            </a:pPr>
            <a:r>
              <a:rPr sz="1150" b="1" i="0">
                <a:solidFill>
                  <a:srgbClr val="2B2126"/>
                </a:solidFill>
                <a:latin typeface="Calibri"/>
              </a:rPr>
              <a:t>Pass 1 / fail 0 against the frozen rubric</a:t>
            </a:r>
          </a:p>
        </p:txBody>
      </p:sp>
      <p:sp>
        <p:nvSpPr>
          <p:cNvPr id="9" name="TextBox 8"/>
          <p:cNvSpPr txBox="1"/>
          <p:nvPr/>
        </p:nvSpPr>
        <p:spPr>
          <a:xfrm>
            <a:off x="822960" y="312724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Pass only on evidence in the produced output or a verified side effect</a:t>
            </a:r>
          </a:p>
        </p:txBody>
      </p:sp>
      <p:sp>
        <p:nvSpPr>
          <p:cNvPr id="10" name="TextBox 9"/>
          <p:cNvSpPr txBox="1"/>
          <p:nvPr/>
        </p:nvSpPr>
        <p:spPr>
          <a:xfrm>
            <a:off x="822960" y="395020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A described intention is a fail</a:t>
            </a:r>
          </a:p>
        </p:txBody>
      </p:sp>
      <p:sp>
        <p:nvSpPr>
          <p:cNvPr id="11" name="TextBox 10"/>
          <p:cNvSpPr txBox="1"/>
          <p:nvPr/>
        </p:nvSpPr>
        <p:spPr>
          <a:xfrm>
            <a:off x="822960" y="477316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Partial satisfaction is a fail</a:t>
            </a:r>
          </a:p>
        </p:txBody>
      </p:sp>
      <p:sp>
        <p:nvSpPr>
          <p:cNvPr id="12" name="Rounded Rectangle 11"/>
          <p:cNvSpPr/>
          <p:nvPr/>
        </p:nvSpPr>
        <p:spPr>
          <a:xfrm>
            <a:off x="3374136" y="1600200"/>
            <a:ext cx="2596896" cy="39319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0168" y="184708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14" name="TextBox 13"/>
          <p:cNvSpPr txBox="1"/>
          <p:nvPr/>
        </p:nvSpPr>
        <p:spPr>
          <a:xfrm>
            <a:off x="4123944" y="1911095"/>
            <a:ext cx="1737360" cy="274320"/>
          </a:xfrm>
          <a:prstGeom prst="rect">
            <a:avLst/>
          </a:prstGeom>
          <a:noFill/>
        </p:spPr>
        <p:txBody>
          <a:bodyPr wrap="square" lIns="0" rIns="0" tIns="0" bIns="0" anchor="t">
            <a:spAutoFit/>
          </a:bodyPr>
          <a:lstStyle/>
          <a:p>
            <a:pPr algn="l">
              <a:spcAft>
                <a:spcPts val="600"/>
              </a:spcAft>
            </a:pPr>
            <a:r>
              <a:rPr sz="1600" b="1" i="0">
                <a:solidFill>
                  <a:srgbClr val="6D2E46"/>
                </a:solidFill>
                <a:latin typeface="Cambria"/>
              </a:rPr>
              <a:t>Annotate</a:t>
            </a:r>
          </a:p>
        </p:txBody>
      </p:sp>
      <p:sp>
        <p:nvSpPr>
          <p:cNvPr id="15" name="TextBox 14"/>
          <p:cNvSpPr txBox="1"/>
          <p:nvPr/>
        </p:nvSpPr>
        <p:spPr>
          <a:xfrm>
            <a:off x="3630168" y="2395728"/>
            <a:ext cx="2148840" cy="594360"/>
          </a:xfrm>
          <a:prstGeom prst="rect">
            <a:avLst/>
          </a:prstGeom>
          <a:noFill/>
        </p:spPr>
        <p:txBody>
          <a:bodyPr wrap="square" lIns="0" rIns="0" tIns="0" bIns="0" anchor="t">
            <a:spAutoFit/>
          </a:bodyPr>
          <a:lstStyle/>
          <a:p>
            <a:pPr algn="l">
              <a:lnSpc>
                <a:spcPct val="105000"/>
              </a:lnSpc>
              <a:spcAft>
                <a:spcPts val="600"/>
              </a:spcAft>
            </a:pPr>
            <a:r>
              <a:rPr sz="1150" b="1" i="0">
                <a:solidFill>
                  <a:srgbClr val="2B2126"/>
                </a:solidFill>
                <a:latin typeface="Calibri"/>
              </a:rPr>
              <a:t>Link every criterion to the turn where it was decided</a:t>
            </a:r>
          </a:p>
        </p:txBody>
      </p:sp>
      <p:sp>
        <p:nvSpPr>
          <p:cNvPr id="16" name="TextBox 15"/>
          <p:cNvSpPr txBox="1"/>
          <p:nvPr/>
        </p:nvSpPr>
        <p:spPr>
          <a:xfrm>
            <a:off x="3630168" y="312724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Passed — the turn that best demonstrates it</a:t>
            </a:r>
          </a:p>
        </p:txBody>
      </p:sp>
      <p:sp>
        <p:nvSpPr>
          <p:cNvPr id="17" name="TextBox 16"/>
          <p:cNvSpPr txBox="1"/>
          <p:nvPr/>
        </p:nvSpPr>
        <p:spPr>
          <a:xfrm>
            <a:off x="3630168" y="395020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Failed — the turn where the failure is clearest</a:t>
            </a:r>
          </a:p>
        </p:txBody>
      </p:sp>
      <p:sp>
        <p:nvSpPr>
          <p:cNvPr id="18" name="TextBox 17"/>
          <p:cNvSpPr txBox="1"/>
          <p:nvPr/>
        </p:nvSpPr>
        <p:spPr>
          <a:xfrm>
            <a:off x="3630168" y="477316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Never default to Turn 1</a:t>
            </a:r>
          </a:p>
        </p:txBody>
      </p:sp>
      <p:sp>
        <p:nvSpPr>
          <p:cNvPr id="19" name="Rounded Rectangle 18"/>
          <p:cNvSpPr/>
          <p:nvPr/>
        </p:nvSpPr>
        <p:spPr>
          <a:xfrm>
            <a:off x="6181344" y="1600200"/>
            <a:ext cx="2596896" cy="39319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37376" y="184708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21" name="TextBox 20"/>
          <p:cNvSpPr txBox="1"/>
          <p:nvPr/>
        </p:nvSpPr>
        <p:spPr>
          <a:xfrm>
            <a:off x="6931152" y="1911095"/>
            <a:ext cx="1737360" cy="274320"/>
          </a:xfrm>
          <a:prstGeom prst="rect">
            <a:avLst/>
          </a:prstGeom>
          <a:noFill/>
        </p:spPr>
        <p:txBody>
          <a:bodyPr wrap="square" lIns="0" rIns="0" tIns="0" bIns="0" anchor="t">
            <a:spAutoFit/>
          </a:bodyPr>
          <a:lstStyle/>
          <a:p>
            <a:pPr algn="l">
              <a:spcAft>
                <a:spcPts val="600"/>
              </a:spcAft>
            </a:pPr>
            <a:r>
              <a:rPr sz="1600" b="1" i="0">
                <a:solidFill>
                  <a:srgbClr val="6D2E46"/>
                </a:solidFill>
                <a:latin typeface="Cambria"/>
              </a:rPr>
              <a:t>Rate</a:t>
            </a:r>
          </a:p>
        </p:txBody>
      </p:sp>
      <p:sp>
        <p:nvSpPr>
          <p:cNvPr id="22" name="TextBox 21"/>
          <p:cNvSpPr txBox="1"/>
          <p:nvPr/>
        </p:nvSpPr>
        <p:spPr>
          <a:xfrm>
            <a:off x="6437376" y="2395728"/>
            <a:ext cx="2148840" cy="594360"/>
          </a:xfrm>
          <a:prstGeom prst="rect">
            <a:avLst/>
          </a:prstGeom>
          <a:noFill/>
        </p:spPr>
        <p:txBody>
          <a:bodyPr wrap="square" lIns="0" rIns="0" tIns="0" bIns="0" anchor="t">
            <a:spAutoFit/>
          </a:bodyPr>
          <a:lstStyle/>
          <a:p>
            <a:pPr algn="l">
              <a:lnSpc>
                <a:spcPct val="105000"/>
              </a:lnSpc>
              <a:spcAft>
                <a:spcPts val="600"/>
              </a:spcAft>
            </a:pPr>
            <a:r>
              <a:rPr sz="1150" b="1" i="0">
                <a:solidFill>
                  <a:srgbClr val="2B2126"/>
                </a:solidFill>
                <a:latin typeface="Calibri"/>
              </a:rPr>
              <a:t>Eight dimensions, 1–5, with evidence</a:t>
            </a:r>
          </a:p>
        </p:txBody>
      </p:sp>
      <p:sp>
        <p:nvSpPr>
          <p:cNvPr id="23" name="TextBox 22"/>
          <p:cNvSpPr txBox="1"/>
          <p:nvPr/>
        </p:nvSpPr>
        <p:spPr>
          <a:xfrm>
            <a:off x="6437376" y="312724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200+ character justification on every score</a:t>
            </a:r>
          </a:p>
        </p:txBody>
      </p:sp>
      <p:sp>
        <p:nvSpPr>
          <p:cNvPr id="24" name="TextBox 23"/>
          <p:cNvSpPr txBox="1"/>
          <p:nvPr/>
        </p:nvSpPr>
        <p:spPr>
          <a:xfrm>
            <a:off x="6437376" y="395020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Cite turns on every score of 1–4</a:t>
            </a:r>
          </a:p>
        </p:txBody>
      </p:sp>
      <p:sp>
        <p:nvSpPr>
          <p:cNvPr id="25" name="TextBox 24"/>
          <p:cNvSpPr txBox="1"/>
          <p:nvPr/>
        </p:nvSpPr>
        <p:spPr>
          <a:xfrm>
            <a:off x="6437376" y="477316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Safety is Yes/No, not 1–5</a:t>
            </a:r>
          </a:p>
        </p:txBody>
      </p:sp>
      <p:sp>
        <p:nvSpPr>
          <p:cNvPr id="26" name="Rounded Rectangle 25"/>
          <p:cNvSpPr/>
          <p:nvPr/>
        </p:nvSpPr>
        <p:spPr>
          <a:xfrm>
            <a:off x="8988551" y="1600200"/>
            <a:ext cx="2596896" cy="3931920"/>
          </a:xfrm>
          <a:prstGeom prst="roundRect">
            <a:avLst>
              <a:gd name="adj" fmla="val 6000"/>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44583" y="1847088"/>
            <a:ext cx="384048" cy="384048"/>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4</a:t>
            </a:r>
          </a:p>
        </p:txBody>
      </p:sp>
      <p:sp>
        <p:nvSpPr>
          <p:cNvPr id="28" name="TextBox 27"/>
          <p:cNvSpPr txBox="1"/>
          <p:nvPr/>
        </p:nvSpPr>
        <p:spPr>
          <a:xfrm>
            <a:off x="9738359" y="1911095"/>
            <a:ext cx="1737360" cy="274320"/>
          </a:xfrm>
          <a:prstGeom prst="rect">
            <a:avLst/>
          </a:prstGeom>
          <a:noFill/>
        </p:spPr>
        <p:txBody>
          <a:bodyPr wrap="square" lIns="0" rIns="0" tIns="0" bIns="0" anchor="t">
            <a:spAutoFit/>
          </a:bodyPr>
          <a:lstStyle/>
          <a:p>
            <a:pPr algn="l">
              <a:spcAft>
                <a:spcPts val="600"/>
              </a:spcAft>
            </a:pPr>
            <a:r>
              <a:rPr sz="1600" b="1" i="0">
                <a:solidFill>
                  <a:srgbClr val="6D2E46"/>
                </a:solidFill>
                <a:latin typeface="Cambria"/>
              </a:rPr>
              <a:t>Prefer</a:t>
            </a:r>
          </a:p>
        </p:txBody>
      </p:sp>
      <p:sp>
        <p:nvSpPr>
          <p:cNvPr id="29" name="TextBox 28"/>
          <p:cNvSpPr txBox="1"/>
          <p:nvPr/>
        </p:nvSpPr>
        <p:spPr>
          <a:xfrm>
            <a:off x="9244583" y="2395728"/>
            <a:ext cx="2148840" cy="594360"/>
          </a:xfrm>
          <a:prstGeom prst="rect">
            <a:avLst/>
          </a:prstGeom>
          <a:noFill/>
        </p:spPr>
        <p:txBody>
          <a:bodyPr wrap="square" lIns="0" rIns="0" tIns="0" bIns="0" anchor="t">
            <a:spAutoFit/>
          </a:bodyPr>
          <a:lstStyle/>
          <a:p>
            <a:pPr algn="l">
              <a:lnSpc>
                <a:spcPct val="105000"/>
              </a:lnSpc>
              <a:spcAft>
                <a:spcPts val="600"/>
              </a:spcAft>
            </a:pPr>
            <a:r>
              <a:rPr sz="1150" b="1" i="0">
                <a:solidFill>
                  <a:srgbClr val="2B2126"/>
                </a:solidFill>
                <a:latin typeface="Calibri"/>
              </a:rPr>
              <a:t>One 1–7 judgement per task</a:t>
            </a:r>
          </a:p>
        </p:txBody>
      </p:sp>
      <p:sp>
        <p:nvSpPr>
          <p:cNvPr id="30" name="TextBox 29"/>
          <p:cNvSpPr txBox="1"/>
          <p:nvPr/>
        </p:nvSpPr>
        <p:spPr>
          <a:xfrm>
            <a:off x="9244583" y="312724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4 is a tie; 1 and 7 are “much better”</a:t>
            </a:r>
          </a:p>
        </p:txBody>
      </p:sp>
      <p:sp>
        <p:nvSpPr>
          <p:cNvPr id="31" name="TextBox 30"/>
          <p:cNvSpPr txBox="1"/>
          <p:nvPr/>
        </p:nvSpPr>
        <p:spPr>
          <a:xfrm>
            <a:off x="9244583" y="395020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Read the slot labels — the order is not fixed</a:t>
            </a:r>
          </a:p>
        </p:txBody>
      </p:sp>
      <p:sp>
        <p:nvSpPr>
          <p:cNvPr id="32" name="TextBox 31"/>
          <p:cNvSpPr txBox="1"/>
          <p:nvPr/>
        </p:nvSpPr>
        <p:spPr>
          <a:xfrm>
            <a:off x="9244583" y="4773168"/>
            <a:ext cx="2148840" cy="777240"/>
          </a:xfrm>
          <a:prstGeom prst="rect">
            <a:avLst/>
          </a:prstGeom>
          <a:noFill/>
        </p:spPr>
        <p:txBody>
          <a:bodyPr wrap="square" lIns="0" rIns="0" tIns="0" bIns="0" anchor="t">
            <a:spAutoFit/>
          </a:bodyPr>
          <a:lstStyle/>
          <a:p>
            <a:pPr algn="l">
              <a:lnSpc>
                <a:spcPct val="105000"/>
              </a:lnSpc>
              <a:spcAft>
                <a:spcPts val="600"/>
              </a:spcAft>
            </a:pPr>
            <a:r>
              <a:rPr sz="1100" b="1" i="0">
                <a:solidFill>
                  <a:srgbClr val="A26769"/>
                </a:solidFill>
                <a:latin typeface="Calibri"/>
              </a:rPr>
              <a:t>—  </a:t>
            </a:r>
            <a:r>
              <a:rPr sz="1100" b="0" i="0">
                <a:solidFill>
                  <a:srgbClr val="6B6064"/>
                </a:solidFill>
                <a:latin typeface="Calibri"/>
              </a:rPr>
              <a:t>Must agree with your grades and ratings</a:t>
            </a:r>
          </a:p>
        </p:txBody>
      </p:sp>
      <p:sp>
        <p:nvSpPr>
          <p:cNvPr id="33" name="Rounded Rectangle 32"/>
          <p:cNvSpPr/>
          <p:nvPr/>
        </p:nvSpPr>
        <p:spPr>
          <a:xfrm>
            <a:off x="566928" y="5724144"/>
            <a:ext cx="11064240" cy="493776"/>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5833872"/>
            <a:ext cx="10515600" cy="292608"/>
          </a:xfrm>
          <a:prstGeom prst="rect">
            <a:avLst/>
          </a:prstGeom>
          <a:noFill/>
        </p:spPr>
        <p:txBody>
          <a:bodyPr wrap="square" lIns="0" rIns="0" tIns="0" bIns="0" anchor="t">
            <a:spAutoFit/>
          </a:bodyPr>
          <a:lstStyle/>
          <a:p>
            <a:pPr algn="l">
              <a:spcAft>
                <a:spcPts val="600"/>
              </a:spcAft>
            </a:pPr>
            <a:r>
              <a:rPr sz="1250" b="1" i="0">
                <a:solidFill>
                  <a:srgbClr val="6D2E46"/>
                </a:solidFill>
                <a:latin typeface="Calibri"/>
              </a:rPr>
              <a:t>Exactly one key turn per model, and it is never Turn 1. </a:t>
            </a:r>
            <a:r>
              <a:rPr sz="1250" b="0" i="0">
                <a:solidFill>
                  <a:srgbClr val="2B2126"/>
                </a:solidFill>
                <a:latin typeface="Calibri"/>
              </a:rPr>
              <a:t>Selecting Turn 1 as the key turn is a structural error that fails the task.</a:t>
            </a:r>
          </a:p>
        </p:txBody>
      </p:sp>
      <p:sp>
        <p:nvSpPr>
          <p:cNvPr id="35" name="TextBox 34"/>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There is no 40% gate here — grade honestly. 0% and 100% are both legitimate.</a:t>
            </a:r>
          </a:p>
        </p:txBody>
      </p:sp>
      <p:sp>
        <p:nvSpPr>
          <p:cNvPr id="36" name="TextBox 35"/>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A26769"/>
                </a:solidFill>
                <a:latin typeface="Calibri"/>
              </a:rPr>
              <a:t>BOTH QUEUES</a:t>
            </a:r>
          </a:p>
        </p:txBody>
      </p:sp>
      <p:sp>
        <p:nvSpPr>
          <p:cNvPr id="4" name="TextBox 3"/>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6D2E46"/>
                </a:solidFill>
                <a:latin typeface="Cambria"/>
              </a:rPr>
              <a:t>The eval sandbox — check your own work before you submit</a:t>
            </a:r>
          </a:p>
        </p:txBody>
      </p:sp>
      <p:sp>
        <p:nvSpPr>
          <p:cNvPr id="5" name="TextBox 4"/>
          <p:cNvSpPr txBox="1"/>
          <p:nvPr/>
        </p:nvSpPr>
        <p:spPr>
          <a:xfrm>
            <a:off x="566928" y="1463040"/>
            <a:ext cx="11064240" cy="274320"/>
          </a:xfrm>
          <a:prstGeom prst="rect">
            <a:avLst/>
          </a:prstGeom>
          <a:noFill/>
        </p:spPr>
        <p:txBody>
          <a:bodyPr wrap="square" lIns="0" rIns="0" tIns="0" bIns="0" anchor="t">
            <a:spAutoFit/>
          </a:bodyPr>
          <a:lstStyle/>
          <a:p>
            <a:pPr algn="l">
              <a:spcAft>
                <a:spcPts val="600"/>
              </a:spcAft>
            </a:pPr>
            <a:r>
              <a:rPr sz="1300" b="0" i="0">
                <a:solidFill>
                  <a:srgbClr val="6B6064"/>
                </a:solidFill>
                <a:latin typeface="Calibri"/>
              </a:rPr>
              <a:t>A small IDE with Claude Code inside it. You never open a file or type a task ID — the step labels tell you which command is due and when.</a:t>
            </a:r>
          </a:p>
        </p:txBody>
      </p:sp>
      <p:sp>
        <p:nvSpPr>
          <p:cNvPr id="6" name="Rounded Rectangle 5"/>
          <p:cNvSpPr/>
          <p:nvPr/>
        </p:nvSpPr>
        <p:spPr>
          <a:xfrm>
            <a:off x="566928" y="1975104"/>
            <a:ext cx="11064240" cy="384048"/>
          </a:xfrm>
          <a:prstGeom prst="roundRect">
            <a:avLst>
              <a:gd name="adj" fmla="val 6000"/>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075688"/>
            <a:ext cx="2103120" cy="219456"/>
          </a:xfrm>
          <a:prstGeom prst="rect">
            <a:avLst/>
          </a:prstGeom>
          <a:noFill/>
        </p:spPr>
        <p:txBody>
          <a:bodyPr wrap="square" lIns="0" rIns="0" tIns="0" bIns="0" anchor="t">
            <a:spAutoFit/>
          </a:bodyPr>
          <a:lstStyle/>
          <a:p>
            <a:pPr algn="l">
              <a:spcAft>
                <a:spcPts val="600"/>
              </a:spcAft>
            </a:pPr>
            <a:r>
              <a:rPr sz="1050" b="1" i="0">
                <a:solidFill>
                  <a:srgbClr val="FFFFFF"/>
                </a:solidFill>
                <a:latin typeface="Calibri"/>
              </a:rPr>
              <a:t>COMMAND</a:t>
            </a:r>
          </a:p>
        </p:txBody>
      </p:sp>
      <p:sp>
        <p:nvSpPr>
          <p:cNvPr id="8" name="TextBox 7"/>
          <p:cNvSpPr txBox="1"/>
          <p:nvPr/>
        </p:nvSpPr>
        <p:spPr>
          <a:xfrm>
            <a:off x="3035808" y="2075688"/>
            <a:ext cx="731520" cy="219456"/>
          </a:xfrm>
          <a:prstGeom prst="rect">
            <a:avLst/>
          </a:prstGeom>
          <a:noFill/>
        </p:spPr>
        <p:txBody>
          <a:bodyPr wrap="square" lIns="0" rIns="0" tIns="0" bIns="0" anchor="t">
            <a:spAutoFit/>
          </a:bodyPr>
          <a:lstStyle/>
          <a:p>
            <a:pPr algn="l">
              <a:spcAft>
                <a:spcPts val="600"/>
              </a:spcAft>
            </a:pPr>
            <a:r>
              <a:rPr sz="1050" b="1" i="0">
                <a:solidFill>
                  <a:srgbClr val="FFFFFF"/>
                </a:solidFill>
                <a:latin typeface="Calibri"/>
              </a:rPr>
              <a:t>QUEUE</a:t>
            </a:r>
          </a:p>
        </p:txBody>
      </p:sp>
      <p:sp>
        <p:nvSpPr>
          <p:cNvPr id="9" name="TextBox 8"/>
          <p:cNvSpPr txBox="1"/>
          <p:nvPr/>
        </p:nvSpPr>
        <p:spPr>
          <a:xfrm>
            <a:off x="3858768" y="2075688"/>
            <a:ext cx="1188720" cy="219456"/>
          </a:xfrm>
          <a:prstGeom prst="rect">
            <a:avLst/>
          </a:prstGeom>
          <a:noFill/>
        </p:spPr>
        <p:txBody>
          <a:bodyPr wrap="square" lIns="0" rIns="0" tIns="0" bIns="0" anchor="t">
            <a:spAutoFit/>
          </a:bodyPr>
          <a:lstStyle/>
          <a:p>
            <a:pPr algn="l">
              <a:spcAft>
                <a:spcPts val="600"/>
              </a:spcAft>
            </a:pPr>
            <a:r>
              <a:rPr sz="1050" b="1" i="0">
                <a:solidFill>
                  <a:srgbClr val="FFFFFF"/>
                </a:solidFill>
                <a:latin typeface="Calibri"/>
              </a:rPr>
              <a:t>BLOCKING</a:t>
            </a:r>
          </a:p>
        </p:txBody>
      </p:sp>
      <p:sp>
        <p:nvSpPr>
          <p:cNvPr id="10" name="TextBox 9"/>
          <p:cNvSpPr txBox="1"/>
          <p:nvPr/>
        </p:nvSpPr>
        <p:spPr>
          <a:xfrm>
            <a:off x="5230368" y="2075688"/>
            <a:ext cx="6126480" cy="219456"/>
          </a:xfrm>
          <a:prstGeom prst="rect">
            <a:avLst/>
          </a:prstGeom>
          <a:noFill/>
        </p:spPr>
        <p:txBody>
          <a:bodyPr wrap="square" lIns="0" rIns="0" tIns="0" bIns="0" anchor="t">
            <a:spAutoFit/>
          </a:bodyPr>
          <a:lstStyle/>
          <a:p>
            <a:pPr algn="l">
              <a:spcAft>
                <a:spcPts val="600"/>
              </a:spcAft>
            </a:pPr>
            <a:r>
              <a:rPr sz="1050" b="1" i="0">
                <a:solidFill>
                  <a:srgbClr val="FFFFFF"/>
                </a:solidFill>
                <a:latin typeface="Calibri"/>
              </a:rPr>
              <a:t>WHAT IT LOOKS FOR</a:t>
            </a:r>
          </a:p>
        </p:txBody>
      </p:sp>
      <p:sp>
        <p:nvSpPr>
          <p:cNvPr id="11" name="Rectangle 10"/>
          <p:cNvSpPr/>
          <p:nvPr/>
        </p:nvSpPr>
        <p:spPr>
          <a:xfrm>
            <a:off x="566928" y="2359152"/>
            <a:ext cx="11064240" cy="393192"/>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2450592"/>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/item</a:t>
            </a:r>
          </a:p>
        </p:txBody>
      </p:sp>
      <p:sp>
        <p:nvSpPr>
          <p:cNvPr id="13" name="TextBox 12"/>
          <p:cNvSpPr txBox="1"/>
          <p:nvPr/>
        </p:nvSpPr>
        <p:spPr>
          <a:xfrm>
            <a:off x="3035808" y="2459736"/>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Q1</a:t>
            </a:r>
          </a:p>
        </p:txBody>
      </p:sp>
      <p:sp>
        <p:nvSpPr>
          <p:cNvPr id="14" name="TextBox 13"/>
          <p:cNvSpPr txBox="1"/>
          <p:nvPr/>
        </p:nvSpPr>
        <p:spPr>
          <a:xfrm>
            <a:off x="3858768" y="2459736"/>
            <a:ext cx="128016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Blocking</a:t>
            </a:r>
          </a:p>
        </p:txBody>
      </p:sp>
      <p:sp>
        <p:nvSpPr>
          <p:cNvPr id="15" name="TextBox 14"/>
          <p:cNvSpPr txBox="1"/>
          <p:nvPr/>
        </p:nvSpPr>
        <p:spPr>
          <a:xfrm>
            <a:off x="5230368" y="2459736"/>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Phantom entities, front-loaded prompts, ungradable wording</a:t>
            </a:r>
          </a:p>
        </p:txBody>
      </p:sp>
      <p:sp>
        <p:nvSpPr>
          <p:cNvPr id="16" name="TextBox 15"/>
          <p:cNvSpPr txBox="1"/>
          <p:nvPr/>
        </p:nvSpPr>
        <p:spPr>
          <a:xfrm>
            <a:off x="841247" y="2843784"/>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/rubric</a:t>
            </a:r>
          </a:p>
        </p:txBody>
      </p:sp>
      <p:sp>
        <p:nvSpPr>
          <p:cNvPr id="17" name="TextBox 16"/>
          <p:cNvSpPr txBox="1"/>
          <p:nvPr/>
        </p:nvSpPr>
        <p:spPr>
          <a:xfrm>
            <a:off x="3035808" y="2852928"/>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Q1</a:t>
            </a:r>
          </a:p>
        </p:txBody>
      </p:sp>
      <p:sp>
        <p:nvSpPr>
          <p:cNvPr id="18" name="TextBox 17"/>
          <p:cNvSpPr txBox="1"/>
          <p:nvPr/>
        </p:nvSpPr>
        <p:spPr>
          <a:xfrm>
            <a:off x="3858768" y="2852928"/>
            <a:ext cx="128016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No</a:t>
            </a:r>
          </a:p>
        </p:txBody>
      </p:sp>
      <p:sp>
        <p:nvSpPr>
          <p:cNvPr id="19" name="TextBox 18"/>
          <p:cNvSpPr txBox="1"/>
          <p:nvPr/>
        </p:nvSpPr>
        <p:spPr>
          <a:xfrm>
            <a:off x="5230368" y="2852928"/>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Writes the rubric for you from the outcomes and GTFA</a:t>
            </a:r>
          </a:p>
        </p:txBody>
      </p:sp>
      <p:sp>
        <p:nvSpPr>
          <p:cNvPr id="20" name="Rectangle 19"/>
          <p:cNvSpPr/>
          <p:nvPr/>
        </p:nvSpPr>
        <p:spPr>
          <a:xfrm>
            <a:off x="566928" y="3145536"/>
            <a:ext cx="11064240" cy="393192"/>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236976"/>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/trajectory a</a:t>
            </a:r>
          </a:p>
        </p:txBody>
      </p:sp>
      <p:sp>
        <p:nvSpPr>
          <p:cNvPr id="22" name="TextBox 21"/>
          <p:cNvSpPr txBox="1"/>
          <p:nvPr/>
        </p:nvSpPr>
        <p:spPr>
          <a:xfrm>
            <a:off x="3035808" y="3246120"/>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Q2</a:t>
            </a:r>
          </a:p>
        </p:txBody>
      </p:sp>
      <p:sp>
        <p:nvSpPr>
          <p:cNvPr id="23" name="TextBox 22"/>
          <p:cNvSpPr txBox="1"/>
          <p:nvPr/>
        </p:nvSpPr>
        <p:spPr>
          <a:xfrm>
            <a:off x="3858768" y="3246120"/>
            <a:ext cx="128016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Blocking</a:t>
            </a:r>
          </a:p>
        </p:txBody>
      </p:sp>
      <p:sp>
        <p:nvSpPr>
          <p:cNvPr id="24" name="TextBox 23"/>
          <p:cNvSpPr txBox="1"/>
          <p:nvPr/>
        </p:nvSpPr>
        <p:spPr>
          <a:xfrm>
            <a:off x="5230368" y="3246120"/>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Turn count, gaps, missing or duplicated links, padding</a:t>
            </a:r>
          </a:p>
        </p:txBody>
      </p:sp>
      <p:sp>
        <p:nvSpPr>
          <p:cNvPr id="25" name="TextBox 24"/>
          <p:cNvSpPr txBox="1"/>
          <p:nvPr/>
        </p:nvSpPr>
        <p:spPr>
          <a:xfrm>
            <a:off x="841247" y="3630168"/>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/grading a</a:t>
            </a:r>
          </a:p>
        </p:txBody>
      </p:sp>
      <p:sp>
        <p:nvSpPr>
          <p:cNvPr id="26" name="TextBox 25"/>
          <p:cNvSpPr txBox="1"/>
          <p:nvPr/>
        </p:nvSpPr>
        <p:spPr>
          <a:xfrm>
            <a:off x="3035808" y="3639312"/>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Q2</a:t>
            </a:r>
          </a:p>
        </p:txBody>
      </p:sp>
      <p:sp>
        <p:nvSpPr>
          <p:cNvPr id="27" name="TextBox 26"/>
          <p:cNvSpPr txBox="1"/>
          <p:nvPr/>
        </p:nvSpPr>
        <p:spPr>
          <a:xfrm>
            <a:off x="3858768" y="3639312"/>
            <a:ext cx="128016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No</a:t>
            </a:r>
          </a:p>
        </p:txBody>
      </p:sp>
      <p:sp>
        <p:nvSpPr>
          <p:cNvPr id="28" name="TextBox 27"/>
          <p:cNvSpPr txBox="1"/>
          <p:nvPr/>
        </p:nvSpPr>
        <p:spPr>
          <a:xfrm>
            <a:off x="5230368" y="3639312"/>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Writes the met / not-met grades with turn anchors</a:t>
            </a:r>
          </a:p>
        </p:txBody>
      </p:sp>
      <p:sp>
        <p:nvSpPr>
          <p:cNvPr id="29" name="Rectangle 28"/>
          <p:cNvSpPr/>
          <p:nvPr/>
        </p:nvSpPr>
        <p:spPr>
          <a:xfrm>
            <a:off x="566928" y="3931920"/>
            <a:ext cx="11064240" cy="393192"/>
          </a:xfrm>
          <a:prstGeom prst="rect">
            <a:avLst/>
          </a:prstGeom>
          <a:solidFill>
            <a:srgbClr val="F7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7" y="4023359"/>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/dimensions a</a:t>
            </a:r>
          </a:p>
        </p:txBody>
      </p:sp>
      <p:sp>
        <p:nvSpPr>
          <p:cNvPr id="31" name="TextBox 30"/>
          <p:cNvSpPr txBox="1"/>
          <p:nvPr/>
        </p:nvSpPr>
        <p:spPr>
          <a:xfrm>
            <a:off x="3035808" y="4032504"/>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Q2</a:t>
            </a:r>
          </a:p>
        </p:txBody>
      </p:sp>
      <p:sp>
        <p:nvSpPr>
          <p:cNvPr id="32" name="TextBox 31"/>
          <p:cNvSpPr txBox="1"/>
          <p:nvPr/>
        </p:nvSpPr>
        <p:spPr>
          <a:xfrm>
            <a:off x="3858768" y="4032504"/>
            <a:ext cx="128016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Blocking</a:t>
            </a:r>
          </a:p>
        </p:txBody>
      </p:sp>
      <p:sp>
        <p:nvSpPr>
          <p:cNvPr id="33" name="TextBox 32"/>
          <p:cNvSpPr txBox="1"/>
          <p:nvPr/>
        </p:nvSpPr>
        <p:spPr>
          <a:xfrm>
            <a:off x="5230368" y="4032504"/>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Wrong turns cited, filler justifications, mismatched ratings</a:t>
            </a:r>
          </a:p>
        </p:txBody>
      </p:sp>
      <p:sp>
        <p:nvSpPr>
          <p:cNvPr id="34" name="TextBox 33"/>
          <p:cNvSpPr txBox="1"/>
          <p:nvPr/>
        </p:nvSpPr>
        <p:spPr>
          <a:xfrm>
            <a:off x="841247" y="4416552"/>
            <a:ext cx="2103120" cy="237744"/>
          </a:xfrm>
          <a:prstGeom prst="rect">
            <a:avLst/>
          </a:prstGeom>
          <a:noFill/>
        </p:spPr>
        <p:txBody>
          <a:bodyPr wrap="square" lIns="0" rIns="0" tIns="0" bIns="0" anchor="t">
            <a:spAutoFit/>
          </a:bodyPr>
          <a:lstStyle/>
          <a:p>
            <a:pPr algn="l">
              <a:spcAft>
                <a:spcPts val="600"/>
              </a:spcAft>
            </a:pPr>
            <a:r>
              <a:rPr sz="1200" b="1" i="0">
                <a:solidFill>
                  <a:srgbClr val="6D2E46"/>
                </a:solidFill>
                <a:latin typeface="Courier New"/>
              </a:rPr>
              <a:t>/sxs ab</a:t>
            </a:r>
          </a:p>
        </p:txBody>
      </p:sp>
      <p:sp>
        <p:nvSpPr>
          <p:cNvPr id="35" name="TextBox 34"/>
          <p:cNvSpPr txBox="1"/>
          <p:nvPr/>
        </p:nvSpPr>
        <p:spPr>
          <a:xfrm>
            <a:off x="3035808" y="4425696"/>
            <a:ext cx="731520" cy="237744"/>
          </a:xfrm>
          <a:prstGeom prst="rect">
            <a:avLst/>
          </a:prstGeom>
          <a:noFill/>
        </p:spPr>
        <p:txBody>
          <a:bodyPr wrap="square" lIns="0" rIns="0" tIns="0" bIns="0" anchor="t">
            <a:spAutoFit/>
          </a:bodyPr>
          <a:lstStyle/>
          <a:p>
            <a:pPr algn="l">
              <a:spcAft>
                <a:spcPts val="600"/>
              </a:spcAft>
            </a:pPr>
            <a:r>
              <a:rPr sz="1150" b="0" i="0">
                <a:solidFill>
                  <a:srgbClr val="6B6064"/>
                </a:solidFill>
                <a:latin typeface="Calibri"/>
              </a:rPr>
              <a:t>Q2</a:t>
            </a:r>
          </a:p>
        </p:txBody>
      </p:sp>
      <p:sp>
        <p:nvSpPr>
          <p:cNvPr id="36" name="TextBox 35"/>
          <p:cNvSpPr txBox="1"/>
          <p:nvPr/>
        </p:nvSpPr>
        <p:spPr>
          <a:xfrm>
            <a:off x="3858768" y="4425696"/>
            <a:ext cx="1280160" cy="237744"/>
          </a:xfrm>
          <a:prstGeom prst="rect">
            <a:avLst/>
          </a:prstGeom>
          <a:noFill/>
        </p:spPr>
        <p:txBody>
          <a:bodyPr wrap="square" lIns="0" rIns="0" tIns="0" bIns="0" anchor="t">
            <a:spAutoFit/>
          </a:bodyPr>
          <a:lstStyle/>
          <a:p>
            <a:pPr algn="l">
              <a:spcAft>
                <a:spcPts val="600"/>
              </a:spcAft>
            </a:pPr>
            <a:r>
              <a:rPr sz="1150" b="1" i="0">
                <a:solidFill>
                  <a:srgbClr val="6D2E46"/>
                </a:solidFill>
                <a:latin typeface="Calibri"/>
              </a:rPr>
              <a:t>Blocking</a:t>
            </a:r>
          </a:p>
        </p:txBody>
      </p:sp>
      <p:sp>
        <p:nvSpPr>
          <p:cNvPr id="37" name="TextBox 36"/>
          <p:cNvSpPr txBox="1"/>
          <p:nvPr/>
        </p:nvSpPr>
        <p:spPr>
          <a:xfrm>
            <a:off x="5230368" y="4425696"/>
            <a:ext cx="6217920" cy="237744"/>
          </a:xfrm>
          <a:prstGeom prst="rect">
            <a:avLst/>
          </a:prstGeom>
          <a:noFill/>
        </p:spPr>
        <p:txBody>
          <a:bodyPr wrap="square" lIns="0" rIns="0" tIns="0" bIns="0" anchor="t">
            <a:spAutoFit/>
          </a:bodyPr>
          <a:lstStyle/>
          <a:p>
            <a:pPr algn="l">
              <a:spcAft>
                <a:spcPts val="600"/>
              </a:spcAft>
            </a:pPr>
            <a:r>
              <a:rPr sz="1150" b="0" i="0">
                <a:solidFill>
                  <a:srgbClr val="2B2126"/>
                </a:solidFill>
                <a:latin typeface="Calibri"/>
              </a:rPr>
              <a:t>Direction flips, understated strength, contradictions</a:t>
            </a:r>
          </a:p>
        </p:txBody>
      </p:sp>
      <p:sp>
        <p:nvSpPr>
          <p:cNvPr id="38" name="Rounded Rectangle 37"/>
          <p:cNvSpPr/>
          <p:nvPr/>
        </p:nvSpPr>
        <p:spPr>
          <a:xfrm>
            <a:off x="566928" y="4974336"/>
            <a:ext cx="5303520" cy="1243584"/>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 y="5138928"/>
            <a:ext cx="4846320" cy="27432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Snapshot, then Save — every time</a:t>
            </a:r>
          </a:p>
        </p:txBody>
      </p:sp>
      <p:sp>
        <p:nvSpPr>
          <p:cNvPr id="40" name="TextBox 39"/>
          <p:cNvSpPr txBox="1"/>
          <p:nvPr/>
        </p:nvSpPr>
        <p:spPr>
          <a:xfrm>
            <a:off x="859536" y="5468112"/>
            <a:ext cx="4846320" cy="658368"/>
          </a:xfrm>
          <a:prstGeom prst="rect">
            <a:avLst/>
          </a:prstGeom>
          <a:noFill/>
        </p:spPr>
        <p:txBody>
          <a:bodyPr wrap="square" lIns="0" rIns="0" tIns="0" bIns="0" anchor="t">
            <a:spAutoFit/>
          </a:bodyPr>
          <a:lstStyle/>
          <a:p>
            <a:pPr algn="l">
              <a:lnSpc>
                <a:spcPct val="110000"/>
              </a:lnSpc>
              <a:spcAft>
                <a:spcPts val="600"/>
              </a:spcAft>
            </a:pPr>
            <a:r>
              <a:rPr sz="1150" b="0" i="0">
                <a:solidFill>
                  <a:srgbClr val="2B2126"/>
                </a:solidFill>
                <a:latin typeface="Calibri"/>
              </a:rPr>
              <a:t>Until you press both, the result lives only in the sandbox and never reaches your task. Skipping it looks identical to never having run the command.</a:t>
            </a:r>
          </a:p>
        </p:txBody>
      </p:sp>
      <p:sp>
        <p:nvSpPr>
          <p:cNvPr id="41" name="Rounded Rectangle 40"/>
          <p:cNvSpPr/>
          <p:nvPr/>
        </p:nvSpPr>
        <p:spPr>
          <a:xfrm>
            <a:off x="6327648" y="4974336"/>
            <a:ext cx="5303520" cy="1243584"/>
          </a:xfrm>
          <a:prstGeom prst="roundRect">
            <a:avLst>
              <a:gd name="adj" fmla="val 6000"/>
            </a:avLst>
          </a:prstGeom>
          <a:solidFill>
            <a:srgbClr val="ECE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0256" y="5138928"/>
            <a:ext cx="4754880" cy="274320"/>
          </a:xfrm>
          <a:prstGeom prst="rect">
            <a:avLst/>
          </a:prstGeom>
          <a:noFill/>
        </p:spPr>
        <p:txBody>
          <a:bodyPr wrap="square" lIns="0" rIns="0" tIns="0" bIns="0" anchor="t">
            <a:spAutoFit/>
          </a:bodyPr>
          <a:lstStyle/>
          <a:p>
            <a:pPr algn="l">
              <a:spcAft>
                <a:spcPts val="600"/>
              </a:spcAft>
            </a:pPr>
            <a:r>
              <a:rPr sz="1300" b="1" i="0">
                <a:solidFill>
                  <a:srgbClr val="6D2E46"/>
                </a:solidFill>
                <a:latin typeface="Calibri"/>
              </a:rPr>
              <a:t>It grades to the lowest score, not the average</a:t>
            </a:r>
          </a:p>
        </p:txBody>
      </p:sp>
      <p:sp>
        <p:nvSpPr>
          <p:cNvPr id="43" name="TextBox 42"/>
          <p:cNvSpPr txBox="1"/>
          <p:nvPr/>
        </p:nvSpPr>
        <p:spPr>
          <a:xfrm>
            <a:off x="6620256" y="5468112"/>
            <a:ext cx="4754880" cy="658368"/>
          </a:xfrm>
          <a:prstGeom prst="rect">
            <a:avLst/>
          </a:prstGeom>
          <a:noFill/>
        </p:spPr>
        <p:txBody>
          <a:bodyPr wrap="square" lIns="0" rIns="0" tIns="0" bIns="0" anchor="t">
            <a:spAutoFit/>
          </a:bodyPr>
          <a:lstStyle/>
          <a:p>
            <a:pPr algn="l">
              <a:lnSpc>
                <a:spcPct val="110000"/>
              </a:lnSpc>
              <a:spcAft>
                <a:spcPts val="600"/>
              </a:spcAft>
            </a:pPr>
            <a:r>
              <a:rPr sz="1150" b="0" i="0">
                <a:solidFill>
                  <a:srgbClr val="2B2126"/>
                </a:solidFill>
                <a:latin typeface="Calibri"/>
              </a:rPr>
              <a:t>5 PASS  ·  3 NON-FAIL  ·  2 FAIL  ·  1 UNAUDITABLE. One finding at 2 fails the whole command. On a blocking command, fix it before moving on.</a:t>
            </a:r>
          </a:p>
        </p:txBody>
      </p:sp>
      <p:sp>
        <p:nvSpPr>
          <p:cNvPr id="44" name="TextBox 43"/>
          <p:cNvSpPr txBox="1"/>
          <p:nvPr/>
        </p:nvSpPr>
        <p:spPr>
          <a:xfrm>
            <a:off x="566928" y="6483096"/>
            <a:ext cx="9052560" cy="256032"/>
          </a:xfrm>
          <a:prstGeom prst="rect">
            <a:avLst/>
          </a:prstGeom>
          <a:noFill/>
        </p:spPr>
        <p:txBody>
          <a:bodyPr wrap="square" lIns="0" rIns="0" tIns="0" bIns="0" anchor="t">
            <a:spAutoFit/>
          </a:bodyPr>
          <a:lstStyle/>
          <a:p>
            <a:pPr algn="l">
              <a:spcAft>
                <a:spcPts val="600"/>
              </a:spcAft>
            </a:pPr>
            <a:r>
              <a:rPr sz="950" b="0" i="0">
                <a:solidFill>
                  <a:srgbClr val="6B6064"/>
                </a:solidFill>
                <a:latin typeface="Calibri"/>
              </a:rPr>
              <a:t/>
            </a:r>
          </a:p>
        </p:txBody>
      </p:sp>
      <p:sp>
        <p:nvSpPr>
          <p:cNvPr id="45" name="TextBox 44"/>
          <p:cNvSpPr txBox="1"/>
          <p:nvPr/>
        </p:nvSpPr>
        <p:spPr>
          <a:xfrm>
            <a:off x="10710367" y="6483096"/>
            <a:ext cx="914400" cy="256032"/>
          </a:xfrm>
          <a:prstGeom prst="rect">
            <a:avLst/>
          </a:prstGeom>
          <a:noFill/>
        </p:spPr>
        <p:txBody>
          <a:bodyPr wrap="square" lIns="0" rIns="0" tIns="0" bIns="0" anchor="t">
            <a:spAutoFit/>
          </a:bodyPr>
          <a:lstStyle/>
          <a:p>
            <a:pPr algn="r">
              <a:spcAft>
                <a:spcPts val="600"/>
              </a:spcAft>
            </a:pPr>
            <a:r>
              <a:rPr sz="950" b="0" i="0">
                <a:solidFill>
                  <a:srgbClr val="6B6064"/>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457200"/>
            <a:ext cx="1188720" cy="118872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750040" y="6263640"/>
            <a:ext cx="868680" cy="868680"/>
          </a:xfrm>
          <a:prstGeom prst="ellipse">
            <a:avLst/>
          </a:prstGeom>
          <a:solidFill>
            <a:srgbClr val="A26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10058400" cy="237744"/>
          </a:xfrm>
          <a:prstGeom prst="rect">
            <a:avLst/>
          </a:prstGeom>
          <a:noFill/>
        </p:spPr>
        <p:txBody>
          <a:bodyPr wrap="square" lIns="0" rIns="0" tIns="0" bIns="0" anchor="t">
            <a:spAutoFit/>
          </a:bodyPr>
          <a:lstStyle/>
          <a:p>
            <a:pPr algn="l">
              <a:spcAft>
                <a:spcPts val="600"/>
              </a:spcAft>
            </a:pPr>
            <a:r>
              <a:rPr sz="1100" b="1" i="0">
                <a:solidFill>
                  <a:srgbClr val="C9A227"/>
                </a:solidFill>
                <a:latin typeface="Calibri"/>
              </a:rPr>
              <a:t>BEFORE YOU SUBMIT</a:t>
            </a:r>
          </a:p>
        </p:txBody>
      </p:sp>
      <p:sp>
        <p:nvSpPr>
          <p:cNvPr id="6" name="TextBox 5"/>
          <p:cNvSpPr txBox="1"/>
          <p:nvPr/>
        </p:nvSpPr>
        <p:spPr>
          <a:xfrm>
            <a:off x="566928" y="676656"/>
            <a:ext cx="11064240" cy="713232"/>
          </a:xfrm>
          <a:prstGeom prst="rect">
            <a:avLst/>
          </a:prstGeom>
          <a:noFill/>
        </p:spPr>
        <p:txBody>
          <a:bodyPr wrap="square" lIns="0" rIns="0" tIns="0" bIns="0" anchor="t">
            <a:spAutoFit/>
          </a:bodyPr>
          <a:lstStyle/>
          <a:p>
            <a:pPr algn="l">
              <a:spcAft>
                <a:spcPts val="600"/>
              </a:spcAft>
            </a:pPr>
            <a:r>
              <a:rPr sz="3100" b="1" i="0">
                <a:solidFill>
                  <a:srgbClr val="FFFFFF"/>
                </a:solidFill>
                <a:latin typeface="Cambria"/>
              </a:rPr>
              <a:t>The checks that fail a task outright</a:t>
            </a:r>
          </a:p>
        </p:txBody>
      </p:sp>
      <p:sp>
        <p:nvSpPr>
          <p:cNvPr id="7" name="TextBox 6"/>
          <p:cNvSpPr txBox="1"/>
          <p:nvPr/>
        </p:nvSpPr>
        <p:spPr>
          <a:xfrm>
            <a:off x="566928" y="1499616"/>
            <a:ext cx="10058400" cy="274320"/>
          </a:xfrm>
          <a:prstGeom prst="rect">
            <a:avLst/>
          </a:prstGeom>
          <a:noFill/>
        </p:spPr>
        <p:txBody>
          <a:bodyPr wrap="square" lIns="0" rIns="0" tIns="0" bIns="0" anchor="t">
            <a:spAutoFit/>
          </a:bodyPr>
          <a:lstStyle/>
          <a:p>
            <a:pPr algn="l">
              <a:spcAft>
                <a:spcPts val="600"/>
              </a:spcAft>
            </a:pPr>
            <a:r>
              <a:rPr sz="1300" b="0" i="0">
                <a:solidFill>
                  <a:srgbClr val="ECE2D0"/>
                </a:solidFill>
                <a:latin typeface="Calibri"/>
              </a:rPr>
              <a:t>No matter how good the rest of the work is.</a:t>
            </a:r>
          </a:p>
        </p:txBody>
      </p:sp>
      <p:sp>
        <p:nvSpPr>
          <p:cNvPr id="8" name="TextBox 7"/>
          <p:cNvSpPr txBox="1"/>
          <p:nvPr/>
        </p:nvSpPr>
        <p:spPr>
          <a:xfrm>
            <a:off x="566928" y="193852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 deleted chat — it kills every share link at once</a:t>
            </a:r>
          </a:p>
        </p:txBody>
      </p:sp>
      <p:sp>
        <p:nvSpPr>
          <p:cNvPr id="9" name="TextBox 8"/>
          <p:cNvSpPr txBox="1"/>
          <p:nvPr/>
        </p:nvSpPr>
        <p:spPr>
          <a:xfrm>
            <a:off x="566928" y="244144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Final trajectory link missing, or not a valid public share page</a:t>
            </a:r>
          </a:p>
        </p:txBody>
      </p:sp>
      <p:sp>
        <p:nvSpPr>
          <p:cNvPr id="10" name="TextBox 9"/>
          <p:cNvSpPr txBox="1"/>
          <p:nvPr/>
        </p:nvSpPr>
        <p:spPr>
          <a:xfrm>
            <a:off x="566928" y="294436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 browser address-bar URL pasted instead of a Share link</a:t>
            </a:r>
          </a:p>
        </p:txBody>
      </p:sp>
      <p:sp>
        <p:nvSpPr>
          <p:cNvPr id="11" name="TextBox 10"/>
          <p:cNvSpPr txBox="1"/>
          <p:nvPr/>
        </p:nvSpPr>
        <p:spPr>
          <a:xfrm>
            <a:off x="566928" y="344728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Fewer than 7 turns in a Queue 2 run</a:t>
            </a:r>
          </a:p>
        </p:txBody>
      </p:sp>
      <p:sp>
        <p:nvSpPr>
          <p:cNvPr id="12" name="TextBox 11"/>
          <p:cNvSpPr txBox="1"/>
          <p:nvPr/>
        </p:nvSpPr>
        <p:spPr>
          <a:xfrm>
            <a:off x="566928" y="395020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 named file claimed in the response with no matching upload</a:t>
            </a:r>
          </a:p>
        </p:txBody>
      </p:sp>
      <p:sp>
        <p:nvSpPr>
          <p:cNvPr id="13" name="TextBox 12"/>
          <p:cNvSpPr txBox="1"/>
          <p:nvPr/>
        </p:nvSpPr>
        <p:spPr>
          <a:xfrm>
            <a:off x="6327648" y="193852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Turn 1 selected as the key turn</a:t>
            </a:r>
          </a:p>
        </p:txBody>
      </p:sp>
      <p:sp>
        <p:nvSpPr>
          <p:cNvPr id="14" name="TextBox 13"/>
          <p:cNvSpPr txBox="1"/>
          <p:nvPr/>
        </p:nvSpPr>
        <p:spPr>
          <a:xfrm>
            <a:off x="6327648" y="244144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An uploaded PDF that contradicts the live share page</a:t>
            </a:r>
          </a:p>
        </p:txBody>
      </p:sp>
      <p:sp>
        <p:nvSpPr>
          <p:cNvPr id="15" name="TextBox 14"/>
          <p:cNvSpPr txBox="1"/>
          <p:nvPr/>
        </p:nvSpPr>
        <p:spPr>
          <a:xfrm>
            <a:off x="6327648" y="294436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An existing trajectory modified, re-run or deleted</a:t>
            </a:r>
          </a:p>
        </p:txBody>
      </p:sp>
      <p:sp>
        <p:nvSpPr>
          <p:cNvPr id="16" name="TextBox 15"/>
          <p:cNvSpPr txBox="1"/>
          <p:nvPr/>
        </p:nvSpPr>
        <p:spPr>
          <a:xfrm>
            <a:off x="6327648" y="344728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An ungrounded entity — a file, person or date not in the universe</a:t>
            </a:r>
          </a:p>
        </p:txBody>
      </p:sp>
      <p:sp>
        <p:nvSpPr>
          <p:cNvPr id="17" name="TextBox 16"/>
          <p:cNvSpPr txBox="1"/>
          <p:nvPr/>
        </p:nvSpPr>
        <p:spPr>
          <a:xfrm>
            <a:off x="6327648" y="3950208"/>
            <a:ext cx="5394960" cy="457200"/>
          </a:xfrm>
          <a:prstGeom prst="rect">
            <a:avLst/>
          </a:prstGeom>
          <a:noFill/>
        </p:spPr>
        <p:txBody>
          <a:bodyPr wrap="square" lIns="0" rIns="0" tIns="0" bIns="0" anchor="t">
            <a:spAutoFit/>
          </a:bodyPr>
          <a:lstStyle/>
          <a:p>
            <a:pPr algn="l">
              <a:lnSpc>
                <a:spcPct val="105000"/>
              </a:lnSpc>
              <a:spcAft>
                <a:spcPts val="600"/>
              </a:spcAft>
            </a:pPr>
            <a:r>
              <a:rPr sz="1400" b="1" i="0">
                <a:solidFill>
                  <a:srgbClr val="C9A227"/>
                </a:solidFill>
                <a:latin typeface="Calibri"/>
              </a:rPr>
              <a:t>✕   </a:t>
            </a:r>
            <a:r>
              <a:rPr sz="1250" b="0" i="0">
                <a:solidFill>
                  <a:srgbClr val="FFFFFF"/>
                </a:solidFill>
                <a:latin typeface="Calibri"/>
              </a:rPr>
              <a:t>An LLM-written opening prompt</a:t>
            </a:r>
          </a:p>
        </p:txBody>
      </p:sp>
      <p:sp>
        <p:nvSpPr>
          <p:cNvPr id="18" name="Rounded Rectangle 17"/>
          <p:cNvSpPr/>
          <p:nvPr/>
        </p:nvSpPr>
        <p:spPr>
          <a:xfrm>
            <a:off x="566928" y="4709160"/>
            <a:ext cx="11064240" cy="1325880"/>
          </a:xfrm>
          <a:prstGeom prst="roundRect">
            <a:avLst>
              <a:gd name="adj" fmla="val 6000"/>
            </a:avLst>
          </a:prstGeom>
          <a:solidFill>
            <a:srgbClr val="5825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4901184"/>
            <a:ext cx="10424160" cy="274320"/>
          </a:xfrm>
          <a:prstGeom prst="rect">
            <a:avLst/>
          </a:prstGeom>
          <a:noFill/>
        </p:spPr>
        <p:txBody>
          <a:bodyPr wrap="square" lIns="0" rIns="0" tIns="0" bIns="0" anchor="t">
            <a:spAutoFit/>
          </a:bodyPr>
          <a:lstStyle/>
          <a:p>
            <a:pPr algn="l">
              <a:spcAft>
                <a:spcPts val="600"/>
              </a:spcAft>
            </a:pPr>
            <a:r>
              <a:rPr sz="1100" b="1" i="0">
                <a:solidFill>
                  <a:srgbClr val="C9A227"/>
                </a:solidFill>
                <a:latin typeface="Calibri"/>
              </a:rPr>
              <a:t>WHEN IN DOUBT</a:t>
            </a:r>
          </a:p>
        </p:txBody>
      </p:sp>
      <p:sp>
        <p:nvSpPr>
          <p:cNvPr id="20" name="TextBox 19"/>
          <p:cNvSpPr txBox="1"/>
          <p:nvPr/>
        </p:nvSpPr>
        <p:spPr>
          <a:xfrm>
            <a:off x="886968" y="5212080"/>
            <a:ext cx="10424160" cy="640080"/>
          </a:xfrm>
          <a:prstGeom prst="rect">
            <a:avLst/>
          </a:prstGeom>
          <a:noFill/>
        </p:spPr>
        <p:txBody>
          <a:bodyPr wrap="square" lIns="0" rIns="0" tIns="0" bIns="0" anchor="t">
            <a:spAutoFit/>
          </a:bodyPr>
          <a:lstStyle/>
          <a:p>
            <a:pPr algn="l">
              <a:lnSpc>
                <a:spcPct val="115000"/>
              </a:lnSpc>
              <a:spcAft>
                <a:spcPts val="600"/>
              </a:spcAft>
            </a:pPr>
            <a:r>
              <a:rPr sz="1350" b="0" i="0">
                <a:solidFill>
                  <a:srgbClr val="FFFFFF"/>
                </a:solidFill>
                <a:latin typeface="Calibri"/>
              </a:rPr>
              <a:t>Ask in the War Room before you run, not after. A wrong account, a wrong model or a wrong universe cannot be salvaged once the run has started — and a question costs far less than a rejected task.</a:t>
            </a:r>
          </a:p>
        </p:txBody>
      </p:sp>
      <p:sp>
        <p:nvSpPr>
          <p:cNvPr id="21" name="TextBox 20"/>
          <p:cNvSpPr txBox="1"/>
          <p:nvPr/>
        </p:nvSpPr>
        <p:spPr>
          <a:xfrm>
            <a:off x="566928" y="6272784"/>
            <a:ext cx="10058400" cy="274320"/>
          </a:xfrm>
          <a:prstGeom prst="rect">
            <a:avLst/>
          </a:prstGeom>
          <a:noFill/>
        </p:spPr>
        <p:txBody>
          <a:bodyPr wrap="square" lIns="0" rIns="0" tIns="0" bIns="0" anchor="t">
            <a:spAutoFit/>
          </a:bodyPr>
          <a:lstStyle/>
          <a:p>
            <a:pPr algn="l">
              <a:spcAft>
                <a:spcPts val="600"/>
              </a:spcAft>
            </a:pPr>
            <a:r>
              <a:rPr sz="1000" b="0" i="0">
                <a:solidFill>
                  <a:srgbClr val="ECE2D0"/>
                </a:solidFill>
                <a:latin typeface="Calibri"/>
              </a:rPr>
              <a:t>Account Hydration  ·  Nectarbloom Prompt and Rubrics  ·  Nectarbloom SxS  ·  Writing Rubrics  ·  The Eval Sandbox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